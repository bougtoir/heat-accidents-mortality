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Demand-Side Fiscal Return and Health-Capital Lag Framework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Healthcare I-O Output Multipliers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Note: US = Medicare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Fiscal Return Ratio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Japan Fiscal Return Ratio Cascade</a:t>
            </a:r>
          </a:p>
        </p:txBody>
      </p:sp>
      <p:pic>
        <p:nvPicPr>
          <p:cNvPr id="3" name="Picture 2" descr="fig10_fiscal_return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R3. Gross 1.09 -&gt; leakage 1.04 -&gt; deficit-adjusted 0.67 -&gt; value-added 0.60.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Three-Layer Tempo Analogy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Healthcare: constant lag (M1) preferred; M2 not favoured by AIC/BIC.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6. CHE vs Life Expectancy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7. Equipment Density</a:t>
            </a:r>
          </a:p>
        </p:txBody>
      </p:sp>
      <p:pic>
        <p:nvPicPr>
          <p:cNvPr id="3" name="Picture 2" descr="fig6_equipmen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8. Import Leakage vs Multiplier</a:t>
            </a:r>
          </a:p>
        </p:txBody>
      </p:sp>
      <p:pic>
        <p:nvPicPr>
          <p:cNvPr id="3" name="Picture 2" descr="fig7_import_leakage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9. Japan Counterfactual</a:t>
            </a:r>
          </a:p>
        </p:txBody>
      </p:sp>
      <p:pic>
        <p:nvPicPr>
          <p:cNvPr id="3" name="Picture 2" descr="fig8_counterfactual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10. Equipment CHE Share Sensitivity</a:t>
            </a:r>
          </a:p>
        </p:txBody>
      </p:sp>
      <p:pic>
        <p:nvPicPr>
          <p:cNvPr id="3" name="Picture 2" descr="fig9_sensitivity_equip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Scenario A FR varies 0.94-1.02.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