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295" cy="548640"/>
          </a:xfrm>
          <a:prstGeom prst="rect">
            <a:avLst/>
          </a:prstGeom>
          <a:noFill/>
        </p:spPr>
        <p:txBody>
          <a:bodyPr wrap="square">
            <a:spAutoFit/>
          </a:bodyPr>
          <a:lstStyle/>
          <a:p>
            <a:pPr algn="ctr">
              <a:defRPr sz="2000" b="1"/>
            </a:pPr>
            <a:r>
              <a:t>Figure 1: Three Approaches to Causal Inference</a:t>
            </a:r>
          </a:p>
        </p:txBody>
      </p:sp>
      <p:pic>
        <p:nvPicPr>
          <p:cNvPr id="3" name="Picture 2" descr="fig1_three_approaches.png"/>
          <p:cNvPicPr>
            <a:picLocks noChangeAspect="1"/>
          </p:cNvPicPr>
          <p:nvPr/>
        </p:nvPicPr>
        <p:blipFill>
          <a:blip r:embed="rId2"/>
          <a:stretch>
            <a:fillRect/>
          </a:stretch>
        </p:blipFill>
        <p:spPr>
          <a:xfrm>
            <a:off x="1371600" y="914400"/>
            <a:ext cx="9448495" cy="4572000"/>
          </a:xfrm>
          <a:prstGeom prst="rect">
            <a:avLst/>
          </a:prstGeom>
        </p:spPr>
      </p:pic>
      <p:sp>
        <p:nvSpPr>
          <p:cNvPr id="4" name="TextBox 3"/>
          <p:cNvSpPr txBox="1"/>
          <p:nvPr/>
        </p:nvSpPr>
        <p:spPr>
          <a:xfrm>
            <a:off x="457200" y="5669280"/>
            <a:ext cx="11277295" cy="914400"/>
          </a:xfrm>
          <a:prstGeom prst="rect">
            <a:avLst/>
          </a:prstGeom>
          <a:noFill/>
        </p:spPr>
        <p:txBody>
          <a:bodyPr wrap="square">
            <a:spAutoFit/>
          </a:bodyPr>
          <a:lstStyle/>
          <a:p>
            <a:pPr algn="ctr">
              <a:defRPr sz="1200" i="1"/>
            </a:pPr>
            <a:r>
              <a:t>Three complementary approaches to causal inference: (1) structural equation models and DAG-based methods (e.g., LiNGAM), (2) spectral graph methods via the magnetic Laplacian, and (3) Hodge-theoretic flow decomposition. Spectral causality unifies (2) and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295" cy="548640"/>
          </a:xfrm>
          <a:prstGeom prst="rect">
            <a:avLst/>
          </a:prstGeom>
          <a:noFill/>
        </p:spPr>
        <p:txBody>
          <a:bodyPr wrap="square">
            <a:spAutoFit/>
          </a:bodyPr>
          <a:lstStyle/>
          <a:p>
            <a:pPr algn="ctr">
              <a:defRPr sz="2000" b="1"/>
            </a:pPr>
            <a:r>
              <a:t>Figure 2: DPI Architecture</a:t>
            </a:r>
          </a:p>
        </p:txBody>
      </p:sp>
      <p:pic>
        <p:nvPicPr>
          <p:cNvPr id="3" name="Picture 2" descr="fig_dpi_architecture.png"/>
          <p:cNvPicPr>
            <a:picLocks noChangeAspect="1"/>
          </p:cNvPicPr>
          <p:nvPr/>
        </p:nvPicPr>
        <p:blipFill>
          <a:blip r:embed="rId2"/>
          <a:stretch>
            <a:fillRect/>
          </a:stretch>
        </p:blipFill>
        <p:spPr>
          <a:xfrm>
            <a:off x="1371600" y="914400"/>
            <a:ext cx="9448495" cy="4572000"/>
          </a:xfrm>
          <a:prstGeom prst="rect">
            <a:avLst/>
          </a:prstGeom>
        </p:spPr>
      </p:pic>
      <p:sp>
        <p:nvSpPr>
          <p:cNvPr id="4" name="TextBox 3"/>
          <p:cNvSpPr txBox="1"/>
          <p:nvPr/>
        </p:nvSpPr>
        <p:spPr>
          <a:xfrm>
            <a:off x="457200" y="5669280"/>
            <a:ext cx="11277295" cy="914400"/>
          </a:xfrm>
          <a:prstGeom prst="rect">
            <a:avLst/>
          </a:prstGeom>
          <a:noFill/>
        </p:spPr>
        <p:txBody>
          <a:bodyPr wrap="square">
            <a:spAutoFit/>
          </a:bodyPr>
          <a:lstStyle/>
          <a:p>
            <a:pPr algn="ctr">
              <a:defRPr sz="1200" i="1"/>
            </a:pPr>
            <a:r>
              <a:t>Architecture of the Directional Predictability Index (DPI). Three independent asymmetric statistics (regression coefficient asymmetry, ANM residual independence, conditional entropy reduction) are normalized and averaged. The composite asymmetric score modulates the symmetric correlation into the directional DPI.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295" cy="548640"/>
          </a:xfrm>
          <a:prstGeom prst="rect">
            <a:avLst/>
          </a:prstGeom>
          <a:noFill/>
        </p:spPr>
        <p:txBody>
          <a:bodyPr wrap="square">
            <a:spAutoFit/>
          </a:bodyPr>
          <a:lstStyle/>
          <a:p>
            <a:pPr algn="ctr">
              <a:defRPr sz="2000" b="1"/>
            </a:pPr>
            <a:r>
              <a:t>Figure 3: Complex Causal Index in the Complex Plane</a:t>
            </a:r>
          </a:p>
        </p:txBody>
      </p:sp>
      <p:pic>
        <p:nvPicPr>
          <p:cNvPr id="3" name="Picture 2" descr="fig_cci_complex_plane.png"/>
          <p:cNvPicPr>
            <a:picLocks noChangeAspect="1"/>
          </p:cNvPicPr>
          <p:nvPr/>
        </p:nvPicPr>
        <p:blipFill>
          <a:blip r:embed="rId2"/>
          <a:stretch>
            <a:fillRect/>
          </a:stretch>
        </p:blipFill>
        <p:spPr>
          <a:xfrm>
            <a:off x="1371600" y="914400"/>
            <a:ext cx="9448495" cy="4572000"/>
          </a:xfrm>
          <a:prstGeom prst="rect">
            <a:avLst/>
          </a:prstGeom>
        </p:spPr>
      </p:pic>
      <p:sp>
        <p:nvSpPr>
          <p:cNvPr id="4" name="TextBox 3"/>
          <p:cNvSpPr txBox="1"/>
          <p:nvPr/>
        </p:nvSpPr>
        <p:spPr>
          <a:xfrm>
            <a:off x="457200" y="5669280"/>
            <a:ext cx="11277295" cy="914400"/>
          </a:xfrm>
          <a:prstGeom prst="rect">
            <a:avLst/>
          </a:prstGeom>
          <a:noFill/>
        </p:spPr>
        <p:txBody>
          <a:bodyPr wrap="square">
            <a:spAutoFit/>
          </a:bodyPr>
          <a:lstStyle/>
          <a:p>
            <a:pPr algn="ctr">
              <a:defRPr sz="1200" i="1"/>
            </a:pPr>
            <a:r>
              <a:t>CCI(i,j) for all variable pairs plotted in the complex plane. Real axis = SCC (coupling strength); imaginary axis = SCD (causal direction). Red = forward direction (i -&gt; j); blue = reverse. Most pairs cluster in the lower half-plane, reflecting Age's dominance as the upstream root node.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295" cy="548640"/>
          </a:xfrm>
          <a:prstGeom prst="rect">
            <a:avLst/>
          </a:prstGeom>
          <a:noFill/>
        </p:spPr>
        <p:txBody>
          <a:bodyPr wrap="square">
            <a:spAutoFit/>
          </a:bodyPr>
          <a:lstStyle/>
          <a:p>
            <a:pPr algn="ctr">
              <a:defRPr sz="2000" b="1"/>
            </a:pPr>
            <a:r>
              <a:t>Figure 4: Magnetic Laplacian Eigenvectors in Complex Plane</a:t>
            </a:r>
          </a:p>
        </p:txBody>
      </p:sp>
      <p:pic>
        <p:nvPicPr>
          <p:cNvPr id="3" name="Picture 2" descr="fig2_magnetic_laplacian_q.png"/>
          <p:cNvPicPr>
            <a:picLocks noChangeAspect="1"/>
          </p:cNvPicPr>
          <p:nvPr/>
        </p:nvPicPr>
        <p:blipFill>
          <a:blip r:embed="rId2"/>
          <a:stretch>
            <a:fillRect/>
          </a:stretch>
        </p:blipFill>
        <p:spPr>
          <a:xfrm>
            <a:off x="1371600" y="914400"/>
            <a:ext cx="9448495" cy="4572000"/>
          </a:xfrm>
          <a:prstGeom prst="rect">
            <a:avLst/>
          </a:prstGeom>
        </p:spPr>
      </p:pic>
      <p:sp>
        <p:nvSpPr>
          <p:cNvPr id="4" name="TextBox 3"/>
          <p:cNvSpPr txBox="1"/>
          <p:nvPr/>
        </p:nvSpPr>
        <p:spPr>
          <a:xfrm>
            <a:off x="457200" y="5669280"/>
            <a:ext cx="11277295" cy="914400"/>
          </a:xfrm>
          <a:prstGeom prst="rect">
            <a:avLst/>
          </a:prstGeom>
          <a:noFill/>
        </p:spPr>
        <p:txBody>
          <a:bodyPr wrap="square">
            <a:spAutoFit/>
          </a:bodyPr>
          <a:lstStyle/>
          <a:p>
            <a:pPr algn="ctr">
              <a:defRPr sz="1200" i="1"/>
            </a:pPr>
            <a:r>
              <a:t>Fiedler eigenvector of the magnetic Laplacian plotted in the complex plane for q=0, 0.1, and 0.25. At q=0, all points lie on the real axis. As q increases, variables spread into the complex plane, with phase angle ordering reflecting causal flow direction.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295" cy="548640"/>
          </a:xfrm>
          <a:prstGeom prst="rect">
            <a:avLst/>
          </a:prstGeom>
          <a:noFill/>
        </p:spPr>
        <p:txBody>
          <a:bodyPr wrap="square">
            <a:spAutoFit/>
          </a:bodyPr>
          <a:lstStyle/>
          <a:p>
            <a:pPr algn="ctr">
              <a:defRPr sz="2000" b="1"/>
            </a:pPr>
            <a:r>
              <a:t>Figure 5: Hodge Decomposition Results</a:t>
            </a:r>
          </a:p>
        </p:txBody>
      </p:sp>
      <p:pic>
        <p:nvPicPr>
          <p:cNvPr id="3" name="Picture 2" descr="fig3_hodge_decomposition.png"/>
          <p:cNvPicPr>
            <a:picLocks noChangeAspect="1"/>
          </p:cNvPicPr>
          <p:nvPr/>
        </p:nvPicPr>
        <p:blipFill>
          <a:blip r:embed="rId2"/>
          <a:stretch>
            <a:fillRect/>
          </a:stretch>
        </p:blipFill>
        <p:spPr>
          <a:xfrm>
            <a:off x="1371600" y="914400"/>
            <a:ext cx="9448495" cy="4572000"/>
          </a:xfrm>
          <a:prstGeom prst="rect">
            <a:avLst/>
          </a:prstGeom>
        </p:spPr>
      </p:pic>
      <p:sp>
        <p:nvSpPr>
          <p:cNvPr id="4" name="TextBox 3"/>
          <p:cNvSpPr txBox="1"/>
          <p:nvPr/>
        </p:nvSpPr>
        <p:spPr>
          <a:xfrm>
            <a:off x="457200" y="5669280"/>
            <a:ext cx="11277295" cy="914400"/>
          </a:xfrm>
          <a:prstGeom prst="rect">
            <a:avLst/>
          </a:prstGeom>
          <a:noFill/>
        </p:spPr>
        <p:txBody>
          <a:bodyPr wrap="square">
            <a:spAutoFit/>
          </a:bodyPr>
          <a:lstStyle/>
          <a:p>
            <a:pPr algn="ctr">
              <a:defRPr sz="1200" i="1"/>
            </a:pPr>
            <a:r>
              <a:t>Hodge decomposition results. (A) 85.9% of flow energy is in the gradient (DAG) component; 14.1% is in the curl (feedback) component. (B) Causal potential phi: Age is most upstream; ST Depression is most downstream.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295" cy="548640"/>
          </a:xfrm>
          <a:prstGeom prst="rect">
            <a:avLst/>
          </a:prstGeom>
          <a:noFill/>
        </p:spPr>
        <p:txBody>
          <a:bodyPr wrap="square">
            <a:spAutoFit/>
          </a:bodyPr>
          <a:lstStyle/>
          <a:p>
            <a:pPr algn="ctr">
              <a:defRPr sz="2000" b="1"/>
            </a:pPr>
            <a:r>
              <a:t>Figure 6: Knowledge Quality Phase Transition</a:t>
            </a:r>
          </a:p>
        </p:txBody>
      </p:sp>
      <p:pic>
        <p:nvPicPr>
          <p:cNvPr id="3" name="Picture 2" descr="fig_pflip_ucurve.png"/>
          <p:cNvPicPr>
            <a:picLocks noChangeAspect="1"/>
          </p:cNvPicPr>
          <p:nvPr/>
        </p:nvPicPr>
        <p:blipFill>
          <a:blip r:embed="rId2"/>
          <a:stretch>
            <a:fillRect/>
          </a:stretch>
        </p:blipFill>
        <p:spPr>
          <a:xfrm>
            <a:off x="1371600" y="914400"/>
            <a:ext cx="9448495" cy="4572000"/>
          </a:xfrm>
          <a:prstGeom prst="rect">
            <a:avLst/>
          </a:prstGeom>
        </p:spPr>
      </p:pic>
      <p:sp>
        <p:nvSpPr>
          <p:cNvPr id="4" name="TextBox 3"/>
          <p:cNvSpPr txBox="1"/>
          <p:nvPr/>
        </p:nvSpPr>
        <p:spPr>
          <a:xfrm>
            <a:off x="457200" y="5669280"/>
            <a:ext cx="11277295" cy="914400"/>
          </a:xfrm>
          <a:prstGeom prst="rect">
            <a:avLst/>
          </a:prstGeom>
          <a:noFill/>
        </p:spPr>
        <p:txBody>
          <a:bodyPr wrap="square">
            <a:spAutoFit/>
          </a:bodyPr>
          <a:lstStyle/>
          <a:p>
            <a:pPr algn="ctr">
              <a:defRPr sz="1200" i="1"/>
            </a:pPr>
            <a:r>
              <a:t>U-shaped quality curve: r_gradient vs p_flip. Empirical results (200 trials, blue) closely match theoretical prediction (1-2p)^2 * r* (red dashed). Critical threshold p*_flip ~ 0.15: at least 85% correct directions needed. Partial misinformation is worse than complete ignorance.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11277295" cy="548640"/>
          </a:xfrm>
          <a:prstGeom prst="rect">
            <a:avLst/>
          </a:prstGeom>
          <a:noFill/>
        </p:spPr>
        <p:txBody>
          <a:bodyPr wrap="square">
            <a:spAutoFit/>
          </a:bodyPr>
          <a:lstStyle/>
          <a:p>
            <a:pPr algn="ctr">
              <a:defRPr sz="2000" b="1"/>
            </a:pPr>
            <a:r>
              <a:t>Figure 7: Alpha-Sweep Phase Transition Analysis</a:t>
            </a:r>
          </a:p>
        </p:txBody>
      </p:sp>
      <p:pic>
        <p:nvPicPr>
          <p:cNvPr id="3" name="Picture 2" descr="fig8_alpha_sweep.png"/>
          <p:cNvPicPr>
            <a:picLocks noChangeAspect="1"/>
          </p:cNvPicPr>
          <p:nvPr/>
        </p:nvPicPr>
        <p:blipFill>
          <a:blip r:embed="rId2"/>
          <a:stretch>
            <a:fillRect/>
          </a:stretch>
        </p:blipFill>
        <p:spPr>
          <a:xfrm>
            <a:off x="1371600" y="914400"/>
            <a:ext cx="9448495" cy="4572000"/>
          </a:xfrm>
          <a:prstGeom prst="rect">
            <a:avLst/>
          </a:prstGeom>
        </p:spPr>
      </p:pic>
      <p:sp>
        <p:nvSpPr>
          <p:cNvPr id="4" name="TextBox 3"/>
          <p:cNvSpPr txBox="1"/>
          <p:nvPr/>
        </p:nvSpPr>
        <p:spPr>
          <a:xfrm>
            <a:off x="457200" y="5669280"/>
            <a:ext cx="11277295" cy="914400"/>
          </a:xfrm>
          <a:prstGeom prst="rect">
            <a:avLst/>
          </a:prstGeom>
          <a:noFill/>
        </p:spPr>
        <p:txBody>
          <a:bodyPr wrap="square">
            <a:spAutoFit/>
          </a:bodyPr>
          <a:lstStyle/>
          <a:p>
            <a:pPr algn="ctr">
              <a:defRPr sz="1200" i="1"/>
            </a:pPr>
            <a:r>
              <a:t>Alpha-sweep analysis with DPI. (A) r_gradient increases smoothly from 0.581 (alpha=0) to 0.859 (alpha=1). (B) Number of detected edges and LiNGAM agreement rate. (C) Asymmetric norm. (D) Phase diagram.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