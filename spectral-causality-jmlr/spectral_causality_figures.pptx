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/>
            </a:pPr>
            <a:r>
              <a:t>Figure 1: DirectLiNGAM Estimated Causal DAG</a:t>
            </a:r>
          </a:p>
        </p:txBody>
      </p:sp>
      <p:pic>
        <p:nvPicPr>
          <p:cNvPr id="3" name="Picture 2" descr="fig6_causal_d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849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/>
            </a:pPr>
            <a:r>
              <a:t>DirectLiNGAM estimated causal DAG for the UCI Heart Disease data (N=297, 5 clinical variables). Blue edges indicate positive causal effects; red edges indicate negative effects. Age is the most upstream variable.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/>
            </a:pPr>
            <a:r>
              <a:t>Figure 2: Magnetic Laplacian Eigenvectors in Complex Plane</a:t>
            </a:r>
          </a:p>
        </p:txBody>
      </p:sp>
      <p:pic>
        <p:nvPicPr>
          <p:cNvPr id="3" name="Picture 2" descr="fig2_magnetic_laplacian_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849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/>
            </a:pPr>
            <a:r>
              <a:t>Fiedler eigenvector of the magnetic Laplacian plotted in the complex plane for q=0, 0.1, and 0.25. At q=0, all points lie on the real axis. As q increases, variables spread into the complex plane, with phase angle ordering reflecting causal flow direction.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/>
            </a:pPr>
            <a:r>
              <a:t>Figure 3: Hodge Decomposition Results</a:t>
            </a:r>
          </a:p>
        </p:txBody>
      </p:sp>
      <p:pic>
        <p:nvPicPr>
          <p:cNvPr id="3" name="Picture 2" descr="fig3_hodge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849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/>
            </a:pPr>
            <a:r>
              <a:t>Hodge decomposition results. (A) 85.9% of flow energy is in the gradient (DAG) component; 14.1% is in the curl (feedback) component. (B) Causal potential phi: Age is most upstream; ST Depression is most downstream.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/>
            </a:pPr>
            <a:r>
              <a:t>Figure 4: Causal Direction Comparison</a:t>
            </a:r>
          </a:p>
        </p:txBody>
      </p:sp>
      <p:pic>
        <p:nvPicPr>
          <p:cNvPr id="3" name="Picture 2" descr="fig4_direction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849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/>
            </a:pPr>
            <a:r>
              <a:t>Causal direction comparison across all 10 variable pairs. LiNGAM (red), SCD (blue), Hodge potential (green). +1: first variable causes second; -1: reverse. Green background: all three methods agree.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/>
            </a:pPr>
            <a:r>
              <a:t>Figure 5: Hill's Nine Criteria Coverage</a:t>
            </a:r>
          </a:p>
        </p:txBody>
      </p:sp>
      <p:pic>
        <p:nvPicPr>
          <p:cNvPr id="3" name="Picture 2" descr="fig5_hill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849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/>
            </a:pPr>
            <a:r>
              <a:t>Hill's nine criteria coverage. LiNGAM covers H1 (strength) and H3 (specificity) well but lacks H6/H7/H9. Spectral causality covers H6 (plausibility), H7 (coherence), H9 (analogy) via the utility function. The ECD ensemble achieves near-complete coverage.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/>
            </a:pPr>
            <a:r>
              <a:t>Figure 6: Three Approaches to Causal Inference</a:t>
            </a:r>
          </a:p>
        </p:txBody>
      </p:sp>
      <p:pic>
        <p:nvPicPr>
          <p:cNvPr id="3" name="Picture 2" descr="fig1_three_approach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849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/>
            </a:pPr>
            <a:r>
              <a:t>Three approaches to causal inference on the same dataset. (A) LiNGAM DAG (6 edges). (B) Spectral causality at alpha=0.6 (10 directed edges, cycles allowed). (C) Spectral causality at alpha=0 with DPI (9 directed edges, no domain knowledge).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/>
            </a:pPr>
            <a:r>
              <a:t>Figure 7: Three-Condition Structural Comparison</a:t>
            </a:r>
          </a:p>
        </p:txBody>
      </p:sp>
      <p:pic>
        <p:nvPicPr>
          <p:cNvPr id="3" name="Picture 2" descr="fig7_lingam_vs_spec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849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/>
            </a:pPr>
            <a:r>
              <a:t>Three-condition comparison. (A) LiNGAM DAG. (B) Spectral causality at alpha=0.6. (C) Spectral causality at alpha=0 with DPI.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/>
            </a:pPr>
            <a:r>
              <a:t>Figure 8: Alpha-Sweep Analysis with DPI</a:t>
            </a:r>
          </a:p>
        </p:txBody>
      </p:sp>
      <p:pic>
        <p:nvPicPr>
          <p:cNvPr id="3" name="Picture 2" descr="fig8_alpha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849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/>
            </a:pPr>
            <a:r>
              <a:t>Alpha-sweep analysis with DPI. (A) r_gradient increases smoothly from 0.581 (alpha=0) to 0.859 (alpha=1). (B) Number of detected edges and LiNGAM agreement rate. (C) Asymmetric norm. (D) Phase diagram.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/>
            </a:pPr>
            <a:r>
              <a:t>Figure 9: ECD Pipeline Analysis</a:t>
            </a:r>
          </a:p>
        </p:txBody>
      </p:sp>
      <p:pic>
        <p:nvPicPr>
          <p:cNvPr id="3" name="Picture 2" descr="fig9_ecd_pruning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849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/>
            </a:pPr>
            <a:r>
              <a:t>ECD pipeline analysis. (A) Hodge decomposition of ECD flow. (B) Causal potential phi vs. interventionability iota. (C) Per-edge feedback ratio. (D) U-shaped curve of r_gradient vs. knowledge quality p_flip.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