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1</a:t>
            </a:r>
          </a:p>
        </p:txBody>
      </p:sp>
      <p:pic>
        <p:nvPicPr>
          <p:cNvPr id="3" name="Picture 2" descr="fig1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6" y="822960"/>
            <a:ext cx="1131412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Mapping three-body scattering onto pharmacokinetic compartments. (a) Each bound pair is a compartment; configuration changes are inter-compartmental transfers at rates kij; escape is irreversible elimination at rate kei. (b) The equivalent three-compartment PK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2</a:t>
            </a:r>
          </a:p>
        </p:txBody>
      </p:sp>
      <p:pic>
        <p:nvPicPr>
          <p:cNvPr id="3" name="Picture 2" descr="fig2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Survival curves for the three mass configurations. Blue: empirical survival from 5,000 N-body experiments. Red: linear three-compartment PK prediction. The multi-exponential form is statistically required (KS test p &lt; 0.001 versus a single exponential). (a) Equal mass, (b) unequal mass, (c) democratic.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3</a:t>
            </a:r>
          </a:p>
        </p:txBody>
      </p:sp>
      <p:pic>
        <p:nvPicPr>
          <p:cNvPr id="3" name="Picture 2" descr="fig3_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Linear versus nonlinear PK on log–log survival axes. Blue: N-body data; red: linear PK; green dashed: hybrid Michaelis–Menten model capturing the sticky-chaos tail. (a) Equal mass (linear adequate), (b) unequal (42 per cent tail RMSE improvement), (c) democratic (36 per cent).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4</a:t>
            </a:r>
          </a:p>
        </p:txBody>
      </p:sp>
      <p:pic>
        <p:nvPicPr>
          <p:cNvPr id="3" name="Picture 2" descr="fig4_population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53" y="822960"/>
            <a:ext cx="6957588" cy="4937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Population-PK analysis of the mass-ratio dependence. (a) MRT versus binary–single reduced mass; (b) median lifetime versus intruder mass; (c) mean excursions versus lightest mass fraction; (d) lightest-body escape probability with logistic fit; (e) predicted versus observed median lifetime for the allometric fit, annotated with the R², the LMG/Shapley R² shares and the variance-inflation factors for (μ12, μout, M); (f) slowest half-life across the (m_2, m_3) grid.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5</a:t>
            </a:r>
          </a:p>
        </p:txBody>
      </p:sp>
      <p:pic>
        <p:nvPicPr>
          <p:cNvPr id="3" name="Picture 2" descr="fig5_tm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3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Reverse mapping to TMDD. (a) Dose–response bifurcation with stable (blue) and unstable (red) steady states; (b) receptor occupancy versus dose rate; (c) slowest Jacobian eigenvalue versus dose, marking the stability boundary — the analogue of Lagrange-point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6</a:t>
            </a:r>
          </a:p>
        </p:txBody>
      </p:sp>
      <p:pic>
        <p:nvPicPr>
          <p:cNvPr id="3" name="Picture 2" descr="fig6_3d_dissip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42" y="822960"/>
            <a:ext cx="521941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PK validity across dimensionality and dissipation. Rows: 2D conservative, 3D conservative, 3D dissipative (c = 100). Columns: equal, unequal, democratic. Blue: N-body survival; red: linear PK fit; KS statistics annotated.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7</a:t>
            </a:r>
          </a:p>
        </p:txBody>
      </p:sp>
      <p:pic>
        <p:nvPicPr>
          <p:cNvPr id="3" name="Picture 2" descr="fig7_dissipatio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Effect of 2.5PN GW radiation reaction on lifetimes. Blue: 3D conservative; red: 3D dissipative; dashed: PK fits. Dissipation shortens lifetimes (τdiss/τcons = 0.83–0.98) while preserving the PK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8</a:t>
            </a:r>
          </a:p>
        </p:txBody>
      </p:sp>
      <p:pic>
        <p:nvPicPr>
          <p:cNvPr id="3" name="Picture 2" descr="fig8_gw_me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799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Gravitational-wave merger outcomes from the PK-selected binaries. (a) Eccentricity versus semi-major axis of the surviving binaries. (b) Peters-inspiral merger fraction (tGW &lt; tH) versus the assumed physical scale of the code-unit a = 1, for the measured thermal eccentricity distribution against circular orbits, showing the eccentricity boost of the merger rate. (c) Lifetime ratio τdiss/τcons under 2.5PN dissipation for the three mass configurations.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9</a:t>
            </a:r>
          </a:p>
        </p:txBody>
      </p:sp>
      <p:pic>
        <p:nvPicPr>
          <p:cNvPr id="3" name="Picture 2" descr="fig9_flux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55" y="822960"/>
            <a:ext cx="107225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Benchmark against phase-space flux theory. (a) Empirical survival (dots) with the PK multi-exponential (ergodic) prediction (lines) for the three canonical mass configurations. (b) PK-model MRT versus empirical mean lifetime across 64 mass configurations, with the y = x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10</a:t>
            </a:r>
          </a:p>
        </p:txBody>
      </p:sp>
      <p:pic>
        <p:nvPicPr>
          <p:cNvPr id="3" name="Picture 2" descr="fig10_ecc_k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83" y="822960"/>
            <a:ext cx="808712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Distributions from 3D Newtonian encounters. Top: final-binary eccentricity with the thermal 2e reference; bottom: ejection speed in units of the critical velocity. Columns: equal, unequal, democratic.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11</a:t>
            </a:r>
          </a:p>
        </p:txBody>
      </p:sp>
      <p:pic>
        <p:nvPicPr>
          <p:cNvPr id="3" name="Picture 2" descr="fig11_ejection_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70" y="822960"/>
            <a:ext cx="1032315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Which body is ejected. (a) Lightest-body escape probability versus minimum mass ratio with the fitted dose–response logistic (points: simulations). (b) Ejected-mass distribution from a Kroupa-sampled black-hole mass function, showing preferential ejection of the lighter members.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12</a:t>
            </a:r>
          </a:p>
        </p:txBody>
      </p:sp>
      <p:pic>
        <p:nvPicPr>
          <p:cNvPr id="3" name="Picture 2" descr="fig12_pn_ti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54" y="822960"/>
            <a:ext cx="780218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Robustness to additional physics. Survival functions for 3D encounters with 1PN precession (top) and tidal dissipation (bottom), each against the Newtonian baseline and its own PK fit (dashed). Columns: equal, unequal, democratic; KS and lifetime ratios annotated.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Fig. 13</a:t>
            </a:r>
          </a:p>
        </p:txBody>
      </p:sp>
      <p:pic>
        <p:nvPicPr>
          <p:cNvPr id="3" name="Picture 2" descr="fig13_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496" y="822960"/>
            <a:ext cx="875070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Application to dense environments. Encounter interval (blue) versus PK-model resonance duration MRT × tdyn (orange) for a globular-cluster core, a nuclear star cluster, and an AGN-disc migration 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