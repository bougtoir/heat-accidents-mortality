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square">
            <a:spAutoFit/>
          </a:bodyPr>
          <a:lstStyle/>
          <a:p>
            <a:pPr algn="l"/>
            <a:r>
              <a:rPr sz="2400" b="1">
                <a:solidFill>
                  <a:srgbClr val="1A1A1A"/>
                </a:solidFill>
              </a:rPr>
              <a:t>Figure 1. Two layers of the question</a:t>
            </a:r>
          </a:p>
        </p:txBody>
      </p:sp>
      <p:pic>
        <p:nvPicPr>
          <p:cNvPr id="3" name="Picture 2" descr="fig1_layers.png"/>
          <p:cNvPicPr>
            <a:picLocks noChangeAspect="1"/>
          </p:cNvPicPr>
          <p:nvPr/>
        </p:nvPicPr>
        <p:blipFill>
          <a:blip r:embed="rId2"/>
          <a:stretch>
            <a:fillRect/>
          </a:stretch>
        </p:blipFill>
        <p:spPr>
          <a:xfrm>
            <a:off x="3479966" y="1051560"/>
            <a:ext cx="5231763" cy="4572000"/>
          </a:xfrm>
          <a:prstGeom prst="rect">
            <a:avLst/>
          </a:prstGeom>
        </p:spPr>
      </p:pic>
      <p:sp>
        <p:nvSpPr>
          <p:cNvPr id="4" name="TextBox 3"/>
          <p:cNvSpPr txBox="1"/>
          <p:nvPr/>
        </p:nvSpPr>
        <p:spPr>
          <a:xfrm>
            <a:off x="548640" y="5806440"/>
            <a:ext cx="11064240" cy="914400"/>
          </a:xfrm>
          <a:prstGeom prst="rect">
            <a:avLst/>
          </a:prstGeom>
          <a:noFill/>
        </p:spPr>
        <p:txBody>
          <a:bodyPr wrap="square">
            <a:spAutoFit/>
          </a:bodyPr>
          <a:lstStyle/>
          <a:p>
            <a:r>
              <a:rPr sz="1200">
                <a:solidFill>
                  <a:srgbClr val="404040"/>
                </a:solidFill>
              </a:rPr>
              <a:t>Figure 1. The funnel of attention. Every question the bombing raises enters at the top, but a layer of common sense and preconception—that we are entitled to do the weighing—acts as a sieve: only the inner, technical (“was it necessary?”) question passes through into public debate, while the outer question—whether such weighing is ours to perform at all—is screened out and never comes into 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square">
            <a:spAutoFit/>
          </a:bodyPr>
          <a:lstStyle/>
          <a:p>
            <a:pPr algn="l"/>
            <a:r>
              <a:rPr sz="2400" b="1">
                <a:solidFill>
                  <a:srgbClr val="1A1A1A"/>
                </a:solidFill>
              </a:rPr>
              <a:t>Figure 2. Supply–demand × expansion–contraction</a:t>
            </a:r>
          </a:p>
        </p:txBody>
      </p:sp>
      <p:pic>
        <p:nvPicPr>
          <p:cNvPr id="3" name="Picture 2" descr="fig2_quadrant.png"/>
          <p:cNvPicPr>
            <a:picLocks noChangeAspect="1"/>
          </p:cNvPicPr>
          <p:nvPr/>
        </p:nvPicPr>
        <p:blipFill>
          <a:blip r:embed="rId2"/>
          <a:stretch>
            <a:fillRect/>
          </a:stretch>
        </p:blipFill>
        <p:spPr>
          <a:xfrm>
            <a:off x="3380294" y="1051560"/>
            <a:ext cx="5431107" cy="4572000"/>
          </a:xfrm>
          <a:prstGeom prst="rect">
            <a:avLst/>
          </a:prstGeom>
        </p:spPr>
      </p:pic>
      <p:sp>
        <p:nvSpPr>
          <p:cNvPr id="4" name="TextBox 3"/>
          <p:cNvSpPr txBox="1"/>
          <p:nvPr/>
        </p:nvSpPr>
        <p:spPr>
          <a:xfrm>
            <a:off x="548640" y="5806440"/>
            <a:ext cx="11064240" cy="914400"/>
          </a:xfrm>
          <a:prstGeom prst="rect">
            <a:avLst/>
          </a:prstGeom>
          <a:noFill/>
        </p:spPr>
        <p:txBody>
          <a:bodyPr wrap="square">
            <a:spAutoFit/>
          </a:bodyPr>
          <a:lstStyle/>
          <a:p>
            <a:r>
              <a:rPr sz="1200">
                <a:solidFill>
                  <a:srgbClr val="404040"/>
                </a:solidFill>
              </a:rPr>
              <a:t>Figure 2. Two independent axes—supply-increasing vs. demand-reducing, and expansion vs. contraction—with illustrative religious and economic types. The naive alignment of monotheism with expansion and pantheism with restraint holds only as a tendency; ascetic Protestantism and expansionist polytheism occupy the off-diagonal cells.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731520"/>
          </a:xfrm>
          <a:prstGeom prst="rect">
            <a:avLst/>
          </a:prstGeom>
          <a:noFill/>
        </p:spPr>
        <p:txBody>
          <a:bodyPr wrap="square">
            <a:spAutoFit/>
          </a:bodyPr>
          <a:lstStyle/>
          <a:p>
            <a:pPr algn="l"/>
            <a:r>
              <a:rPr sz="2400" b="1">
                <a:solidFill>
                  <a:srgbClr val="1A1A1A"/>
                </a:solidFill>
              </a:rPr>
              <a:t>Figure 3. Asymptotic relief from the calculus</a:t>
            </a:r>
          </a:p>
        </p:txBody>
      </p:sp>
      <p:pic>
        <p:nvPicPr>
          <p:cNvPr id="3" name="Picture 2" descr="fig3_asymptote.png"/>
          <p:cNvPicPr>
            <a:picLocks noChangeAspect="1"/>
          </p:cNvPicPr>
          <p:nvPr/>
        </p:nvPicPr>
        <p:blipFill>
          <a:blip r:embed="rId2"/>
          <a:stretch>
            <a:fillRect/>
          </a:stretch>
        </p:blipFill>
        <p:spPr>
          <a:xfrm>
            <a:off x="2891847" y="1051560"/>
            <a:ext cx="6408000" cy="4572000"/>
          </a:xfrm>
          <a:prstGeom prst="rect">
            <a:avLst/>
          </a:prstGeom>
        </p:spPr>
      </p:pic>
      <p:sp>
        <p:nvSpPr>
          <p:cNvPr id="4" name="TextBox 3"/>
          <p:cNvSpPr txBox="1"/>
          <p:nvPr/>
        </p:nvSpPr>
        <p:spPr>
          <a:xfrm>
            <a:off x="548640" y="5806440"/>
            <a:ext cx="11064240" cy="914400"/>
          </a:xfrm>
          <a:prstGeom prst="rect">
            <a:avLst/>
          </a:prstGeom>
          <a:noFill/>
        </p:spPr>
        <p:txBody>
          <a:bodyPr wrap="square">
            <a:spAutoFit/>
          </a:bodyPr>
          <a:lstStyle/>
          <a:p>
            <a:r>
              <a:rPr sz="1200">
                <a:solidFill>
                  <a:srgbClr val="404040"/>
                </a:solidFill>
              </a:rPr>
              <a:t>Figure 3. Asymptotic model of relief from the calculus. Raising supply approaches a cosmic ceiling; reducing demand approaches an irreducible floor set by embodied need. Neither reaches zero scarcity, so a residue of tragic weighing always remains; the claim is directional, not utopian.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