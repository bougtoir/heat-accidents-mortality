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カフェイン除去率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緑茶</c:v>
                </c:pt>
                <c:pt idx="1">
                  <c:v>紅茶</c:v>
                </c:pt>
                <c:pt idx="2">
                  <c:v>烏龍茶</c:v>
                </c:pt>
                <c:pt idx="3">
                  <c:v>コーヒー</c:v>
                </c:pt>
                <c:pt idx="4">
                  <c:v>エスプレッソ</c:v>
                </c:pt>
                <c:pt idx="5">
                  <c:v>エナジードリンク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93</c:v>
                </c:pt>
                <c:pt idx="1">
                  <c:v>90</c:v>
                </c:pt>
                <c:pt idx="2">
                  <c:v>92</c:v>
                </c:pt>
                <c:pt idx="3">
                  <c:v>88</c:v>
                </c:pt>
                <c:pt idx="4">
                  <c:v>85</c:v>
                </c:pt>
                <c:pt idx="5">
                  <c:v>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ポリフェノール保持率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緑茶</c:v>
                </c:pt>
                <c:pt idx="1">
                  <c:v>紅茶</c:v>
                </c:pt>
                <c:pt idx="2">
                  <c:v>烏龍茶</c:v>
                </c:pt>
                <c:pt idx="3">
                  <c:v>コーヒー</c:v>
                </c:pt>
                <c:pt idx="4">
                  <c:v>エスプレッソ</c:v>
                </c:pt>
                <c:pt idx="5">
                  <c:v>エナジードリンク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96</c:v>
                </c:pt>
                <c:pt idx="1">
                  <c:v>93</c:v>
                </c:pt>
                <c:pt idx="2">
                  <c:v>95</c:v>
                </c:pt>
                <c:pt idx="3">
                  <c:v>92</c:v>
                </c:pt>
                <c:pt idx="4">
                  <c:v>90</c:v>
                </c:pt>
                <c:pt idx="5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IPAGothi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3分後カフェイン除去率(%)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0.05</c:v>
                </c:pt>
                <c:pt idx="1">
                  <c:v>0.1</c:v>
                </c:pt>
                <c:pt idx="2">
                  <c:v>0.3</c:v>
                </c:pt>
                <c:pt idx="3">
                  <c:v>0.5</c:v>
                </c:pt>
                <c:pt idx="4">
                  <c:v>1.0</c:v>
                </c:pt>
                <c:pt idx="5">
                  <c:v>2.0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75</c:v>
                </c:pt>
                <c:pt idx="1">
                  <c:v>89</c:v>
                </c:pt>
                <c:pt idx="2">
                  <c:v>91</c:v>
                </c:pt>
                <c:pt idx="3">
                  <c:v>85</c:v>
                </c:pt>
                <c:pt idx="4">
                  <c:v>68</c:v>
                </c:pt>
                <c:pt idx="5">
                  <c:v>42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カフェイン除去率(%)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62</c:v>
                </c:pt>
                <c:pt idx="1">
                  <c:v>88</c:v>
                </c:pt>
                <c:pt idx="2">
                  <c:v>93</c:v>
                </c:pt>
                <c:pt idx="3">
                  <c:v>96</c:v>
                </c:pt>
                <c:pt idx="4">
                  <c:v>97</c:v>
                </c:pt>
                <c:pt idx="5">
                  <c:v>97</c:v>
                </c:pt>
                <c:pt idx="6">
                  <c:v>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Fe溶出量(mg/L)×100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0.5</c:v>
                </c:pt>
                <c:pt idx="1">
                  <c:v>2</c:v>
                </c:pt>
                <c:pt idx="2">
                  <c:v>5</c:v>
                </c:pt>
                <c:pt idx="3">
                  <c:v>12</c:v>
                </c:pt>
                <c:pt idx="4">
                  <c:v>28</c:v>
                </c:pt>
                <c:pt idx="5">
                  <c:v>45</c:v>
                </c:pt>
                <c:pt idx="6">
                  <c:v>120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IPAGothic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吸着材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Sheet1!$A$2:$A$5</c:f>
              <c:numCache>
                <c:formatCode>General</c:formatCode>
                <c:ptCount val="4"/>
                <c:pt idx="0">
                  <c:v>93</c:v>
                </c:pt>
                <c:pt idx="1">
                  <c:v>89</c:v>
                </c:pt>
                <c:pt idx="2">
                  <c:v>28</c:v>
                </c:pt>
                <c:pt idx="3">
                  <c:v>78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96</c:v>
                </c:pt>
                <c:pt idx="1">
                  <c:v>31</c:v>
                </c:pt>
                <c:pt idx="2">
                  <c:v>94</c:v>
                </c:pt>
                <c:pt idx="3">
                  <c:v>62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IPAGothic"/>
              </a:rPr>
              <a:t>図1　携帯型カフェイン吸着サシェの外観図および断面図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3657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IPAGothic"/>
              </a:rPr>
              <a:t>(A) 外観図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914400"/>
            <a:ext cx="3657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IPAGothic"/>
              </a:rPr>
              <a:t>(B) 断面図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51760" y="1463040"/>
            <a:ext cx="128016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51760" y="1536192"/>
            <a:ext cx="12801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IPAGothic"/>
              </a:rPr>
              <a:t>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91840" y="2011680"/>
            <a:ext cx="0" cy="822960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>
            <a:off x="1920240" y="2834640"/>
            <a:ext cx="2743200" cy="2560320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3840480"/>
            <a:ext cx="1371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IPAGothic"/>
              </a:rPr>
              <a:t>← 1（サシェ）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206240"/>
            <a:ext cx="14630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100" b="0">
                <a:solidFill>
                  <a:srgbClr val="000000"/>
                </a:solidFill>
                <a:latin typeface="IPAGothic"/>
              </a:rPr>
              <a:t>2（包材）→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2194560"/>
            <a:ext cx="310896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25184" y="396989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87261" y="414455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88875" y="256918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08522" y="4827941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83859" y="3063111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03652" y="375346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66981" y="3771287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25491" y="2818155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513949" y="491741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07590" y="454640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14215" y="2564801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852377" y="4107044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98837" y="246818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146714" y="3760741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744277" y="4948916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731399" y="507264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855863" y="4720963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992084" y="5115041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183307" y="2662599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145389" y="3012361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420905" y="3653684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1421" y="3258266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1463040"/>
            <a:ext cx="27432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IPAGothic"/>
              </a:rPr>
              <a:t>3（吸着材粒子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IPAGothic"/>
              </a:rPr>
              <a:t>粒径0.05〜1.0mm）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3108960"/>
            <a:ext cx="173736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IPAGothic"/>
              </a:rPr>
              <a:t>2（包材の孔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IPAGothic"/>
              </a:rPr>
              <a:t>孔径1〜50μm）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IPAGothic"/>
              </a:rPr>
              <a:t>図2　モンモリロナイト層間の選択的吸着機構（選択図）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0" y="5120640"/>
            <a:ext cx="7589520" cy="457200"/>
          </a:xfrm>
          <a:prstGeom prst="rect">
            <a:avLst/>
          </a:prstGeom>
          <a:solidFill>
            <a:srgbClr val="D9D9D9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166359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IPAGothic"/>
              </a:rPr>
              <a:t>シリケート層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3657600"/>
            <a:ext cx="7589520" cy="457200"/>
          </a:xfrm>
          <a:prstGeom prst="rect">
            <a:avLst/>
          </a:prstGeom>
          <a:solidFill>
            <a:srgbClr val="D9D9D9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3703320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IPAGothic"/>
              </a:rPr>
              <a:t>シリケート層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2194560"/>
            <a:ext cx="7589520" cy="457200"/>
          </a:xfrm>
          <a:prstGeom prst="rect">
            <a:avLst/>
          </a:prstGeom>
          <a:solidFill>
            <a:srgbClr val="D9D9D9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240279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IPAGothic"/>
              </a:rPr>
              <a:t>シリケート層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4297680"/>
            <a:ext cx="4572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IPAGothic"/>
              </a:rPr>
              <a:t>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297680"/>
            <a:ext cx="4572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IPAGothic"/>
              </a:rPr>
              <a:t>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4297680"/>
            <a:ext cx="4572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IPAGothic"/>
              </a:rPr>
              <a:t>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4297680"/>
            <a:ext cx="4572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IPAGothic"/>
              </a:rPr>
              <a:t>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4297680"/>
            <a:ext cx="4572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IPAGothic"/>
              </a:rPr>
              <a:t>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297680"/>
            <a:ext cx="4572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IPAGothic"/>
              </a:rPr>
              <a:t>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834640"/>
            <a:ext cx="4572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IPAGothic"/>
              </a:rPr>
              <a:t>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834640"/>
            <a:ext cx="4572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IPAGothic"/>
              </a:rPr>
              <a:t>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834640"/>
            <a:ext cx="4572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IPAGothic"/>
              </a:rPr>
              <a:t>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834640"/>
            <a:ext cx="4572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IPAGothic"/>
              </a:rPr>
              <a:t>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834640"/>
            <a:ext cx="4572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IPAGothic"/>
              </a:rPr>
              <a:t>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834640"/>
            <a:ext cx="4572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IPAGothic"/>
              </a:rPr>
              <a:t>＋</a:t>
            </a:r>
          </a:p>
        </p:txBody>
      </p:sp>
      <p:sp>
        <p:nvSpPr>
          <p:cNvPr id="21" name="Oval 20"/>
          <p:cNvSpPr/>
          <p:nvPr/>
        </p:nvSpPr>
        <p:spPr>
          <a:xfrm>
            <a:off x="3657600" y="274320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486400" y="274320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0" y="274320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840480" y="914400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3995928" y="1280160"/>
            <a:ext cx="0" cy="86868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7200" y="822960"/>
            <a:ext cx="32004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IPAGothic"/>
              </a:rPr>
              <a:t>カフェイン（MW194）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IPAGothic"/>
              </a:rPr>
              <a:t>→層間に吸着</a:t>
            </a:r>
          </a:p>
        </p:txBody>
      </p:sp>
      <p:sp>
        <p:nvSpPr>
          <p:cNvPr id="27" name="Hexagon 26"/>
          <p:cNvSpPr/>
          <p:nvPr/>
        </p:nvSpPr>
        <p:spPr>
          <a:xfrm>
            <a:off x="8503920" y="822960"/>
            <a:ext cx="640080" cy="548640"/>
          </a:xfrm>
          <a:prstGeom prst="hexagon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8823960" y="1371600"/>
            <a:ext cx="0" cy="73152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326880" y="731520"/>
            <a:ext cx="274320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IPAGothic"/>
              </a:rPr>
              <a:t>ポリフェノール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IPAGothic"/>
              </a:rPr>
              <a:t>（MW290〜869）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IPAGothic"/>
              </a:rPr>
              <a:t>→立体排除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595360" y="2286000"/>
            <a:ext cx="457200" cy="365760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595360" y="2286000"/>
            <a:ext cx="457200" cy="365760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IPAGothic"/>
              </a:rPr>
              <a:t>図3　各種飲料における除去率・保持率（実施例6）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097280"/>
          <a:ext cx="1033272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IPAGothic"/>
              </a:rPr>
              <a:t>図4　粒径とカフェイン吸着効率の関係（実施例4）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6309360"/>
            <a:ext cx="73152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IPAGothic"/>
              </a:rPr>
              <a:t>横軸: MMT粒径 (mm)　／　最適範囲 0.1〜0.5mm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IPAGothic"/>
              </a:rPr>
              <a:t>図5　接触時間と除去率・Fe溶出量の関係（実施例5）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097280" y="1188720"/>
          <a:ext cx="996696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621792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IPAGothic"/>
              </a:rPr>
              <a:t>横軸: 接触時間 (分)。Fe溶出量は視認性のため×100表示（飲料水基準0.3mg/L=30）。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IPAGothic"/>
              </a:rPr>
              <a:t>図6　吸着材の選択性比較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188720"/>
          <a:ext cx="82296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463040" y="6217920"/>
            <a:ext cx="100584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IPAGothic"/>
              </a:rPr>
              <a:t>横軸: カフェイン除去率(%)、縦軸: カテキン保持率(%)。本発明(93,96)／活性炭(89,31)／ゼオライト(28,94)／架橋ポリマー(78,62)。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IPAGothic"/>
              </a:rPr>
              <a:t>図7　平型サシェとテトラ型サシェのティーカップ内での収まり比較（実施例7）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3657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IPAGothic"/>
              </a:rPr>
              <a:t>(A) 平型（比較）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914400"/>
            <a:ext cx="3657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IPAGothic"/>
              </a:rPr>
              <a:t>(B) テトラ型（本発明）</a:t>
            </a:r>
          </a:p>
        </p:txBody>
      </p:sp>
      <p:sp>
        <p:nvSpPr>
          <p:cNvPr id="5" name="Freeform 4"/>
          <p:cNvSpPr/>
          <p:nvPr/>
        </p:nvSpPr>
        <p:spPr>
          <a:xfrm>
            <a:off x="1737360" y="2926080"/>
            <a:ext cx="3108960" cy="2743200"/>
          </a:xfrm>
          <a:custGeom>
            <a:avLst/>
            <a:gdLst/>
            <a:ahLst/>
            <a:cxnLst/>
            <a:rect l="l" t="t" r="r" b="b"/>
            <a:pathLst>
              <a:path w="3108960" h="2743200">
                <a:moveTo>
                  <a:pt x="365760" y="0"/>
                </a:moveTo>
                <a:lnTo>
                  <a:pt x="2743200" y="0"/>
                </a:lnTo>
                <a:lnTo>
                  <a:pt x="3108960" y="2743200"/>
                </a:lnTo>
                <a:lnTo>
                  <a:pt x="0" y="2743200"/>
                </a:lnTo>
                <a:close/>
              </a:path>
            </a:pathLst>
          </a:custGeom>
          <a:noFill/>
          <a:ln w="203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34640" y="1645920"/>
            <a:ext cx="82296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39" y="1554480"/>
            <a:ext cx="27432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IPAGothic"/>
              </a:rPr>
              <a:t>1（60×80mm）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IPAGothic"/>
              </a:rPr>
              <a:t>はみ出す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5852160"/>
            <a:ext cx="3200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IPAGothic"/>
              </a:rPr>
              <a:t>7（内径75mm）</a:t>
            </a:r>
          </a:p>
        </p:txBody>
      </p:sp>
      <p:sp>
        <p:nvSpPr>
          <p:cNvPr id="9" name="Freeform 8"/>
          <p:cNvSpPr/>
          <p:nvPr/>
        </p:nvSpPr>
        <p:spPr>
          <a:xfrm>
            <a:off x="7772400" y="2926080"/>
            <a:ext cx="3108959" cy="2743200"/>
          </a:xfrm>
          <a:custGeom>
            <a:avLst/>
            <a:gdLst/>
            <a:ahLst/>
            <a:cxnLst/>
            <a:rect l="l" t="t" r="r" b="b"/>
            <a:pathLst>
              <a:path w="3108959" h="2743200">
                <a:moveTo>
                  <a:pt x="365760" y="0"/>
                </a:moveTo>
                <a:lnTo>
                  <a:pt x="2743200" y="0"/>
                </a:lnTo>
                <a:lnTo>
                  <a:pt x="3108959" y="2743200"/>
                </a:lnTo>
                <a:lnTo>
                  <a:pt x="0" y="2743200"/>
                </a:lnTo>
                <a:close/>
              </a:path>
            </a:pathLst>
          </a:custGeom>
          <a:noFill/>
          <a:ln w="203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7863840" y="3657600"/>
            <a:ext cx="1463040" cy="1645920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0" y="3566160"/>
            <a:ext cx="27432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IPAGothic"/>
              </a:rPr>
              <a:t>1'（底面35mm角）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IPAGothic"/>
              </a:rPr>
              <a:t>カップ内に収まる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5852160"/>
            <a:ext cx="3200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IPAGothic"/>
              </a:rPr>
              <a:t>7（内径75mm）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