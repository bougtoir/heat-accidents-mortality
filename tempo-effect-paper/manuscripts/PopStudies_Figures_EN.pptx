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1: Five model variants versus observed population, six representative countries, 1970–2023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264" y="914400"/>
            <a:ext cx="856516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Observed = black solid (UN WPP 2024); Tempo-responsive = blue; Tempo-invariant = orange dashed; Tempo-adjusted (TFR*) = green dash-dot; Fixed-parameter (1970) = red dotted.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2: Five-model validation across all 40 countries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618" y="914400"/>
            <a:ext cx="3712459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Observed = black; Responsive = blue; Invariant = orange; Adjusted (TFR*) = green; Fixed = red. MAPE shown in upper-right corner. Countries sorted alphabetically.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3: Fixed-parameter model MAPE (%) by country and base year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27" y="914400"/>
            <a:ext cx="28984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Greener cells indicate better fit; redder cells indicate poorer fit. Scale capped at 30%.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4: Four-model comparison — MAPE and final population ratio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46" y="914400"/>
            <a:ext cx="818680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Left: MAPE by country for fixed (red), invariant (orange), responsive (blue), adjusted TFR* (green). Right: final ratio (model/observed, 2023). TFR* achieves best overall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5: Model bias analysis using base year 2000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302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(a) Fit versus TFR; (b) fit versus life expectancy; (c) bias versus MAC. No systematic relationship observed.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