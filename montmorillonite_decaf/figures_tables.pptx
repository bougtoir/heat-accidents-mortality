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Figure 1. Selectivity of MMT vs activated carbon for caffeine removal from green tea extract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371600"/>
            <a:ext cx="4114800" cy="4572000"/>
          </a:xfrm>
          <a:prstGeom prst="rect">
            <a:avLst/>
          </a:prstGeom>
          <a:solidFill>
            <a:srgbClr val="E8F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/>
            </a:pPr>
            <a:r>
              <a:t>MONTMORILLONITE</a:t>
            </a:r>
            <a:br/>
            <a:br/>
            <a:r>
              <a:t>Caffeine removal: 96.5%</a:t>
            </a:r>
            <a:br/>
            <a:r>
              <a:t>━━━━━━━━━━━━━━━━━━━━━━ ■</a:t>
            </a:r>
            <a:br/>
            <a:br/>
            <a:r>
              <a:t>Catechin retention: &gt;95%</a:t>
            </a:r>
            <a:br/>
            <a:r>
              <a:t>━━━━━━━━━━━━━━━━━━━━━━ ■</a:t>
            </a:r>
            <a:br/>
            <a:br/>
            <a:r>
              <a:t>Taste change: Minimal</a:t>
            </a:r>
            <a:br/>
            <a:r>
              <a:t>━━━━━━━━━━━━━━━━━━━━━━ ■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4114800" cy="4572000"/>
          </a:xfrm>
          <a:prstGeom prst="rect">
            <a:avLst/>
          </a:prstGeom>
          <a:solidFill>
            <a:srgbClr val="FFEB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/>
            </a:pPr>
            <a:r>
              <a:t>ACTIVATED CARBON</a:t>
            </a:r>
            <a:br/>
            <a:br/>
            <a:r>
              <a:t>Caffeine removal: ~95%</a:t>
            </a:r>
            <a:br/>
            <a:r>
              <a:t>━━━━━━━━━━━━━━━━━━━━━━ ■</a:t>
            </a:r>
            <a:br/>
            <a:br/>
            <a:r>
              <a:t>Catechin retention: LOW</a:t>
            </a:r>
            <a:br/>
            <a:r>
              <a:t>━━━━━━━━━━ ■</a:t>
            </a:r>
            <a:br/>
            <a:br/>
            <a:r>
              <a:t>Taste change: Significant</a:t>
            </a:r>
            <a:br/>
            <a:r>
              <a:t>━━━━━━━━━━━━━━━━━━ 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26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/>
            </a:pPr>
            <a:r>
              <a:t>Data from Shiono et al. (2017). MMT selectively adsorbs caffeine while preserving catechins; activated carbon removes both non-selectively.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Figure 2. Mechanism of selective caffeine adsorption by MMT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solidFill>
            <a:srgbClr val="BF960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SiO₂ – Al₂O₃ – SiO₂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743200"/>
            <a:ext cx="9144000" cy="457200"/>
          </a:xfrm>
          <a:prstGeom prst="rect">
            <a:avLst/>
          </a:prstGeom>
          <a:solidFill>
            <a:srgbClr val="BF960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SiO₂ – Al₂O₃ – SiO₂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solidFill>
            <a:srgbClr val="BF960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SiO₂ – Al₂O₃ – SiO₂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solidFill>
            <a:srgbClr val="BF960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SiO₂ – Al₂O₃ – SiO₂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32F2F"/>
                </a:solidFill>
              </a:defRPr>
            </a:pPr>
            <a:r>
              <a:t>Interlayer: Cation⁺ + Caffeine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2918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32F2F"/>
                </a:solidFill>
              </a:defRPr>
            </a:pPr>
            <a:r>
              <a:t>Interlayer: Cation⁺ + Caffeine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6634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32F2F"/>
                </a:solidFill>
              </a:defRPr>
            </a:pPr>
            <a:r>
              <a:t>Interlayer: Cation⁺ + Caffeine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9202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D32"/>
                </a:solidFill>
              </a:defRPr>
            </a:pPr>
            <a:r>
              <a:t>Polyphenols (MW 290–868 Da)</a:t>
            </a:r>
            <a:br/>
            <a:r>
              <a:t>→ STERICALLY EXCLUDED</a:t>
            </a:r>
            <a:br/>
            <a:r>
              <a:t>→ Remain in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Figure 3. Consumer protocol for portable MMT decaffeination sachet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3200400" cy="4114800"/>
          </a:xfrm>
          <a:prstGeom prst="rect">
            <a:avLst/>
          </a:prstGeom>
          <a:solidFill>
            <a:srgbClr val="E3F2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/>
            </a:pPr>
            <a:r>
              <a:t>① IMMERSE</a:t>
            </a:r>
            <a:br/>
            <a:br/>
            <a:r>
              <a:t>Drop sachet into</a:t>
            </a:r>
            <a:br/>
            <a:r>
              <a:t>any caffeinated beverage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1371600"/>
            <a:ext cx="3200400" cy="4114800"/>
          </a:xfrm>
          <a:prstGeom prst="rect">
            <a:avLst/>
          </a:prstGeom>
          <a:solidFill>
            <a:srgbClr val="FFF3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/>
            </a:pPr>
            <a:r>
              <a:t>② WAIT 3–5 min</a:t>
            </a:r>
            <a:br/>
            <a:br/>
            <a:r>
              <a:t>Gentle agitation</a:t>
            </a:r>
            <a:br/>
            <a:r>
              <a:t>(like a tea bag)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371600"/>
            <a:ext cx="3200400" cy="4114800"/>
          </a:xfrm>
          <a:prstGeom prst="rect">
            <a:avLst/>
          </a:prstGeom>
          <a:solidFill>
            <a:srgbClr val="E8F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/>
            </a:pPr>
            <a:r>
              <a:t>③ REMOVE</a:t>
            </a:r>
            <a:br/>
            <a:br/>
            <a:r>
              <a:t>Discard sachet</a:t>
            </a:r>
            <a:br/>
            <a:r>
              <a:t>→ Enjoy decaf!</a:t>
            </a:r>
          </a:p>
        </p:txBody>
      </p:sp>
      <p:sp>
        <p:nvSpPr>
          <p:cNvPr id="7" name="Can 6"/>
          <p:cNvSpPr/>
          <p:nvPr/>
        </p:nvSpPr>
        <p:spPr>
          <a:xfrm>
            <a:off x="3657600" y="3200400"/>
            <a:ext cx="457200" cy="91440"/>
          </a:xfrm>
          <a:prstGeom prst="can">
            <a:avLst/>
          </a:prstGeom>
          <a:solidFill>
            <a:srgbClr val="42424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n 7"/>
          <p:cNvSpPr/>
          <p:nvPr/>
        </p:nvSpPr>
        <p:spPr>
          <a:xfrm>
            <a:off x="6858000" y="3200400"/>
            <a:ext cx="457200" cy="91440"/>
          </a:xfrm>
          <a:prstGeom prst="can">
            <a:avLst/>
          </a:prstGeom>
          <a:solidFill>
            <a:srgbClr val="42424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5760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/>
            </a:pPr>
            <a:r>
              <a:t>Result: &gt;80% caffeine removed | &gt;90% polyphenols preserved | No detectable taste change | Works with tea, coffee, energy drinks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Table 1. Estimated decaffeination performance of a 5 g MMT sachet for common beverages.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097280"/>
          <a:ext cx="100584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Beverage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Typical caffeine</a:t>
                      </a:r>
                    </a:p>
                    <a:p>
                      <a:pPr algn="ctr">
                        <a:defRPr sz="1000" b="1"/>
                      </a:pPr>
                      <a:r>
                        <a:t>(mg per 250 mL)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MMT sachet capacity</a:t>
                      </a:r>
                    </a:p>
                    <a:p>
                      <a:pPr algn="ctr">
                        <a:defRPr sz="1000" b="1"/>
                      </a:pPr>
                      <a:r>
                        <a:t>(mg per 5 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Expected removal</a:t>
                      </a:r>
                    </a:p>
                    <a:p>
                      <a:pPr algn="ctr">
                        <a:defRPr sz="1000" b="1"/>
                      </a:pPr>
                      <a:r>
                        <a:t>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Contact time</a:t>
                      </a:r>
                    </a:p>
                    <a:p>
                      <a:pPr algn="ctr">
                        <a:defRPr sz="1000" b="1"/>
                      </a:pPr>
                      <a:r>
                        <a:t>(min)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Green tea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30–50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100–160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&gt;95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3–5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Black tea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40–70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100–160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&gt;90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3–5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Oolong tea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35–55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100–160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&gt;95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3–5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Drip coffee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80–100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100–160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&gt;80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5–7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Espresso (diluted)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60–80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100–160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&gt;85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Energy drink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80–160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100–160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60–&gt;95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5–10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Table 2. Comparison of consumer-accessible decaffeination approaches.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MMT sachet</a:t>
                      </a:r>
                    </a:p>
                    <a:p>
                      <a:pPr algn="ctr">
                        <a:defRPr sz="1000" b="1"/>
                      </a:pPr>
                      <a:r>
                        <a:t>(proposed)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Polymer bead sachet</a:t>
                      </a:r>
                    </a:p>
                    <a:p>
                      <a:pPr algn="ctr">
                        <a:defRPr sz="1000" b="1"/>
                      </a:pPr>
                      <a:r>
                        <a:t>(US 10,813,375 B2)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Pre-manufactured</a:t>
                      </a:r>
                    </a:p>
                    <a:p>
                      <a:pPr algn="ctr">
                        <a:defRPr sz="1000" b="1"/>
                      </a:pPr>
                      <a:r>
                        <a:t>decaf products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Polyphenol preservation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High (&gt;95%)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Low–Moderate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Variable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Caffeine selectivity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N/A (industrial)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Regulatory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GRAS / E558 / JP approved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Not established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Established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Biodegradability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Yes (mineral)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No (polymer)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Beverage versatility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Any beverage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Any beverage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Limited selection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Industrial precedent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Kirin (2014–present)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Established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Estimated cost per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~USD 0.30–0.50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Premium pricing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