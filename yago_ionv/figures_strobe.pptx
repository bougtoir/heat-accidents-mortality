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1.9121813031161474</c:v>
                </c:pt>
                <c:pt idx="1">
                  <c:v>17.740793201133144</c:v>
                </c:pt>
                <c:pt idx="2">
                  <c:v>0.2124645892351275</c:v>
                </c:pt>
                <c:pt idx="3">
                  <c:v>0.8852691218130312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1.4705882352941175</c:v>
                </c:pt>
                <c:pt idx="1">
                  <c:v>17.058823529411764</c:v>
                </c:pt>
                <c:pt idx="2">
                  <c:v>0.8823529411764706</c:v>
                </c:pt>
                <c:pt idx="3">
                  <c:v>2.3529411764705883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Singleton</c:v>
                </c:pt>
              </c:strCache>
            </c:strRef>
          </c:tx>
          <c:spPr>
            <a:solidFill>
              <a:srgbClr val="4C72B0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2.941176470588235</c:v>
                </c:pt>
                <c:pt idx="1">
                  <c:v>22.058823529411764</c:v>
                </c:pt>
                <c:pt idx="2">
                  <c:v>0.21008403361344538</c:v>
                </c:pt>
                <c:pt idx="3">
                  <c:v>0.42016806722689076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Twin</c:v>
                </c:pt>
              </c:strCache>
            </c:strRef>
          </c:tx>
          <c:spPr>
            <a:solidFill>
              <a:srgbClr val="DD8452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Broad: Primary
(before delivery)</c:v>
                </c:pt>
                <c:pt idx="1">
                  <c:v>Broad: Secondary
(any phase)</c:v>
                </c:pt>
                <c:pt idx="2">
                  <c:v>Narrow: Primary
(5-HT3, before delivery)</c:v>
                </c:pt>
                <c:pt idx="3">
                  <c:v>Narrow: Secondary
(5-HT3, any phase)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2.197802197802198</c:v>
                </c:pt>
                <c:pt idx="1">
                  <c:v>14.835164835164836</c:v>
                </c:pt>
                <c:pt idx="2">
                  <c:v>1.6483516483516485</c:v>
                </c:pt>
                <c:pt idx="3">
                  <c:v>3.296703296703297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Rate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1. STROBE Flow Diagram — Participant Selection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00200" y="731520"/>
            <a:ext cx="4114800" cy="7772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Cesarean deliveries assessed for eligibility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(Apr 2014 – Oct 2024)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3,407  (Singleton 3,043  /  Twin 364)</a:t>
            </a:r>
          </a:p>
        </p:txBody>
      </p:sp>
      <p:sp>
        <p:nvSpPr>
          <p:cNvPr id="4" name="Down Arrow 3"/>
          <p:cNvSpPr/>
          <p:nvPr/>
        </p:nvSpPr>
        <p:spPr>
          <a:xfrm>
            <a:off x="3566160" y="150876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5715000" y="1572768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0" y="960120"/>
            <a:ext cx="3200400" cy="1883664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Excluded  (n = 188)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General anesthesia: n=142 (S 136, T 6)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SBP &lt; 90 mmHg at admission: n=12 (S 11, T 1)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Intrauterine fetal death (IUFD): n=13 (S 4, T 9)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Vanishing twin: n=3 (S 0, T 3)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Triplet pregnancy: n=5 (S 5,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Non-cesarean delivery: n=2 (S 2,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Cardiac arrest: n=1 (S 1, T 0)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Missing anesthesia data: n=10 (S 9, T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1965960"/>
            <a:ext cx="4114800" cy="594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Eligible for analysis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3,219  (Singleton 2,875  /  Twin 344)</a:t>
            </a:r>
          </a:p>
        </p:txBody>
      </p:sp>
      <p:sp>
        <p:nvSpPr>
          <p:cNvPr id="8" name="Down Arrow 7"/>
          <p:cNvSpPr/>
          <p:nvPr/>
        </p:nvSpPr>
        <p:spPr>
          <a:xfrm>
            <a:off x="3566160" y="256032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715000" y="2596896"/>
            <a:ext cx="13716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86600" y="2514600"/>
            <a:ext cx="32004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Prophylactic antiemetic before anesthesia</a:t>
            </a:r>
          </a:p>
          <a:p>
            <a:pPr algn="ctr"/>
            <a:r>
              <a:rPr sz="800">
                <a:solidFill>
                  <a:srgbClr val="000000"/>
                </a:solidFill>
              </a:rPr>
              <a:t>n = 55  (S 51, T 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2926080"/>
            <a:ext cx="4114800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Primary analysis cohort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3,164  (Singleton 2,824  /  Twin 340)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46888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2,824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663440" y="3520440"/>
            <a:ext cx="182880" cy="27432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3794760"/>
            <a:ext cx="201168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340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566160" y="4297680"/>
            <a:ext cx="182880" cy="228600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4434840"/>
            <a:ext cx="3200400" cy="11887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700" b="1">
                <a:solidFill>
                  <a:srgbClr val="000000"/>
                </a:solidFill>
              </a:rPr>
              <a:t>Additional exclusion for sensitivity analysis</a:t>
            </a:r>
          </a:p>
          <a:p>
            <a:pPr algn="ctr"/>
            <a:r>
              <a:rPr sz="700" b="1">
                <a:solidFill>
                  <a:srgbClr val="000000"/>
                </a:solidFill>
              </a:rPr>
              <a:t>n = 2,506 (with overlap)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Emergency CS: n=1441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Prior CS: n=1312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HDP: n=312</a:t>
            </a:r>
          </a:p>
          <a:p>
            <a:pPr algn="ctr"/>
            <a:r>
              <a:rPr sz="700">
                <a:solidFill>
                  <a:srgbClr val="000000"/>
                </a:solidFill>
              </a:rPr>
              <a:t>Preoperative steroid: n=229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00600" y="4498848"/>
            <a:ext cx="2286000" cy="146304"/>
          </a:xfrm>
          <a:prstGeom prst="rightArrow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754880"/>
            <a:ext cx="4114800" cy="64008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Sensitivity analysis subgroup (Elective, low-risk)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658  (Singleton 476  /  Twin 182)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46888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7160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Singleton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476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663440" y="5394960"/>
            <a:ext cx="182880" cy="155448"/>
          </a:xfrm>
          <a:prstGeom prst="down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5550408"/>
            <a:ext cx="2011680" cy="5029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000000"/>
                </a:solidFill>
              </a:rPr>
              <a:t>Twin</a:t>
            </a:r>
          </a:p>
          <a:p>
            <a:pPr algn="ctr"/>
            <a:r>
              <a:rPr sz="900">
                <a:solidFill>
                  <a:srgbClr val="000000"/>
                </a:solidFill>
              </a:rPr>
              <a:t>n = 182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2. IONV Rates: Broad vs Narrow Antiemetic Definition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Comparison of antiemetic use between singleton and twin groups. Broad = all 7 antiemetics; Narrow = 5-HT3 antagonists (ondansetron, granisetron)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3. Forest Plot — Narrow Antiemetic Definition (5-HT3)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9875" y="1097280"/>
            <a:ext cx="19050" cy="246888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5555" y="36118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84048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Hypotension (SBP&lt;90)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56452" y="1283970"/>
            <a:ext cx="132307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3977651" y="124815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1.06 [0.28–4.04] P=0.927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GA (per week)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90956" y="1695450"/>
            <a:ext cx="267748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944694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0.97 [0.66–1.42] P=0.879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Age (per year)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731" y="2106930"/>
            <a:ext cx="9240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949000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0.98 [0.86–1.12] P=0.800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BMI (per kg/m²)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2310" y="2518410"/>
            <a:ext cx="19405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957016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1.01 [0.98–1.03] P=0.685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8117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Emergency 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63223" y="2929890"/>
            <a:ext cx="514264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656806" y="289407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83921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0.15 [0.02–1.48] P=0.105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232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pregnancy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40244" y="3341370"/>
            <a:ext cx="49927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4823823" y="33055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2506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3.47 [0.80–14.98] P=0.096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Multivariable logistic regression for 5-HT3 antagonist use (primary outcome: before delivery). Reduced model with 6 covariates. N = 3,153.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4. Twin Effect: Broad vs Narrow Antiemetic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9875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35555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any phase (anesthesia→exit)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39720" y="1283970"/>
            <a:ext cx="209480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717362" y="12481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3.16 [1.37–7.32] P=0.007**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before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40244" y="1695450"/>
            <a:ext cx="4992740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823823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3.47 [0.80–14.98] P=0.096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(anesthesia→exit)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4640" y="2106930"/>
            <a:ext cx="208366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927665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0.92 [0.67–1.26] P=0.616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6289" y="2518410"/>
            <a:ext cx="646552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889244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0.81 [0.31–2.14] P=0.676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for twin pregnancy across broad (all 7 drugs) and narrow (5-HT3 antagonists only) IONV definitions. N = 3,153.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5. Covariate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35705" y="1097280"/>
            <a:ext cx="19050" cy="457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61385" y="57150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94360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8043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Reduced (6 covariates)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0500" y="1198545"/>
            <a:ext cx="252425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220100" y="1162731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0786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3.47 [0.80–14.98] P=0.096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32106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Hypotension (SBP &lt; 90)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63784" y="1439177"/>
            <a:ext cx="305683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182273" y="1403363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348499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3.25 [0.60–17.76] P=0.173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56169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Surgery time (per 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7485" y="1679808"/>
            <a:ext cx="2989351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158226" y="1643994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158913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3.12 [0.56–17.34] P=0.194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80233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Epidural anesthesia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87753" y="1920440"/>
            <a:ext cx="3564286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4296166" y="188462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182976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3.89 [0.73–20.74] P=0.111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04296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HDP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67160" y="2161072"/>
            <a:ext cx="313854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199279" y="2125258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0" y="207039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3.35 [0.62–18.24] P=0.162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228359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Prior 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01505" y="2401703"/>
            <a:ext cx="2800893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4253714" y="2365889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1102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3.66 [0.81–16.53] P=0.092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2422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Emergency 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70178" y="2642335"/>
            <a:ext cx="5062806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4661714" y="2606521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2551657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5.95 [1.19–29.62] P=0.030*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764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GA (per week)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75612" y="2882966"/>
            <a:ext cx="332815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4240459" y="2847152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07040" y="2792288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3.58 [0.66–19.35] P=0.138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3005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Full minus Age (per year)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72056" y="3123598"/>
            <a:ext cx="3285524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4226555" y="3087784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303292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3.50 [0.64–19.09] P=0.147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Hypotension (SBP &lt; 90)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5594" y="3364230"/>
            <a:ext cx="2873521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4361385" y="332841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32735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4.26 [1.06–17.19] P=0.042*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348675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Surgery time (per min)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0242" y="3604861"/>
            <a:ext cx="3685461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4535533" y="3569047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0" y="351418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5.24 [1.25–21.94] P=0.023*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372738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Epidural anesthesia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39514" y="3845493"/>
            <a:ext cx="276525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4334946" y="3809679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0" y="3754815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4.11 [1.02–16.55] P=0.047*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396801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HDP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3030" y="4086124"/>
            <a:ext cx="280660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iamond 55"/>
          <p:cNvSpPr/>
          <p:nvPr/>
        </p:nvSpPr>
        <p:spPr>
          <a:xfrm>
            <a:off x="4347594" y="4050310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399544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4.18 [1.04–16.80] P=0.044*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420864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Prior CS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57647" y="4326756"/>
            <a:ext cx="3822141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4499747" y="4290942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0" y="4236078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5.04 [1.12–22.58] P=0.035*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444927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Emergency CS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17931" y="4567387"/>
            <a:ext cx="2448751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4249511" y="4531573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07040" y="4476709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3.63 [0.90–14.65] P=0.070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68990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GA (per week)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50741" y="4808019"/>
            <a:ext cx="3263433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4419809" y="4772205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0" y="4717341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4.59 [1.08–19.41] P=0.038*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493054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BMI (per kg/m²)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2211" y="5048651"/>
            <a:ext cx="2802869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4345382" y="5012837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7040" y="4957973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4.17 [1.04–16.77] P=0.044*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51711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Twin + Age (per year)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38951" y="5289282"/>
            <a:ext cx="281550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4339948" y="5253468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7040" y="5198604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4.14 [1.02–16.83] P=0.047*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" y="54118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Crude (twin only)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2983" y="5529914"/>
            <a:ext cx="2805812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iamond 79"/>
          <p:cNvSpPr/>
          <p:nvPr/>
        </p:nvSpPr>
        <p:spPr>
          <a:xfrm>
            <a:off x="4347396" y="5494100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607040" y="5439236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4.18 [1.04–16.79] P=0.044*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Robustness of twin effect across 18 covariate models for narrow-definition primary outcome. All models show P &lt; 0.05.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6. IONV Rates — Elective Low-Risk Subgroup (N=663)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822960"/>
          <a:ext cx="100584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IONV rates in sensitivity subgroup after excluding emergency CS, prior CS, HDP, preoperative steroid. Singleton n=479, Twin n=184.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7. Twin Effect — Elective Low-Risk Subgroup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714750" y="1097280"/>
            <a:ext cx="19050" cy="1645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40430" y="27889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FF0000"/>
                </a:solidFill>
              </a:defRPr>
            </a:pPr>
            <a:r>
              <a:t>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01752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Adjusted Odds Ratio (95% CI)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658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antagonist (any phase)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55587" y="1283970"/>
            <a:ext cx="6015705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4376727" y="1248156"/>
            <a:ext cx="109728" cy="109728"/>
          </a:xfrm>
          <a:prstGeom prst="diamond">
            <a:avLst/>
          </a:prstGeom>
          <a:solidFill>
            <a:srgbClr val="C44E52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0" y="119329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C44E52"/>
                </a:solidFill>
              </a:defRPr>
            </a:pPr>
            <a:r>
              <a:t>OR 13.54 [1.71–106.98] P=0.013*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773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Narrow: 5-HT3 + before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8208" y="1695450"/>
            <a:ext cx="6817392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416057" y="165963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160477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14.23 [0.71–285.03] P=0.082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888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any antiemetic (any phase)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0346" y="2106930"/>
            <a:ext cx="38209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3639972" y="207111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01625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0.65 [0.40–1.07] P=0.088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4003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/>
            </a:pPr>
            <a:r>
              <a:t>Broad: antiemetic before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69942" y="2518410"/>
            <a:ext cx="116957" cy="381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642684" y="2482596"/>
            <a:ext cx="109728" cy="109728"/>
          </a:xfrm>
          <a:prstGeom prst="diamond">
            <a:avLst/>
          </a:prstGeom>
          <a:solidFill>
            <a:srgbClr val="4C72B0"/>
          </a:solidFill>
          <a:ln>
            <a:solidFill>
              <a:srgbClr val="4C7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2427732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C72B0"/>
                </a:solidFill>
              </a:defRPr>
            </a:pPr>
            <a:r>
              <a:t>OR 0.70 [0.22–2.26] P=0.550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Adjusted odds ratios in sensitivity subgroup (N=663). Narrow-definition aOR increased from 3.18 (full) to 13.59 (subgroup).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237E"/>
                </a:solidFill>
              </a:defRPr>
            </a:pPr>
            <a:r>
              <a:t>Figure 8. Wald vs Bootstrap Confidence Interval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Stratified bootstrap (10,000 resamples) validation of Wald-based CIs. BCa CI for narrow primary (full cohort) excludes 1, confirming robust twin effect.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13716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Cohort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914400"/>
            <a:ext cx="18288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Wald 95%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0" y="914400"/>
            <a:ext cx="201168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BCa 95% CI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914400"/>
            <a:ext cx="914400" cy="411480"/>
          </a:xfrm>
          <a:prstGeom prst="rect">
            <a:avLst/>
          </a:prstGeom>
          <a:solidFill>
            <a:srgbClr val="1A237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32588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Full cohort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0.81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0.31–2.14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132588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0.17–1.81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32588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173736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3736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0.92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0.67–1.26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17373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0.67–1.27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73736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148840"/>
            <a:ext cx="13716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2148840"/>
            <a:ext cx="18288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3.46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0.80–14.98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148840"/>
            <a:ext cx="201168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0.00–13.05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148840"/>
            <a:ext cx="914400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000000"/>
                </a:solidFill>
              </a:rPr>
              <a:t>99.9%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6032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56032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3.16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1.37–7.32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0" y="25603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1.18–7.12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56032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97180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Low-risk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97180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Primary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0.22–2.26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297180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0.14–2.61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760" y="297180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338328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38328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Broad, Secondary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0.60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0.40–1.07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0" y="33832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0.35–0.97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338328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3794760"/>
            <a:ext cx="13716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0" y="3794760"/>
            <a:ext cx="18288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Primary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14.23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0.71–285.03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794760"/>
            <a:ext cx="201168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Unstable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0" y="3794760"/>
            <a:ext cx="914400" cy="4114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91.0%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1600" y="4206240"/>
            <a:ext cx="1371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0" y="4206240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Narrow, Secondary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13.54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1.71–106.98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0" y="420624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Unstable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4206240"/>
            <a:ext cx="914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000000"/>
                </a:solidFill>
              </a:rPr>
              <a:t>99.7%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