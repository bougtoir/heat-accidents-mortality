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1A2E"/>
                </a:solidFill>
                <a:latin typeface="Arial"/>
              </a:defRPr>
            </a:pPr>
            <a:r>
              <a:t>Bland-Altmanを超えて：血行動態モニタの診断的バリデーションのためのConcordance Correlation Coefficient分解</a:t>
            </a:r>
            <a:br/>
            <a:r>
              <a:t/>
            </a:r>
          </a:p>
          <a:p>
            <a:br/>
            <a:pPr algn="ctr">
              <a:defRPr sz="1400" i="1">
                <a:solidFill>
                  <a:srgbClr val="555555"/>
                </a:solidFill>
                <a:latin typeface="Arial"/>
              </a:defRPr>
            </a:pPr>
            <a:r>
              <a:t>Pulse Pressure Accuracy as an Implicit Gain Validator</a:t>
            </a:r>
          </a:p>
          <a:p>
            <a:br/>
            <a:pPr algn="ctr">
              <a:defRPr sz="1600">
                <a:solidFill>
                  <a:srgbClr val="555555"/>
                </a:solidFill>
                <a:latin typeface="Arial"/>
              </a:defRPr>
            </a:pPr>
            <a:r>
              <a:t>図表一覧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2E"/>
                </a:solidFill>
                <a:latin typeface="Arial"/>
              </a:defRPr>
            </a:pPr>
            <a:r>
              <a:t>図1. 動脈圧波形の分解</a:t>
            </a:r>
          </a:p>
        </p:txBody>
      </p:sp>
      <p:pic>
        <p:nvPicPr>
          <p:cNvPr id="3" name="Picture 2" descr="figure1_signa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22960"/>
            <a:ext cx="10972800" cy="32420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333333"/>
                </a:solidFill>
                <a:latin typeface="Arial"/>
              </a:defRPr>
            </a:pPr>
            <a:r>
              <a:t>図1. (A) 真の動脈圧：DC成分（オフセット依存のベースライン）とAC成分（脈圧、PP = 40 mmHg）。(B) DCオフセット（+15 mmHg）：PPは差分量のため40 mmHgで不変。(C) ゲインエラー（v = 1.15）：PPが46 mmHgに歪む。ゼロ校正は(B)を補正するが(C)は補正不可。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2E"/>
                </a:solidFill>
                <a:latin typeface="Arial"/>
              </a:defRPr>
            </a:pPr>
            <a:r>
              <a:t>図2. コンコーダンスプロット — 4つのシミュレーションシナリオ</a:t>
            </a:r>
          </a:p>
        </p:txBody>
      </p:sp>
      <p:pic>
        <p:nvPicPr>
          <p:cNvPr id="3" name="Picture 2" descr="figure2_ccc_zeroing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22960"/>
            <a:ext cx="10972800" cy="2808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333333"/>
                </a:solidFill>
                <a:latin typeface="Arial"/>
              </a:defRPr>
            </a:pPr>
            <a:r>
              <a:t>図2. (A) ゼロ校正前：オフセットによりCCC = 0.855。(B) ゼロ校正後：CCC = 0.986、Cb = 1.000。(C) ゲインエラー（v = 1.11）：Cb = 0.870、ゼロ校正では改善不可。(D) ゲイン＋オフセット：CCC = 0.976。破線 = 恒等線（y = x）；実線 = 回帰直線。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2E"/>
                </a:solidFill>
                <a:latin typeface="Arial"/>
              </a:defRPr>
            </a:pPr>
            <a:r>
              <a:t>図3. 従来型 vs. ゼロ校正不要システムの比較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Arial"/>
              </a:defRPr>
            </a:pPr>
            <a:r>
              <a:t>A. 従来の液充填システム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463040" cy="822960"/>
          </a:xfrm>
          <a:prstGeom prst="roundRect">
            <a:avLst/>
          </a:prstGeom>
          <a:solidFill>
            <a:srgbClr val="FFCCCC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動脈</a:t>
            </a:r>
            <a:br/>
            <a:r>
              <a:t>（カテーテル先端）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20240" y="1874519"/>
            <a:ext cx="548640" cy="0"/>
          </a:xfrm>
          <a:prstGeom prst="line">
            <a:avLst/>
          </a:prstGeom>
          <a:ln w="25400">
            <a:solidFill>
              <a:srgbClr val="3366CC"/>
            </a:solidFill>
          </a:ln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37360" y="12344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66CC"/>
                </a:solidFill>
                <a:latin typeface="Arial"/>
              </a:defRPr>
            </a:pPr>
            <a:r>
              <a:t>液充填チューブ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280160"/>
            <a:ext cx="1645920" cy="1097280"/>
          </a:xfrm>
          <a:prstGeom prst="roundRect">
            <a:avLst/>
          </a:prstGeom>
          <a:solidFill>
            <a:srgbClr val="CCDDFF"/>
          </a:solidFill>
          <a:ln w="19050">
            <a:solidFill>
              <a:srgbClr val="33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外部</a:t>
            </a:r>
            <a:br/>
            <a:r>
              <a:t>トランスデューサ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0" y="1874519"/>
            <a:ext cx="548640" cy="0"/>
          </a:xfrm>
          <a:prstGeom prst="line">
            <a:avLst/>
          </a:prstGeom>
          <a:ln w="25400">
            <a:solidFill>
              <a:srgbClr val="333333"/>
            </a:solidFill>
          </a:ln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663440" y="1371600"/>
            <a:ext cx="1188720" cy="914400"/>
          </a:xfrm>
          <a:prstGeom prst="roundRect">
            <a:avLst/>
          </a:prstGeom>
          <a:solidFill>
            <a:srgbClr val="DDDDDD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モニター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26080"/>
            <a:ext cx="1371600" cy="822960"/>
          </a:xfrm>
          <a:prstGeom prst="roundRect">
            <a:avLst/>
          </a:prstGeom>
          <a:solidFill>
            <a:srgbClr val="FFCCCC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0">
                <a:solidFill>
                  <a:srgbClr val="000000"/>
                </a:solidFill>
                <a:latin typeface="Arial"/>
              </a:defRPr>
            </a:pPr>
            <a:r>
              <a:t>静水圧カラム</a:t>
            </a:r>
            <a:br/>
            <a:r>
              <a:t>(ΔP = ρgh)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2926080"/>
            <a:ext cx="1371600" cy="822960"/>
          </a:xfrm>
          <a:prstGeom prst="roundRect">
            <a:avLst/>
          </a:prstGeom>
          <a:solidFill>
            <a:srgbClr val="FFDDCC"/>
          </a:solidFill>
          <a:ln w="1905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0">
                <a:solidFill>
                  <a:srgbClr val="000000"/>
                </a:solidFill>
                <a:latin typeface="Arial"/>
              </a:defRPr>
            </a:pPr>
            <a:r>
              <a:t>大気圧</a:t>
            </a:r>
            <a:br/>
            <a:r>
              <a:t>基準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926080"/>
            <a:ext cx="1371600" cy="822960"/>
          </a:xfrm>
          <a:prstGeom prst="roundRect">
            <a:avLst/>
          </a:prstGeom>
          <a:solidFill>
            <a:srgbClr val="FFEECC"/>
          </a:solidFill>
          <a:ln w="19050">
            <a:solidFill>
              <a:srgbClr val="CC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0">
                <a:solidFill>
                  <a:srgbClr val="000000"/>
                </a:solidFill>
                <a:latin typeface="Arial"/>
              </a:defRPr>
            </a:pPr>
            <a:r>
              <a:t>トランスデューサ</a:t>
            </a:r>
            <a:br/>
            <a:r>
              <a:t>ドリフト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43000" y="3749039"/>
            <a:ext cx="1554480" cy="640081"/>
          </a:xfrm>
          <a:prstGeom prst="line">
            <a:avLst/>
          </a:prstGeom>
          <a:ln w="25400">
            <a:solidFill>
              <a:srgbClr val="CC0000"/>
            </a:solidFill>
          </a:ln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697480" y="3749039"/>
            <a:ext cx="0" cy="640081"/>
          </a:xfrm>
          <a:prstGeom prst="line">
            <a:avLst/>
          </a:prstGeom>
          <a:ln w="25400">
            <a:solidFill>
              <a:srgbClr val="CC0000"/>
            </a:solidFill>
          </a:ln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697480" y="3749039"/>
            <a:ext cx="1554480" cy="640081"/>
          </a:xfrm>
          <a:prstGeom prst="line">
            <a:avLst/>
          </a:prstGeom>
          <a:ln w="25400">
            <a:solidFill>
              <a:srgbClr val="CC0000"/>
            </a:solidFill>
          </a:ln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520" y="4389120"/>
            <a:ext cx="4206240" cy="731520"/>
          </a:xfrm>
          <a:prstGeom prst="roundRect">
            <a:avLst/>
          </a:prstGeom>
          <a:solidFill>
            <a:srgbClr val="FFCCCC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100" b="1">
                <a:solidFill>
                  <a:srgbClr val="CC0000"/>
                </a:solidFill>
                <a:latin typeface="Arial"/>
              </a:defRPr>
            </a:pPr>
            <a:r>
              <a:t>手動ゼロ校正が必要</a:t>
            </a:r>
            <a:br/>
            <a:r>
              <a:t>（オフセット/uのみ補正；ゲイン/vは不変）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7772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00"/>
                </a:solidFill>
                <a:latin typeface="Arial"/>
              </a:defRPr>
            </a:pPr>
            <a:r>
              <a:t>B. 提案するゼロ校正不要システム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1280160"/>
            <a:ext cx="1828800" cy="1097280"/>
          </a:xfrm>
          <a:prstGeom prst="roundRect">
            <a:avLst/>
          </a:prstGeom>
          <a:solidFill>
            <a:srgbClr val="CCFFCC"/>
          </a:solidFill>
          <a:ln w="19050">
            <a:solidFill>
              <a:srgbClr val="00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カテーテル先端</a:t>
            </a:r>
            <a:br/>
            <a:r>
              <a:t>MEMSセンサ</a:t>
            </a:r>
            <a:br/>
            <a:r>
              <a:t>（絶対圧）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12480" y="1874519"/>
            <a:ext cx="548640" cy="0"/>
          </a:xfrm>
          <a:prstGeom prst="line">
            <a:avLst/>
          </a:prstGeom>
          <a:ln w="25400">
            <a:solidFill>
              <a:srgbClr val="008800"/>
            </a:solidFill>
          </a:ln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961120" y="1097280"/>
            <a:ext cx="2011680" cy="1645920"/>
          </a:xfrm>
          <a:prstGeom prst="roundRect">
            <a:avLst/>
          </a:prstGeom>
          <a:solidFill>
            <a:srgbClr val="DDFFDD"/>
          </a:solidFill>
          <a:ln w="19050">
            <a:solidFill>
              <a:srgbClr val="00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スマートモニター</a:t>
            </a:r>
          </a:p>
          <a:p>
            <a:br/>
            <a:pPr>
              <a:defRPr sz="900">
                <a:solidFill>
                  <a:srgbClr val="006600"/>
                </a:solidFill>
                <a:latin typeface="Arial"/>
              </a:defRPr>
            </a:pPr>
            <a:r>
              <a:t>内蔵気圧計</a:t>
            </a:r>
            <a:br/>
            <a:r>
              <a:t>＋自動補償</a:t>
            </a:r>
          </a:p>
          <a:p>
            <a:br/>
            <a:pPr>
              <a:defRPr sz="900">
                <a:solidFill>
                  <a:srgbClr val="006600"/>
                </a:solidFill>
                <a:latin typeface="Arial"/>
              </a:defRPr>
            </a:pPr>
            <a:r>
              <a:t>自己校正MEMS</a:t>
            </a:r>
            <a:br/>
            <a:r>
              <a:t>参照キャビティ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972800" y="192024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1247120" y="1371600"/>
            <a:ext cx="731520" cy="914400"/>
          </a:xfrm>
          <a:prstGeom prst="roundRect">
            <a:avLst/>
          </a:prstGeom>
          <a:solidFill>
            <a:srgbClr val="DDDDDD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表示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2926080"/>
            <a:ext cx="1371600" cy="822960"/>
          </a:xfrm>
          <a:prstGeom prst="roundRect">
            <a:avLst/>
          </a:prstGeom>
          <a:solidFill>
            <a:srgbClr val="CCFFCC"/>
          </a:solidFill>
          <a:ln w="19050">
            <a:solidFill>
              <a:srgbClr val="00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0">
                <a:solidFill>
                  <a:srgbClr val="000000"/>
                </a:solidFill>
                <a:latin typeface="Arial"/>
              </a:defRPr>
            </a:pPr>
            <a:r>
              <a:t>先端センサ</a:t>
            </a:r>
            <a:br/>
            <a:r>
              <a:t>→ Δh = 0</a:t>
            </a:r>
            <a:br/>
            <a:r>
              <a:t>✓ 排除済み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926080"/>
            <a:ext cx="1371600" cy="822960"/>
          </a:xfrm>
          <a:prstGeom prst="roundRect">
            <a:avLst/>
          </a:prstGeom>
          <a:solidFill>
            <a:srgbClr val="CCEECC"/>
          </a:solidFill>
          <a:ln w="19050">
            <a:solidFill>
              <a:srgbClr val="00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0">
                <a:solidFill>
                  <a:srgbClr val="000000"/>
                </a:solidFill>
                <a:latin typeface="Arial"/>
              </a:defRPr>
            </a:pPr>
            <a:r>
              <a:t>気圧補償</a:t>
            </a:r>
            <a:br/>
            <a:r>
              <a:t>✓ 排除済み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2926080"/>
            <a:ext cx="1371600" cy="822960"/>
          </a:xfrm>
          <a:prstGeom prst="roundRect">
            <a:avLst/>
          </a:prstGeom>
          <a:solidFill>
            <a:srgbClr val="DDDDBB"/>
          </a:solidFill>
          <a:ln w="19050">
            <a:solidFill>
              <a:srgbClr val="00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0">
                <a:solidFill>
                  <a:srgbClr val="000000"/>
                </a:solidFill>
                <a:latin typeface="Arial"/>
              </a:defRPr>
            </a:pPr>
            <a:r>
              <a:t>自己校正MEMS</a:t>
            </a:r>
            <a:br/>
            <a:r>
              <a:t>✓ 排除済み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269480" y="3749039"/>
            <a:ext cx="1554480" cy="640081"/>
          </a:xfrm>
          <a:prstGeom prst="line">
            <a:avLst/>
          </a:prstGeom>
          <a:ln w="25400">
            <a:solidFill>
              <a:srgbClr val="008800"/>
            </a:solidFill>
          </a:ln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823960" y="3749039"/>
            <a:ext cx="0" cy="640081"/>
          </a:xfrm>
          <a:prstGeom prst="line">
            <a:avLst/>
          </a:prstGeom>
          <a:ln w="25400">
            <a:solidFill>
              <a:srgbClr val="008800"/>
            </a:solidFill>
          </a:ln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823960" y="3749039"/>
            <a:ext cx="1554480" cy="640081"/>
          </a:xfrm>
          <a:prstGeom prst="line">
            <a:avLst/>
          </a:prstGeom>
          <a:ln w="25400">
            <a:solidFill>
              <a:srgbClr val="008800"/>
            </a:solidFill>
          </a:ln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858000" y="4389120"/>
            <a:ext cx="4206240" cy="731520"/>
          </a:xfrm>
          <a:prstGeom prst="roundRect">
            <a:avLst/>
          </a:prstGeom>
          <a:solidFill>
            <a:srgbClr val="CCFFCC"/>
          </a:solidFill>
          <a:ln w="19050">
            <a:solidFill>
              <a:srgbClr val="00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100" b="1">
                <a:solidFill>
                  <a:srgbClr val="006600"/>
                </a:solidFill>
                <a:latin typeface="Arial"/>
              </a:defRPr>
            </a:pPr>
            <a:r>
              <a:t>設計によりゼロ校正不要</a:t>
            </a:r>
            <a:br/>
            <a:r>
              <a:t>（u = 0：設計で達成；PPの正確性がv = 1を検証）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3949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333333"/>
                </a:solidFill>
                <a:latin typeface="Arial"/>
              </a:defRPr>
            </a:pPr>
            <a:r>
              <a:t>図3. (A) 従来の液充填システム：3つのDCオフセット源が手動ゼロ校正を必要とし、校正はオフセット（u）のみを補正。(B) 提案するゼロ校正不要システム：カテーテル先端MEMSが静水圧カラムを排除、内蔵気圧計が大気圧を電子的に補償、自己校正MEMSがドリフトを排除。全オフセット源が設計により排除、PPの正確性がゲインを検証（v = 1）。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2E"/>
                </a:solidFill>
                <a:latin typeface="Arial"/>
              </a:defRPr>
            </a:pPr>
            <a:r>
              <a:t>図4. Cb診断空間（u–v平面）</a:t>
            </a:r>
          </a:p>
        </p:txBody>
      </p:sp>
      <p:pic>
        <p:nvPicPr>
          <p:cNvPr id="3" name="Picture 2" descr="figure4_cb_diagnostic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471" y="822960"/>
            <a:ext cx="5682753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333333"/>
                </a:solidFill>
                <a:latin typeface="Arial"/>
              </a:defRPr>
            </a:pPr>
            <a:r>
              <a:t>図4. ロケーションシフト（u）とスケールシフト（v）の関数としてのバイアス補正係数（Cb）。ゼロ校正は機器を水平方向に移動（u → 0）させるがvは変化しない。u = 0かつv = 1の場合にのみCb = 1.0を達成。点A–Dは図2のシナリオに対応。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2E"/>
                </a:solidFill>
                <a:latin typeface="Arial"/>
              </a:defRPr>
            </a:pPr>
            <a:r>
              <a:t>図5. Bland-Altmanプロット — 4シナリオ</a:t>
            </a:r>
          </a:p>
        </p:txBody>
      </p:sp>
      <p:pic>
        <p:nvPicPr>
          <p:cNvPr id="3" name="Picture 2" descr="figure5_ba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22960"/>
            <a:ext cx="10972800" cy="31595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333333"/>
                </a:solidFill>
                <a:latin typeface="Arial"/>
              </a:defRPr>
            </a:pPr>
            <a:r>
              <a:t>図5. (A) ゼロ校正前：バイアス = 11.9 mmHg。(B) ゼロ校正後：バイアス ≈ 0。(C) ゲインエラー：バイアス = −10.9 mmHg、比例パターン。(D) ゲイン＋オフセット：バイアス ≈ 1.1 mmHg — BA上は良好に見えるがゲインエラーを隠蔽。赤色実線 = 平均バイアス；赤色破線 = 95%一致の限界。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2E"/>
                </a:solidFill>
                <a:latin typeface="Arial"/>
              </a:defRPr>
            </a:pPr>
            <a:r>
              <a:t>図6. 感度分析</a:t>
            </a:r>
          </a:p>
        </p:txBody>
      </p:sp>
      <p:pic>
        <p:nvPicPr>
          <p:cNvPr id="3" name="Picture 2" descr="figure6_sensitivit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22960"/>
            <a:ext cx="10972800" cy="4749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333333"/>
                </a:solidFill>
                <a:latin typeface="Arial"/>
              </a:defRPr>
            </a:pPr>
            <a:r>
              <a:t>図6. (A) ゲインエラー（%）とDCオフセット（mmHg）の関数としてのCb値ヒートマップ。ゼロ校正（オフセット = 0への移動）はゲインが正しい場合にのみCbを最大化。(B) 異なるセンサ精度（r = 0.95, 0.97, 0.99）でのゲインエラーに伴うCCC劣化。灰色帯域 = 典型的なMEMSゲイン精度範囲（±5%）。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2E"/>
                </a:solidFill>
                <a:latin typeface="Arial"/>
              </a:defRPr>
            </a:pPr>
            <a:r>
              <a:t>図7. 脈圧（PP）検証のデモンストレーション</a:t>
            </a:r>
          </a:p>
        </p:txBody>
      </p:sp>
      <p:pic>
        <p:nvPicPr>
          <p:cNvPr id="3" name="Picture 2" descr="figure7_pp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414" y="822960"/>
            <a:ext cx="7838867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333333"/>
                </a:solidFill>
                <a:latin typeface="Arial"/>
              </a:defRPr>
            </a:pPr>
            <a:r>
              <a:t>図7. (A) 正しいゲイン：基準波形（青）と測定波形（赤）が一致、PP = 40 mmHg。(B) ゲインエラー（v = 1.15）：PPが46 mmHgに拡大。(C) DCオフセットのみ（+15 mmHg）：PP不変。(D) 正しいゲインでのPP相関（傾き ≈ 1.0）。(E) ゲインエラーでのPP相関（傾き = 1.15）。(F) PPの正確性からゼロ校正不要モニタリングへの論理連鎖。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2E"/>
                </a:solidFill>
                <a:latin typeface="Arial"/>
              </a:defRPr>
            </a:pPr>
            <a:r>
              <a:t>図8. コンコーダンスプロット vs. Bland-Altmanプロット — 並列比較</a:t>
            </a:r>
          </a:p>
        </p:txBody>
      </p:sp>
      <p:pic>
        <p:nvPicPr>
          <p:cNvPr id="3" name="Picture 2" descr="figure8_ba_vs_concor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721" y="822960"/>
            <a:ext cx="9238253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333333"/>
                </a:solidFill>
                <a:latin typeface="Arial"/>
              </a:defRPr>
            </a:pPr>
            <a:r>
              <a:t>図8. 上段：コンコーダンスプロット。下段：Bland-Altmanプロット。同一データを2手法で可視化。シナリオBとDはBA上で類似のバイアス分布を示すが、コンコーダンスプロットでは回帰直線の傾きの違いとしてゲインエラーが明確に可視化される。CCC分解の補完的価値を実証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2E"/>
                </a:solidFill>
                <a:latin typeface="Arial"/>
              </a:defRPr>
            </a:pPr>
            <a:r>
              <a:t>表1. DCオフセットの源と工学的解決策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オフセット源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物理的機序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大きさ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工学的解決策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CCC成分への影響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静水圧カラム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ΔP = ρgh</a:t>
                      </a:r>
                    </a:p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（トランスデューサ–カテーテル先端高低差）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~0.74 mmHg/cm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カテーテル先端MEMSセンサ</a:t>
                      </a:r>
                    </a:p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（液体カラムを排除）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uを低減</a:t>
                      </a:r>
                    </a:p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（ロケーションシフト）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大気圧基準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大気（~760 mmHg）に</a:t>
                      </a:r>
                    </a:p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対するゲージ圧測定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ベースライン全体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絶対圧センサ＋</a:t>
                      </a:r>
                    </a:p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内蔵気圧計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uを低減</a:t>
                      </a:r>
                    </a:p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（ロケーションシフト）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トランスデューサ</a:t>
                      </a:r>
                    </a:p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ドリフト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ストレインゲージの</a:t>
                      </a:r>
                    </a:p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機械的クリープ・熱効果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~1–5 mmHg/日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内部参照圧力キャビティ付き</a:t>
                      </a:r>
                    </a:p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自己校正MEMS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uを低減</a:t>
                      </a:r>
                    </a:p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（ロケーションシフト）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ゲインエラー</a:t>
                      </a:r>
                    </a:p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（ゼロ校正で</a:t>
                      </a:r>
                    </a:p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補正不可）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感度不一致：</a:t>
                      </a:r>
                    </a:p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出力/圧力 ≠ 公称値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1–15%（典型的）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工場校正；</a:t>
                      </a:r>
                    </a:p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PPの正確性でゲイン検証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vに影響</a:t>
                      </a:r>
                    </a:p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（スケールシフト）；</a:t>
                      </a:r>
                    </a:p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ゼロ校正は無効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2004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333333"/>
                </a:solidFill>
                <a:latin typeface="Arial"/>
              </a:defRPr>
            </a:pPr>
            <a:r>
              <a:t>表1. 従来の観血的動脈圧モニタリングにおける3つのDCオフセット源と排除のための工学的解決策。ゲインエラー（最下行）はゼロ校正では補正不可であり、脈圧の正確性による別途の検証が必要。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2E"/>
                </a:solidFill>
                <a:latin typeface="Arial"/>
              </a:defRPr>
            </a:pPr>
            <a:r>
              <a:t>表2. 4つのシミュレーションシナリオの統計指標比較（n = 150）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712"/>
                <a:gridCol w="1124712"/>
                <a:gridCol w="1124712"/>
                <a:gridCol w="1124712"/>
                <a:gridCol w="1124712"/>
                <a:gridCol w="1124712"/>
                <a:gridCol w="1124712"/>
                <a:gridCol w="1124712"/>
                <a:gridCol w="1124712"/>
                <a:gridCol w="1124712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シナリオ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CCC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Cb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バイアス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(mmHg)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LOA下限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(mmHg)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LOA上限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(mmHg)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 (%)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A: ゼロ校正前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0.855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0.986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0.867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−0.55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11.9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4.8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19.0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7.2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B: ゼロ校正後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0.986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0.986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−0.1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−7.2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C: ゲインエラー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0.855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0.982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0.870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0.54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1.11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−10.9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−19.4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−2.4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8.7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D: ゲイン＋</a:t>
                      </a:r>
                    </a:p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オフセット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0.976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0.982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0.993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−0.05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1.11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−7.4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8.7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2004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333333"/>
                </a:solidFill>
                <a:latin typeface="Arial"/>
              </a:defRPr>
            </a:pPr>
            <a:r>
              <a:t>表2. CCC = Linの一致性相関係数；r = ピアソンの相関係数（精度）；Cb = バイアス補正係数（正確度）；u = ロケーションシフト；v = スケールシフト；LOA = 一致の限界；PE = percentage error。シナリオBとCは類似したバイアス（≈0）だがCbは大幅に異なり（1.000 vs. 0.870）、BA解析のみではゲインエラーを検出不可能であることを実証。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