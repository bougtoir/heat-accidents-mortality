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/>
            </a:pPr>
            <a:r>
              <a:t>Figure 1: Model versus observed population trajectories, six representative countries, 1970–2023</a:t>
            </a:r>
          </a:p>
        </p:txBody>
      </p:sp>
      <p:pic>
        <p:nvPicPr>
          <p:cNvPr id="3" name="Picture 2" descr="fig1_show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3264" y="914400"/>
            <a:ext cx="8565166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i="1"/>
            </a:pPr>
            <a:r>
              <a:t>Tempo-responsive model (blue dashed) updates all parameters decadally; fixed-parameter model (red dotted) uses 1970 base-year parameters; black solid = UN WPP 2024 observed.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/>
            </a:pPr>
            <a:r>
              <a:t>Figure 2: Model validation across all 40 countries</a:t>
            </a:r>
          </a:p>
        </p:txBody>
      </p:sp>
      <p:pic>
        <p:nvPicPr>
          <p:cNvPr id="3" name="Picture 2" descr="fig2_all_count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9618" y="914400"/>
            <a:ext cx="3712459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i="1"/>
            </a:pPr>
            <a:r>
              <a:t>Tempo-responsive model MAPE shown in upper-right corner of each panel. Countries sorted alphabetically.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/>
            </a:pPr>
            <a:r>
              <a:t>Figure 3: Fixed-parameter model MAPE (%) by country and base year</a:t>
            </a:r>
          </a:p>
        </p:txBody>
      </p:sp>
      <p:pic>
        <p:nvPicPr>
          <p:cNvPr id="3" name="Picture 2" descr="fig3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627" y="914400"/>
            <a:ext cx="289844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i="1"/>
            </a:pPr>
            <a:r>
              <a:t>Greener cells indicate better fit; redder cells indicate poorer fit. Scale capped at 30%.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/>
            </a:pPr>
            <a:r>
              <a:t>Figure 4: Fixed-parameter versus tempo-responsive model comparison</a:t>
            </a:r>
          </a:p>
        </p:txBody>
      </p:sp>
      <p:pic>
        <p:nvPicPr>
          <p:cNvPr id="3" name="Picture 2" descr="fig4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847" y="914400"/>
            <a:ext cx="9144000" cy="45382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i="1"/>
            </a:pPr>
            <a:r>
              <a:t>Left panel: MAPE by country. Right panel: final population ratio (model/observed in 2023).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/>
            </a:pPr>
            <a:r>
              <a:t>Figure 5: Model bias analysis using base year 2000</a:t>
            </a:r>
          </a:p>
        </p:txBody>
      </p:sp>
      <p:pic>
        <p:nvPicPr>
          <p:cNvPr id="3" name="Picture 2" descr="fig5_b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847" y="914400"/>
            <a:ext cx="9144000" cy="3021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i="1"/>
            </a:pPr>
            <a:r>
              <a:t>(a) Fit versus TFR; (b) fit versus life expectancy; (c) bias versus MAC. No systematic relationship observed.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