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237E"/>
                </a:solidFill>
              </a:defRPr>
            </a:pPr>
            <a:r>
              <a:t>Figure 1. STROBE Flow Diagram — Participant Selection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00200" y="731520"/>
            <a:ext cx="4114800" cy="7772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000000"/>
                </a:solidFill>
              </a:rPr>
              <a:t>Cesarean deliveries assessed for eligibility</a:t>
            </a:r>
          </a:p>
          <a:p>
            <a:pPr algn="ctr"/>
            <a:r>
              <a:rPr sz="800">
                <a:solidFill>
                  <a:srgbClr val="000000"/>
                </a:solidFill>
              </a:rPr>
              <a:t>(Apr 2014 – Oct 2024)</a:t>
            </a:r>
          </a:p>
          <a:p>
            <a:pPr algn="ctr"/>
            <a:r>
              <a:rPr sz="900">
                <a:solidFill>
                  <a:srgbClr val="000000"/>
                </a:solidFill>
              </a:rPr>
              <a:t>N = 3,479  (Singleton 3,113  /  Twin 366)</a:t>
            </a:r>
          </a:p>
        </p:txBody>
      </p:sp>
      <p:sp>
        <p:nvSpPr>
          <p:cNvPr id="4" name="Down Arrow 3"/>
          <p:cNvSpPr/>
          <p:nvPr/>
        </p:nvSpPr>
        <p:spPr>
          <a:xfrm>
            <a:off x="3566160" y="1508760"/>
            <a:ext cx="182880" cy="27432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Arrow 4"/>
          <p:cNvSpPr/>
          <p:nvPr/>
        </p:nvSpPr>
        <p:spPr>
          <a:xfrm>
            <a:off x="5715000" y="1572768"/>
            <a:ext cx="1371600" cy="146304"/>
          </a:xfrm>
          <a:prstGeom prst="rightArrow">
            <a:avLst/>
          </a:prstGeom>
          <a:solidFill>
            <a:srgbClr val="AA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86600" y="960120"/>
            <a:ext cx="3200400" cy="1682496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00" b="1">
                <a:solidFill>
                  <a:srgbClr val="000000"/>
                </a:solidFill>
              </a:rPr>
              <a:t>Excluded  (n = 236)</a:t>
            </a:r>
          </a:p>
          <a:p>
            <a:pPr algn="ctr"/>
            <a:r>
              <a:rPr sz="700">
                <a:solidFill>
                  <a:srgbClr val="000000"/>
                </a:solidFill>
              </a:rPr>
              <a:t>General anesthesia: n=6 (S 4, T 2)</a:t>
            </a:r>
          </a:p>
          <a:p>
            <a:pPr algn="ctr"/>
            <a:r>
              <a:rPr sz="700">
                <a:solidFill>
                  <a:srgbClr val="000000"/>
                </a:solidFill>
              </a:rPr>
              <a:t>SBP &lt; 90 mmHg at admission: n=4 (S 3, T 1)</a:t>
            </a:r>
          </a:p>
          <a:p>
            <a:pPr algn="ctr"/>
            <a:r>
              <a:rPr sz="700">
                <a:solidFill>
                  <a:srgbClr val="000000"/>
                </a:solidFill>
              </a:rPr>
              <a:t>Intrauterine fetal death (IUFD): n=13 (S 4, T 9)</a:t>
            </a:r>
          </a:p>
          <a:p>
            <a:pPr algn="ctr"/>
            <a:r>
              <a:rPr sz="700">
                <a:solidFill>
                  <a:srgbClr val="000000"/>
                </a:solidFill>
              </a:rPr>
              <a:t>Vanishing twin: n=3 (S 0, T 3)</a:t>
            </a:r>
          </a:p>
          <a:p>
            <a:pPr algn="ctr"/>
            <a:r>
              <a:rPr sz="700">
                <a:solidFill>
                  <a:srgbClr val="000000"/>
                </a:solidFill>
              </a:rPr>
              <a:t>Triplet pregnancy: n=5 (S 5, T 0)</a:t>
            </a:r>
          </a:p>
          <a:p>
            <a:pPr algn="ctr"/>
            <a:r>
              <a:rPr sz="700">
                <a:solidFill>
                  <a:srgbClr val="000000"/>
                </a:solidFill>
              </a:rPr>
              <a:t>Other exclusion criteria: n=147 (S 143, T 4)</a:t>
            </a:r>
          </a:p>
          <a:p>
            <a:pPr algn="ctr"/>
            <a:r>
              <a:rPr sz="700">
                <a:solidFill>
                  <a:srgbClr val="000000"/>
                </a:solidFill>
              </a:rPr>
              <a:t>Missing anesthesia data: n=58 (S 57, T 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00200" y="1965960"/>
            <a:ext cx="4114800" cy="59436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000000"/>
                </a:solidFill>
              </a:rPr>
              <a:t>Eligible for analysis</a:t>
            </a:r>
          </a:p>
          <a:p>
            <a:pPr algn="ctr"/>
            <a:r>
              <a:rPr sz="900">
                <a:solidFill>
                  <a:srgbClr val="000000"/>
                </a:solidFill>
              </a:rPr>
              <a:t>N = 3,243  (Singleton 2,897  /  Twin 346)</a:t>
            </a:r>
          </a:p>
        </p:txBody>
      </p:sp>
      <p:sp>
        <p:nvSpPr>
          <p:cNvPr id="8" name="Down Arrow 7"/>
          <p:cNvSpPr/>
          <p:nvPr/>
        </p:nvSpPr>
        <p:spPr>
          <a:xfrm>
            <a:off x="3566160" y="2560320"/>
            <a:ext cx="182880" cy="22860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5715000" y="2596896"/>
            <a:ext cx="1371600" cy="146304"/>
          </a:xfrm>
          <a:prstGeom prst="rightArrow">
            <a:avLst/>
          </a:prstGeom>
          <a:solidFill>
            <a:srgbClr val="AA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86600" y="2514600"/>
            <a:ext cx="3200400" cy="5029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00" b="1">
                <a:solidFill>
                  <a:srgbClr val="000000"/>
                </a:solidFill>
              </a:rPr>
              <a:t>Prophylactic antiemetic before anesthesia</a:t>
            </a:r>
          </a:p>
          <a:p>
            <a:pPr algn="ctr"/>
            <a:r>
              <a:rPr sz="800">
                <a:solidFill>
                  <a:srgbClr val="000000"/>
                </a:solidFill>
              </a:rPr>
              <a:t>n = 55  (S 51, T 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00200" y="2926080"/>
            <a:ext cx="4114800" cy="5943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000000"/>
                </a:solidFill>
              </a:rPr>
              <a:t>Primary analysis cohort</a:t>
            </a:r>
          </a:p>
          <a:p>
            <a:pPr algn="ctr"/>
            <a:r>
              <a:rPr sz="900">
                <a:solidFill>
                  <a:srgbClr val="000000"/>
                </a:solidFill>
              </a:rPr>
              <a:t>N = 3,188  (Singleton 2,846  /  Twin 342)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468880" y="3520440"/>
            <a:ext cx="182880" cy="27432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3794760"/>
            <a:ext cx="2011680" cy="5029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000000"/>
                </a:solidFill>
              </a:rPr>
              <a:t>Singleton</a:t>
            </a:r>
          </a:p>
          <a:p>
            <a:pPr algn="ctr"/>
            <a:r>
              <a:rPr sz="900">
                <a:solidFill>
                  <a:srgbClr val="000000"/>
                </a:solidFill>
              </a:rPr>
              <a:t>n = 2,846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663440" y="3520440"/>
            <a:ext cx="182880" cy="27432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31920" y="3794760"/>
            <a:ext cx="2011680" cy="5029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000000"/>
                </a:solidFill>
              </a:rPr>
              <a:t>Twin</a:t>
            </a:r>
          </a:p>
          <a:p>
            <a:pPr algn="ctr"/>
            <a:r>
              <a:rPr sz="900">
                <a:solidFill>
                  <a:srgbClr val="000000"/>
                </a:solidFill>
              </a:rPr>
              <a:t>n = 342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566160" y="4297680"/>
            <a:ext cx="182880" cy="22860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86600" y="4434840"/>
            <a:ext cx="3200400" cy="11887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700" b="1">
                <a:solidFill>
                  <a:srgbClr val="000000"/>
                </a:solidFill>
              </a:rPr>
              <a:t>Additional exclusion for sensitivity analysis</a:t>
            </a:r>
          </a:p>
          <a:p>
            <a:pPr algn="ctr"/>
            <a:r>
              <a:rPr sz="700" b="1">
                <a:solidFill>
                  <a:srgbClr val="000000"/>
                </a:solidFill>
              </a:rPr>
              <a:t>n = 2,525 (with overlap)</a:t>
            </a:r>
          </a:p>
          <a:p>
            <a:pPr algn="ctr"/>
            <a:r>
              <a:rPr sz="700">
                <a:solidFill>
                  <a:srgbClr val="000000"/>
                </a:solidFill>
              </a:rPr>
              <a:t>Emergency CS: n=1452</a:t>
            </a:r>
          </a:p>
          <a:p>
            <a:pPr algn="ctr"/>
            <a:r>
              <a:rPr sz="700">
                <a:solidFill>
                  <a:srgbClr val="000000"/>
                </a:solidFill>
              </a:rPr>
              <a:t>Prior CS: n=1320</a:t>
            </a:r>
          </a:p>
          <a:p>
            <a:pPr algn="ctr"/>
            <a:r>
              <a:rPr sz="700">
                <a:solidFill>
                  <a:srgbClr val="000000"/>
                </a:solidFill>
              </a:rPr>
              <a:t>HDP: n=317</a:t>
            </a:r>
          </a:p>
          <a:p>
            <a:pPr algn="ctr"/>
            <a:r>
              <a:rPr sz="700">
                <a:solidFill>
                  <a:srgbClr val="000000"/>
                </a:solidFill>
              </a:rPr>
              <a:t>Preoperative steroid: n=232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00600" y="4498848"/>
            <a:ext cx="2286000" cy="146304"/>
          </a:xfrm>
          <a:prstGeom prst="rightArrow">
            <a:avLst/>
          </a:prstGeom>
          <a:solidFill>
            <a:srgbClr val="AA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600200" y="4754880"/>
            <a:ext cx="4114800" cy="64008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000000"/>
                </a:solidFill>
              </a:rPr>
              <a:t>Sensitivity analysis subgroup (Elective, low-risk)</a:t>
            </a:r>
          </a:p>
          <a:p>
            <a:pPr algn="ctr"/>
            <a:r>
              <a:rPr sz="900">
                <a:solidFill>
                  <a:srgbClr val="000000"/>
                </a:solidFill>
              </a:rPr>
              <a:t>N = 663  (Singleton 479  /  Twin 184)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468880" y="5394960"/>
            <a:ext cx="182880" cy="155448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71600" y="5550408"/>
            <a:ext cx="2011680" cy="50292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000000"/>
                </a:solidFill>
              </a:rPr>
              <a:t>Singleton</a:t>
            </a:r>
          </a:p>
          <a:p>
            <a:pPr algn="ctr"/>
            <a:r>
              <a:rPr sz="900">
                <a:solidFill>
                  <a:srgbClr val="000000"/>
                </a:solidFill>
              </a:rPr>
              <a:t>n = 479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4663440" y="5394960"/>
            <a:ext cx="182880" cy="155448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931920" y="5550408"/>
            <a:ext cx="2011680" cy="50292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000000"/>
                </a:solidFill>
              </a:rPr>
              <a:t>Twin</a:t>
            </a:r>
          </a:p>
          <a:p>
            <a:pPr algn="ctr"/>
            <a:r>
              <a:rPr sz="900">
                <a:solidFill>
                  <a:srgbClr val="000000"/>
                </a:solidFill>
              </a:rPr>
              <a:t>n = 184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