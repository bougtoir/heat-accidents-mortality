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【図1】調理タイミング判定装置の全体構成ブロック図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20000"/>
            <a:ext cx="7920000" cy="522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7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/>
              <a:t>調理タイミング判定装置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260000"/>
            <a:ext cx="1800000" cy="1440000"/>
          </a:xfrm>
          <a:prstGeom prst="roundRect">
            <a:avLst/>
          </a:prstGeom>
          <a:solidFill>
            <a:srgbClr val="DBE5F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色彩センサー部 110
RGBCセンサー 111
(TCS3472)
白色LED照明 112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0000" y="1260000"/>
            <a:ext cx="2520000" cy="1440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/>
              <a:t>マイクロコントローラ部 120
(ESP32-S3)
・色空間変換 (RGB→XYZ→L*a*b*)
・色差判定 (ΔE算出)
・時系列追跡 (環状バッファ)
・予測通知 (変化率推定)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60000"/>
            <a:ext cx="1800000" cy="126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/>
              <a:t>表示部 130
(タッチスクリーン)
・プリセット選択メニュー
・ΔEプログレスバー
・トレンドグラフ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0000" y="3060000"/>
            <a:ext cx="1620000" cy="126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/>
              <a:t>通知部 140
・スピーカー
  (880Hz/1100Hz)
・Wi-Fi/BLE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0000" y="3060000"/>
            <a:ext cx="2700000" cy="126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/>
              <a:t>記憶部 150
(不揮発性メモリ)
目標色プリセット辞書:
 きつね色 [68.5, 12.3, 42.1]
 飴色    [73.2,  8.7, 38.5]
 ハシバミ色 [65.0, 10.1, 30.2]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000" y="1260000"/>
            <a:ext cx="1800000" cy="90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入力手段
(タッチパネル)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4860000"/>
            <a:ext cx="1440000" cy="720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食品表面
(被計測対象)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0" y="4860000"/>
            <a:ext cx="1440000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白色基準面
(キャリブレーション用)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0000" y="1728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I2C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872000"/>
            <a:ext cx="54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【図2】色空間変換の処理フロー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0" y="900000"/>
            <a:ext cx="5040000" cy="720000"/>
          </a:xfrm>
          <a:prstGeom prst="roundRect">
            <a:avLst/>
          </a:prstGeom>
          <a:solidFill>
            <a:srgbClr val="DBE5F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TCS3472 RGBC値取得
(R, G, B, C)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20000" y="1620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00000" y="1728000"/>
            <a:ext cx="5040000" cy="72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正規化
r=R/C, g=G/C, b=B/C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0" y="2448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0000" y="2556000"/>
            <a:ext cx="5040000" cy="72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ホワイトバランス補正
r'=r×coeff_R, g'=g×coeff_G, b'=b×coeff_B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20000" y="3276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00000" y="3384000"/>
            <a:ext cx="5040000" cy="792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逆sRGBコンパンディング
c&gt;0.04045: ((c+0.055)/1.055)^2.4
c≤0.04045: c/12.92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20000" y="4176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00000" y="4212000"/>
            <a:ext cx="5040000" cy="720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線形RGB → CIE XYZ (D65)
3×3マトリクス変換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20000" y="4932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00000" y="5040000"/>
            <a:ext cx="5040000" cy="792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CIE XYZ → L*a*b* (D65 white)
L*=116·f(Y/Yn)-16
a*=500·(f(X/Xn)-f(Y/Yn))
b*=200·(f(Y/Yn)-f(Z/Zn))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0000" y="5832000"/>
            <a:ext cx="0" cy="108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00000" y="5868000"/>
            <a:ext cx="5040000" cy="72000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出力: L*, a*, b*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【図3】目標色プリセット辞書のデータ構造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79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1260000"/>
                <a:gridCol w="1260000"/>
                <a:gridCol w="720000"/>
                <a:gridCol w="720000"/>
                <a:gridCol w="720000"/>
                <a:gridCol w="900000"/>
                <a:gridCol w="180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色名_ja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色名_en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L*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a*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b*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ΔE閾値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カテゴリ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きつね色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Golden Brown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68.5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12.3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42.1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揚げ物・焼き物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飴色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Caramel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38.5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炒め物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ハシバミ色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Hazelnut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65.0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10.1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30.2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焼き菓子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こんがり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Toasted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35.8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パン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べっこう色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Amber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55.0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20.3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45.0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4.0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カラメル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焦がしバター色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Beurre Noisette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ソース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(ユーザー定義)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(user-defined)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...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...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...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...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...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【図4】調理タイミング判定方法の処理フロー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0" y="1080000"/>
            <a:ext cx="3240000" cy="648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S1: プリセットから
目標色を選択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0" y="1872000"/>
            <a:ext cx="3240000" cy="648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S2: 白色基準面の計測
→ 補正係数算出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0" y="2664000"/>
            <a:ext cx="3240000" cy="648000"/>
          </a:xfrm>
          <a:prstGeom prst="roundRect">
            <a:avLst/>
          </a:prstGeom>
          <a:solidFill>
            <a:srgbClr val="DBE5F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S3: 食品初期色を計測
→ 初期ΔE算出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0" y="3456000"/>
            <a:ext cx="3240000" cy="6480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S4: 食品色の連続計測
RGBC→L*a*b*→ΔE算出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00000" y="1728000"/>
            <a:ext cx="0" cy="144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00000" y="2520000"/>
            <a:ext cx="0" cy="144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00000" y="3312000"/>
            <a:ext cx="0" cy="144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000" y="4320000"/>
            <a:ext cx="3240000" cy="540000"/>
          </a:xfrm>
          <a:prstGeom prst="roundRect">
            <a:avLst/>
          </a:prstGeom>
          <a:solidFill>
            <a:srgbClr val="FFD7D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/>
              <a:t>ΔE &lt; 閾値？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00000" y="4104000"/>
            <a:ext cx="0" cy="216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92000" y="439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0000" y="4572000"/>
            <a:ext cx="72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40000" y="3780000"/>
            <a:ext cx="0" cy="792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120000" y="3780000"/>
            <a:ext cx="72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20000" y="475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320000"/>
            <a:ext cx="1980000" cy="5400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0"/>
              <a:t>予測: 残りcycles &lt; 5
→ 予告通知出力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000" y="5220000"/>
            <a:ext cx="3240000" cy="64800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/>
              <a:t>S5: 目標色到達通知
アラーム音出力・到達画面表示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00000" y="4860000"/>
            <a:ext cx="0" cy="360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【図5】ΔE時系列追跡および予測通知の動作説明図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80000" y="1080000"/>
            <a:ext cx="0" cy="468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0000" y="90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/>
              <a:t>ΔE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80000" y="5760000"/>
            <a:ext cx="6840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00000" y="583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時間（サイクル）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8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42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50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040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0000" y="5220000"/>
            <a:ext cx="68400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80000" y="504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ΔE閾値=5.0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440000"/>
            <a:ext cx="720000" cy="36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60000" y="1800000"/>
            <a:ext cx="720000" cy="54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0000" y="2340000"/>
            <a:ext cx="720000" cy="54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00000" y="2880000"/>
            <a:ext cx="720000" cy="54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20000" y="3420000"/>
            <a:ext cx="720000" cy="54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40000" y="3960000"/>
            <a:ext cx="720000" cy="54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000" y="4500000"/>
            <a:ext cx="720000" cy="36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80000" y="4860000"/>
            <a:ext cx="540000" cy="3600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80000" y="36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● 予告通知発動
(残り≈5サイクル)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0000" y="532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/>
              <a:t>★ 目標到達
→ アラーム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61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凡例:  ─── = ΔE計測値の推移   ● = 予告通知発動点   ★ = 目標到達（ΔE &lt; 閾値）   --- = ΔE閾値ライン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【図6】外付けクリップオン型実装例の外観図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0" y="1080000"/>
            <a:ext cx="2520000" cy="1800000"/>
          </a:xfrm>
          <a:prstGeom prst="rect">
            <a:avLst/>
          </a:prstGeom>
          <a:solidFill>
            <a:srgbClr val="DBE5F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/>
              <a:t>CoreS3 本体
┌──────────┐
│ dE: 12.3   │
│ ████░░░    │
│ Target:    │
│ きつね色   │
└──────────┘
表示部 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88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│ Grove cable (I2C)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0" y="3240000"/>
            <a:ext cx="1800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/>
              <a:t>センサー部 110
◉ RGBCセンサー 111
◎ 白色LED 112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4320000"/>
            <a:ext cx="3240000" cy="180000"/>
          </a:xfrm>
          <a:prstGeom prst="rect">
            <a:avLst/>
          </a:prstGeom>
          <a:solidFill>
            <a:srgbClr val="80808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0" y="414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← クリップ機構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4500000"/>
            <a:ext cx="2880000" cy="360000"/>
          </a:xfrm>
          <a:prstGeom prst="rect">
            <a:avLst/>
          </a:prstGeom>
          <a:solidFill>
            <a:srgbClr val="BFBFB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/>
              <a:t>鍋 / フライパンの縁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0" y="504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/>
              <a:t>▼ 照射・計測方向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5400000"/>
            <a:ext cx="3240000" cy="720000"/>
          </a:xfrm>
          <a:prstGeom prst="rect">
            <a:avLst/>
          </a:prstGeom>
          <a:solidFill>
            <a:srgbClr val="FFE0B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/>
              <a:t>調理中の食品
（被計測対象）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4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計測距離:
数cm〜10cm
照明:
白色LED内蔵
(照明条件統一)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【図7】ユーザーインターフェース画面遷移図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1080000"/>
            <a:ext cx="1980000" cy="216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800"/>
              <a:t>MENU画面
TONGE
■ きつね色
■ 飴色
■ ハシバミ色
■ こんがり
■ べっこう色
■ 焦がしバター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0" y="1080000"/>
            <a:ext cx="1980000" cy="1620000"/>
          </a:xfrm>
          <a:prstGeom prst="rect">
            <a:avLst/>
          </a:prstGeom>
          <a:solidFill>
            <a:srgbClr val="DBE5F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800"/>
              <a:t>CALIBRATE画面
白い面を
センサーに
かざしてください
[タッチで開始]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0" y="3240000"/>
            <a:ext cx="1980000" cy="2160000"/>
          </a:xfrm>
          <a:prstGeom prst="rect">
            <a:avLst/>
          </a:prstGeom>
          <a:solidFill>
            <a:srgbClr val="E2EFD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800"/>
              <a:t>MONITORING画面
■Now  ■Target
dE: 15.2
████████░░░ 62%
L*=62 a*=11 b*=35
[トレンドグラフ]
[タッチ:停止]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3240000"/>
            <a:ext cx="1980000" cy="1800000"/>
          </a:xfrm>
          <a:prstGeom prst="rect">
            <a:avLst/>
          </a:prstGeom>
          <a:solidFill>
            <a:srgbClr val="C6EF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800"/>
              <a:t>REACHED画面
きつね色
到達！
Time: 05:23
dE: 4.8
アラーム鳴動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000" y="162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長押し 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40000" y="1800000"/>
            <a:ext cx="126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000" y="2808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タッチ 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0000" y="2700000"/>
            <a:ext cx="0" cy="540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80000" y="396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ΔE&lt;閾値 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80000" y="4140000"/>
            <a:ext cx="126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0000" y="52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/>
              <a:t>← タッチ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340000" y="3240000"/>
            <a:ext cx="4500000" cy="1800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0000" y="432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/>
              <a:t>タッチ(停止)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340000" y="3240000"/>
            <a:ext cx="1260000" cy="1080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