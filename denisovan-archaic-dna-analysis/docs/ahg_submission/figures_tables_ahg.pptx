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fig1_sharing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3" y="777240"/>
            <a:ext cx="11050913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Archaic-segment profile similarity and geographic distance. Each point is a dependent population pair. Lines are descriptive distance-only fits; reported P values use population-label quadratic assignment permutations.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fig2_shar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Pairwise archaic-segment profile similarity for 31 prespecified populations. The subset is displayed for legibility; all 66 populations were analyzed.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fig4_sensitivity_adm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158" y="777240"/>
            <a:ext cx="8719202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Sensitivity of the descriptive Neanderthal distance correlation to exclusion of designated recently admixed populations.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4</a:t>
            </a:r>
          </a:p>
        </p:txBody>
      </p:sp>
      <p:pic>
        <p:nvPicPr>
          <p:cNvPr id="3" name="Picture 2" descr="fig5_window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856" y="777240"/>
            <a:ext cx="8095806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geographic distance correlations at 250-kb, 500-kb, and 1-Mb window sizes. Quadratic assignment procedure results are tabulated in Supplementary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5</a:t>
            </a:r>
          </a:p>
        </p:txBody>
      </p:sp>
      <p:pic>
        <p:nvPicPr>
          <p:cNvPr id="3" name="Picture 2" descr="fig5_abo_sub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9920"/>
            <a:ext cx="11155680" cy="4480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ABO-centered analysis preserving the historical grouped-bar and segment-map layout. Equal maximum-similarity ties are excluded from the displayed three-reference proportions and retained in Supplementary Data. The Pima segment overlaps ABO; the Maya segment is within the wider interval but does not overlap the gene. Counts are segments, not regional frequencies.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S1</a:t>
            </a:r>
          </a:p>
        </p:txBody>
      </p:sp>
      <p:pic>
        <p:nvPicPr>
          <p:cNvPr id="3" name="Picture 2" descr="figS1_fu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Complete 66-population Neanderthal and Denisovan profile-similarity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S2</a:t>
            </a:r>
          </a:p>
        </p:txBody>
      </p:sp>
      <p:pic>
        <p:nvPicPr>
          <p:cNvPr id="3" name="Picture 2" descr="fig3_minard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72" y="777240"/>
            <a:ext cx="1018437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Minard-style schematic of human dispersal and archaic introgression. Band widths, branch positions, and event placement are illustrative and do not estimate migration magnitude or a route supported by the present analysis. The ABO sub-lineage compositions shown are computed in this study from data/abo_sublineage_summary.csv (segments, not individuals; ties excluded from the percentages) and the South Asian Denisovan-segment count from data/abo_denisovan_segments.csv; broad archaic-ancestry ranges are attributed on the figure to Prüfer et al. (2014), Vernot and Akey (2014), Reich et al. (2011), and Meyer et al. (2012).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S3</a:t>
            </a:r>
          </a:p>
        </p:txBody>
      </p:sp>
      <p:pic>
        <p:nvPicPr>
          <p:cNvPr id="3" name="Picture 2" descr="fig6_o2_int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22707"/>
            <a:ext cx="11155680" cy="487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O2 blood-group subtype-defining allele frequencies and ABO-window segment-carrier frequencies. The panels use different sources and are not an association analysis; proximity does not establish that the O2 allele is Neanderthal-derived.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S4</a:t>
            </a:r>
          </a:p>
        </p:txBody>
      </p:sp>
      <p:pic>
        <p:nvPicPr>
          <p:cNvPr id="3" name="Picture 2" descr="fig7_an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69" y="777240"/>
            <a:ext cx="803398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Ancient North Eurasian contextual hypothesis. Dashed arrows represent a testable narrative, not evidence that either observed segment followed the illustrated route.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S5</a:t>
            </a:r>
          </a:p>
        </p:txBody>
      </p:sp>
      <p:pic>
        <p:nvPicPr>
          <p:cNvPr id="3" name="Picture 2" descr="fig8_tempora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20" y="777240"/>
            <a:ext cx="10238278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ancient and modern ABO-window summaries generated by different pipelines; no formal temporal comparison is made.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S6</a:t>
            </a:r>
          </a:p>
        </p:txBody>
      </p:sp>
      <p:pic>
        <p:nvPicPr>
          <p:cNvPr id="3" name="Picture 2" descr="fig9_bivariate_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71" y="777240"/>
            <a:ext cx="10263777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Bivariate global context computed in this study. Circle area encodes the mean per-bin Neanderthal-segment coverage and colour encodes the mean per-bin Denisovan-segment coverage for each population, both from data/population_profiles_500kb.npz; coordinates are approximate sampling locations from data/population_metadata.csv. These descriptive summaries were not used in the pairwise statistical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1. Positive-residual Neanderthal pairs after false discovery rate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251460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Distance (km)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Sharing (r)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z-score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qualifying 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z&gt;2 and q&lt;0.10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The prespecified family contains all non-admixed population pairs. No pair met both z&gt;2 and Benjamini-Hochberg q&lt;0.10; the Denisovan analysis likewise identified no qualifying pair. Complete nominal rankings and dependence-aware model results are provided in Supplementary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2. ABO-window Neanderthal-reference composition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Altai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Vindija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Chagyrskaya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East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Indigenous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Admixed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61.2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Central/South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Middle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Oceania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Counts are classifiable segments, not individuals. Percentages use the three-reference denominator shown by n. Equal maximum-similarity ties are excluded from these percentages but retained in Supplementary Data. The 2/2 Indigenous American value is not a regional frequency estimate; only one segment overlaps ABO.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