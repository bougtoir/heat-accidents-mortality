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Figure 1. Schematic of MMT sachet decaffeination mechanism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2286000" cy="1645920"/>
          </a:xfrm>
          <a:prstGeom prst="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/>
            </a:pPr>
            <a:r>
              <a:t>Caffeinated</a:t>
            </a:r>
            <a:br/>
            <a:r>
              <a:t>Beverage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286000"/>
            <a:ext cx="2286000" cy="1645920"/>
          </a:xfrm>
          <a:prstGeom prst="rect">
            <a:avLst/>
          </a:prstGeom>
          <a:solidFill>
            <a:srgbClr val="FFF3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/>
            </a:pPr>
            <a:r>
              <a:t>MMT Sachet</a:t>
            </a:r>
            <a:br/>
            <a:r>
              <a:t>Immersion</a:t>
            </a:r>
            <a:br/>
            <a:r>
              <a:t>(3-5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286000"/>
            <a:ext cx="2286000" cy="1645920"/>
          </a:xfrm>
          <a:prstGeom prst="rect">
            <a:avLst/>
          </a:prstGeom>
          <a:solidFill>
            <a:srgbClr val="FCE4E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/>
            </a:pPr>
            <a:r>
              <a:t>Caffeine</a:t>
            </a:r>
            <a:br/>
            <a:r>
              <a:t>Intercalation</a:t>
            </a:r>
            <a:br/>
            <a:r>
              <a:t>into MMT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286000"/>
            <a:ext cx="2286000" cy="1645920"/>
          </a:xfrm>
          <a:prstGeom prst="rect">
            <a:avLst/>
          </a:prstGeom>
          <a:solidFill>
            <a:srgbClr val="E8F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/>
            </a:pPr>
            <a:r>
              <a:t>Decaffeinated</a:t>
            </a:r>
            <a:br/>
            <a:r>
              <a:t>Beverage</a:t>
            </a:r>
            <a:br/>
            <a:r>
              <a:t>(polyphenols</a:t>
            </a:r>
            <a:br/>
            <a:r>
              <a:t>preserved)</a:t>
            </a:r>
          </a:p>
        </p:txBody>
      </p:sp>
      <p:sp>
        <p:nvSpPr>
          <p:cNvPr id="8" name="Can 7"/>
          <p:cNvSpPr/>
          <p:nvPr/>
        </p:nvSpPr>
        <p:spPr>
          <a:xfrm>
            <a:off x="3200400" y="2926080"/>
            <a:ext cx="914400" cy="91440"/>
          </a:xfrm>
          <a:prstGeom prst="can">
            <a:avLst/>
          </a:prstGeom>
          <a:solidFill>
            <a:srgbClr val="4242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an 8"/>
          <p:cNvSpPr/>
          <p:nvPr/>
        </p:nvSpPr>
        <p:spPr>
          <a:xfrm>
            <a:off x="6400800" y="2926080"/>
            <a:ext cx="914400" cy="91440"/>
          </a:xfrm>
          <a:prstGeom prst="can">
            <a:avLst/>
          </a:prstGeom>
          <a:solidFill>
            <a:srgbClr val="4242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n 9"/>
          <p:cNvSpPr/>
          <p:nvPr/>
        </p:nvSpPr>
        <p:spPr>
          <a:xfrm>
            <a:off x="9601200" y="2926080"/>
            <a:ext cx="914400" cy="91440"/>
          </a:xfrm>
          <a:prstGeom prst="can">
            <a:avLst/>
          </a:prstGeom>
          <a:solidFill>
            <a:srgbClr val="4242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/>
            </a:pPr>
            <a:r>
              <a:t>Montmorillonite (MMT) granules in a porous sachet selectively adsorb caffeine molecules into their interlayer nanospace via electrostatic interactions with interlayer cations, while polyphenols (catechins, theaflavins) are sterically excluded and remain in solution.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Table 1. Estimated decaffeination performance of a 5 g MMT sachet for common beverages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Typical caffeine</a:t>
                      </a:r>
                    </a:p>
                    <a:p>
                      <a:pPr algn="ctr">
                        <a:defRPr sz="1000" b="1"/>
                      </a:pPr>
                      <a:r>
                        <a:t>(mg/250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MMT capacity</a:t>
                      </a:r>
                    </a:p>
                    <a:p>
                      <a:pPr algn="ctr">
                        <a:defRPr sz="1000" b="1"/>
                      </a:pPr>
                      <a:r>
                        <a:t>(mg/5 g sachet)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Estimated removal</a:t>
                      </a:r>
                    </a:p>
                    <a:p>
                      <a:pPr algn="ctr">
                        <a:defRPr sz="1000" b="1"/>
                      </a:pPr>
                      <a:r>
                        <a:t>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Contact time</a:t>
                      </a:r>
                    </a:p>
                    <a:p>
                      <a:pPr algn="ctr">
                        <a:defRPr sz="1000" b="1"/>
                      </a:pPr>
                      <a:r>
                        <a:t>(min)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Green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3-5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Black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40-70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3-5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Oolong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35-55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3-5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Drip 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80-100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5-7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Espresso (diluted)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60-80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Energy drink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100-160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60-&gt;95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5-10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Table 2. Comparison of consumer decaffeination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MMT sachet</a:t>
                      </a:r>
                    </a:p>
                    <a:p>
                      <a:pPr algn="ctr">
                        <a:defRPr sz="1000" b="1"/>
                      </a:pPr>
                      <a:r>
                        <a:t>(proposed)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Polymer bead</a:t>
                      </a:r>
                    </a:p>
                    <a:p>
                      <a:pPr algn="ctr">
                        <a:defRPr sz="1000" b="1"/>
                      </a:pPr>
                      <a:r>
                        <a:t>(US 10,813,375)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Pre-manufactured</a:t>
                      </a:r>
                    </a:p>
                    <a:p>
                      <a:pPr algn="ctr">
                        <a:defRPr sz="1000" b="1"/>
                      </a:pPr>
                      <a:r>
                        <a:t>decaf products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Polyphenol preservation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 (&gt;95%)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Low-Moderate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Variable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Selectivity for caffeine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N/A (industrial)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Food safety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GRAS (FDA)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Not established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N/A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Biodegradable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Yes (mineral)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 (polymer)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N/A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Beverage versatility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Any 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Any 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Limited selection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Industrial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Kirin (2014-)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Established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Consumer convenience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Tea bag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Tea bag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Purchase only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Cost per use (est.)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~30-50 JPY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Premium pricing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