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914400" y="1828800"/>
            <a:ext cx="10332720" cy="1097280"/>
          </a:xfrm>
          <a:prstGeom prst="rect">
            <a:avLst/>
          </a:prstGeom>
          <a:noFill/>
        </p:spPr>
        <p:txBody>
          <a:bodyPr wrap="square">
            <a:spAutoFit/>
          </a:bodyPr>
          <a:lstStyle/>
          <a:p>
            <a:pPr algn="ctr">
              <a:defRPr sz="5200" b="1">
                <a:solidFill>
                  <a:srgbClr val="FFFFFF"/>
                </a:solidFill>
                <a:latin typeface="Yu Gothic"/>
              </a:defRPr>
            </a:pPr>
            <a:r>
              <a:t>入職後初面談</a:t>
            </a:r>
          </a:p>
        </p:txBody>
      </p:sp>
      <p:sp>
        <p:nvSpPr>
          <p:cNvPr id="3" name="Rectangle 2"/>
          <p:cNvSpPr/>
          <p:nvPr/>
        </p:nvSpPr>
        <p:spPr>
          <a:xfrm>
            <a:off x="5029200" y="3017520"/>
            <a:ext cx="210312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91840"/>
            <a:ext cx="10332720" cy="457200"/>
          </a:xfrm>
          <a:prstGeom prst="rect">
            <a:avLst/>
          </a:prstGeom>
          <a:noFill/>
        </p:spPr>
        <p:txBody>
          <a:bodyPr wrap="square">
            <a:spAutoFit/>
          </a:bodyPr>
          <a:lstStyle/>
          <a:p>
            <a:pPr algn="ctr">
              <a:defRPr sz="2000" b="0">
                <a:solidFill>
                  <a:srgbClr val="CCCCCC"/>
                </a:solidFill>
                <a:latin typeface="Yu Gothic"/>
              </a:defRPr>
            </a:pPr>
            <a:r>
              <a:t>キャリア・研究ビジョン・産学連携のご共有</a:t>
            </a:r>
          </a:p>
        </p:txBody>
      </p:sp>
      <p:sp>
        <p:nvSpPr>
          <p:cNvPr id="5" name="TextBox 4"/>
          <p:cNvSpPr txBox="1"/>
          <p:nvPr/>
        </p:nvSpPr>
        <p:spPr>
          <a:xfrm>
            <a:off x="914400" y="4206240"/>
            <a:ext cx="10332720" cy="365760"/>
          </a:xfrm>
          <a:prstGeom prst="rect">
            <a:avLst/>
          </a:prstGeom>
          <a:noFill/>
        </p:spPr>
        <p:txBody>
          <a:bodyPr wrap="square">
            <a:spAutoFit/>
          </a:bodyPr>
          <a:lstStyle/>
          <a:p>
            <a:pPr algn="ctr">
              <a:defRPr sz="1500" b="0">
                <a:solidFill>
                  <a:srgbClr val="999999"/>
                </a:solidFill>
                <a:latin typeface="Yu Gothic"/>
              </a:defRPr>
            </a:pPr>
            <a:r>
              <a:t>2026年5月15日</a:t>
            </a:r>
          </a:p>
        </p:txBody>
      </p:sp>
      <p:sp>
        <p:nvSpPr>
          <p:cNvPr id="6" name="TextBox 5"/>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本日のアジェンダ</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058400" cy="5029200"/>
          </a:xfrm>
          <a:prstGeom prst="rect">
            <a:avLst/>
          </a:prstGeom>
          <a:noFill/>
        </p:spPr>
        <p:txBody>
          <a:bodyPr wrap="square">
            <a:spAutoFit/>
          </a:bodyPr>
          <a:lstStyle/>
          <a:p/>
          <a:p>
            <a:pPr>
              <a:spcBef>
                <a:spcPts val="400"/>
              </a:spcBef>
              <a:spcAft>
                <a:spcPts val="300"/>
              </a:spcAft>
            </a:pPr>
            <a:r>
              <a:rPr sz="2000" b="0">
                <a:solidFill>
                  <a:srgbClr val="1A202C"/>
                </a:solidFill>
                <a:latin typeface="Yu Gothic"/>
              </a:rPr>
              <a:t>◆  キャリア概要 — 医学部→麻酔科→医工連携→公衆衛生→起業→DS</a:t>
            </a:r>
          </a:p>
          <a:p>
            <a:pPr>
              <a:spcBef>
                <a:spcPts val="400"/>
              </a:spcBef>
              <a:spcAft>
                <a:spcPts val="300"/>
              </a:spcAft>
            </a:pPr>
            <a:r>
              <a:rPr sz="2000" b="0">
                <a:solidFill>
                  <a:srgbClr val="1A202C"/>
                </a:solidFill>
                <a:latin typeface="Yu Gothic"/>
              </a:rPr>
              <a:t>◆  麻酔科臨床期のハイライト</a:t>
            </a:r>
          </a:p>
          <a:p>
            <a:pPr>
              <a:spcBef>
                <a:spcPts val="400"/>
              </a:spcBef>
              <a:spcAft>
                <a:spcPts val="300"/>
              </a:spcAft>
            </a:pPr>
            <a:r>
              <a:rPr sz="2000" b="0">
                <a:solidFill>
                  <a:srgbClr val="1A202C"/>
                </a:solidFill>
                <a:latin typeface="Yu Gothic"/>
              </a:rPr>
              <a:t>◆  医工連携・公衆衛生・国際連携</a:t>
            </a:r>
          </a:p>
          <a:p>
            <a:pPr>
              <a:spcBef>
                <a:spcPts val="400"/>
              </a:spcBef>
              <a:spcAft>
                <a:spcPts val="300"/>
              </a:spcAft>
            </a:pPr>
            <a:r>
              <a:rPr sz="2000" b="0">
                <a:solidFill>
                  <a:srgbClr val="1A202C"/>
                </a:solidFill>
                <a:latin typeface="Yu Gothic"/>
              </a:rPr>
              <a:t>◆  データサイエンティストとしての現在</a:t>
            </a:r>
          </a:p>
          <a:p>
            <a:pPr>
              <a:spcBef>
                <a:spcPts val="400"/>
              </a:spcBef>
              <a:spcAft>
                <a:spcPts val="300"/>
              </a:spcAft>
            </a:pPr>
            <a:r>
              <a:rPr sz="2000" b="0">
                <a:solidFill>
                  <a:srgbClr val="1A202C"/>
                </a:solidFill>
                <a:latin typeface="Yu Gothic"/>
              </a:rPr>
              <a:t>◆  研究ビジョン — データ上流への遡行</a:t>
            </a:r>
          </a:p>
          <a:p>
            <a:pPr>
              <a:spcBef>
                <a:spcPts val="400"/>
              </a:spcBef>
              <a:spcAft>
                <a:spcPts val="300"/>
              </a:spcAft>
            </a:pPr>
            <a:r>
              <a:rPr sz="2000" b="0">
                <a:solidFill>
                  <a:srgbClr val="1A202C"/>
                </a:solidFill>
                <a:latin typeface="Yu Gothic"/>
              </a:rPr>
              <a:t>◆  Devin × 伊藤忠 × 滋賀大学</a:t>
            </a:r>
          </a:p>
          <a:p>
            <a:pPr>
              <a:spcBef>
                <a:spcPts val="400"/>
              </a:spcBef>
              <a:spcAft>
                <a:spcPts val="300"/>
              </a:spcAft>
            </a:pPr>
            <a:r>
              <a:rPr sz="2000" b="0">
                <a:solidFill>
                  <a:srgbClr val="1A202C"/>
                </a:solidFill>
                <a:latin typeface="Yu Gothic"/>
              </a:rPr>
              <a:t>◆  産学連携 — シフト最適化・学術支援・論文ダッシュボード</a:t>
            </a:r>
          </a:p>
          <a:p>
            <a:pPr>
              <a:spcBef>
                <a:spcPts val="400"/>
              </a:spcBef>
              <a:spcAft>
                <a:spcPts val="300"/>
              </a:spcAft>
            </a:pPr>
            <a:r>
              <a:rPr sz="2000" b="0">
                <a:solidFill>
                  <a:srgbClr val="1A202C"/>
                </a:solidFill>
                <a:latin typeface="Yu Gothic"/>
              </a:rPr>
              <a:t>◆  法人補助金の大学還流モデル</a:t>
            </a:r>
          </a:p>
        </p:txBody>
      </p:sp>
      <p:sp>
        <p:nvSpPr>
          <p:cNvPr id="5" name="TextBox 4"/>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キャリア概要</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011680" cy="11887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2011680" cy="228600"/>
          </a:xfrm>
          <a:prstGeom prst="rect">
            <a:avLst/>
          </a:prstGeom>
          <a:noFill/>
        </p:spPr>
        <p:txBody>
          <a:bodyPr wrap="square">
            <a:spAutoFit/>
          </a:bodyPr>
          <a:lstStyle/>
          <a:p>
            <a:pPr algn="ctr">
              <a:defRPr sz="900" b="1">
                <a:solidFill>
                  <a:srgbClr val="DDDDDD"/>
                </a:solidFill>
                <a:latin typeface="Yu Gothic"/>
              </a:defRPr>
            </a:pPr>
            <a:r>
              <a:t>Phase 1</a:t>
            </a:r>
          </a:p>
        </p:txBody>
      </p:sp>
      <p:sp>
        <p:nvSpPr>
          <p:cNvPr id="6" name="TextBox 5"/>
          <p:cNvSpPr txBox="1"/>
          <p:nvPr/>
        </p:nvSpPr>
        <p:spPr>
          <a:xfrm>
            <a:off x="731520" y="1645920"/>
            <a:ext cx="2011680" cy="548640"/>
          </a:xfrm>
          <a:prstGeom prst="rect">
            <a:avLst/>
          </a:prstGeom>
          <a:noFill/>
        </p:spPr>
        <p:txBody>
          <a:bodyPr wrap="square">
            <a:spAutoFit/>
          </a:bodyPr>
          <a:lstStyle/>
          <a:p>
            <a:pPr algn="ctr">
              <a:defRPr sz="1400" b="1">
                <a:solidFill>
                  <a:srgbClr val="FFFFFF"/>
                </a:solidFill>
                <a:latin typeface="Yu Gothic"/>
              </a:defRPr>
            </a:pPr>
            <a:r>
              <a:t>医学部</a:t>
            </a:r>
            <a:br/>
            <a:r>
              <a:t>麻酔科臨床</a:t>
            </a:r>
          </a:p>
        </p:txBody>
      </p:sp>
      <p:sp>
        <p:nvSpPr>
          <p:cNvPr id="7" name="TextBox 6"/>
          <p:cNvSpPr txBox="1"/>
          <p:nvPr/>
        </p:nvSpPr>
        <p:spPr>
          <a:xfrm>
            <a:off x="731520" y="2194560"/>
            <a:ext cx="2011680" cy="274320"/>
          </a:xfrm>
          <a:prstGeom prst="rect">
            <a:avLst/>
          </a:prstGeom>
          <a:noFill/>
        </p:spPr>
        <p:txBody>
          <a:bodyPr wrap="square">
            <a:spAutoFit/>
          </a:bodyPr>
          <a:lstStyle/>
          <a:p>
            <a:pPr algn="ctr">
              <a:defRPr sz="1000" b="0">
                <a:solidFill>
                  <a:srgbClr val="DDDDDD"/>
                </a:solidFill>
                <a:latin typeface="Yu Gothic"/>
              </a:defRPr>
            </a:pPr>
            <a:r>
              <a:t>1-1〜1-5</a:t>
            </a:r>
          </a:p>
        </p:txBody>
      </p:sp>
      <p:sp>
        <p:nvSpPr>
          <p:cNvPr id="8" name="Rounded Rectangle 7"/>
          <p:cNvSpPr/>
          <p:nvPr/>
        </p:nvSpPr>
        <p:spPr>
          <a:xfrm>
            <a:off x="2971800" y="1371600"/>
            <a:ext cx="2011680" cy="1188720"/>
          </a:xfrm>
          <a:prstGeom prst="roundRect">
            <a:avLst/>
          </a:prstGeom>
          <a:solidFill>
            <a:srgbClr val="2C7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1417320"/>
            <a:ext cx="2011680" cy="228600"/>
          </a:xfrm>
          <a:prstGeom prst="rect">
            <a:avLst/>
          </a:prstGeom>
          <a:noFill/>
        </p:spPr>
        <p:txBody>
          <a:bodyPr wrap="square">
            <a:spAutoFit/>
          </a:bodyPr>
          <a:lstStyle/>
          <a:p>
            <a:pPr algn="ctr">
              <a:defRPr sz="900" b="1">
                <a:solidFill>
                  <a:srgbClr val="DDDDDD"/>
                </a:solidFill>
                <a:latin typeface="Yu Gothic"/>
              </a:defRPr>
            </a:pPr>
            <a:r>
              <a:t>Phase 2</a:t>
            </a:r>
          </a:p>
        </p:txBody>
      </p:sp>
      <p:sp>
        <p:nvSpPr>
          <p:cNvPr id="10" name="TextBox 9"/>
          <p:cNvSpPr txBox="1"/>
          <p:nvPr/>
        </p:nvSpPr>
        <p:spPr>
          <a:xfrm>
            <a:off x="2971800" y="1645920"/>
            <a:ext cx="2011680" cy="548640"/>
          </a:xfrm>
          <a:prstGeom prst="rect">
            <a:avLst/>
          </a:prstGeom>
          <a:noFill/>
        </p:spPr>
        <p:txBody>
          <a:bodyPr wrap="square">
            <a:spAutoFit/>
          </a:bodyPr>
          <a:lstStyle/>
          <a:p>
            <a:pPr algn="ctr">
              <a:defRPr sz="1400" b="1">
                <a:solidFill>
                  <a:srgbClr val="FFFFFF"/>
                </a:solidFill>
                <a:latin typeface="Yu Gothic"/>
              </a:defRPr>
            </a:pPr>
            <a:r>
              <a:t>医工連携</a:t>
            </a:r>
          </a:p>
        </p:txBody>
      </p:sp>
      <p:sp>
        <p:nvSpPr>
          <p:cNvPr id="11" name="TextBox 10"/>
          <p:cNvSpPr txBox="1"/>
          <p:nvPr/>
        </p:nvSpPr>
        <p:spPr>
          <a:xfrm>
            <a:off x="2971800" y="2194560"/>
            <a:ext cx="2011680" cy="274320"/>
          </a:xfrm>
          <a:prstGeom prst="rect">
            <a:avLst/>
          </a:prstGeom>
          <a:noFill/>
        </p:spPr>
        <p:txBody>
          <a:bodyPr wrap="square">
            <a:spAutoFit/>
          </a:bodyPr>
          <a:lstStyle/>
          <a:p>
            <a:pPr algn="ctr">
              <a:defRPr sz="1000" b="0">
                <a:solidFill>
                  <a:srgbClr val="DDDDDD"/>
                </a:solidFill>
                <a:latin typeface="Yu Gothic"/>
              </a:defRPr>
            </a:pPr>
            <a:r>
              <a:t>2-1〜2-3</a:t>
            </a:r>
          </a:p>
        </p:txBody>
      </p:sp>
      <p:sp>
        <p:nvSpPr>
          <p:cNvPr id="12" name="Rounded Rectangle 11"/>
          <p:cNvSpPr/>
          <p:nvPr/>
        </p:nvSpPr>
        <p:spPr>
          <a:xfrm>
            <a:off x="5212080" y="1371600"/>
            <a:ext cx="2011680" cy="11887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1417320"/>
            <a:ext cx="2011680" cy="228600"/>
          </a:xfrm>
          <a:prstGeom prst="rect">
            <a:avLst/>
          </a:prstGeom>
          <a:noFill/>
        </p:spPr>
        <p:txBody>
          <a:bodyPr wrap="square">
            <a:spAutoFit/>
          </a:bodyPr>
          <a:lstStyle/>
          <a:p>
            <a:pPr algn="ctr">
              <a:defRPr sz="900" b="1">
                <a:solidFill>
                  <a:srgbClr val="DDDDDD"/>
                </a:solidFill>
                <a:latin typeface="Yu Gothic"/>
              </a:defRPr>
            </a:pPr>
            <a:r>
              <a:t>Phase 3</a:t>
            </a:r>
          </a:p>
        </p:txBody>
      </p:sp>
      <p:sp>
        <p:nvSpPr>
          <p:cNvPr id="14" name="TextBox 13"/>
          <p:cNvSpPr txBox="1"/>
          <p:nvPr/>
        </p:nvSpPr>
        <p:spPr>
          <a:xfrm>
            <a:off x="5212080" y="1645920"/>
            <a:ext cx="2011680" cy="548640"/>
          </a:xfrm>
          <a:prstGeom prst="rect">
            <a:avLst/>
          </a:prstGeom>
          <a:noFill/>
        </p:spPr>
        <p:txBody>
          <a:bodyPr wrap="square">
            <a:spAutoFit/>
          </a:bodyPr>
          <a:lstStyle/>
          <a:p>
            <a:pPr algn="ctr">
              <a:defRPr sz="1400" b="1">
                <a:solidFill>
                  <a:srgbClr val="FFFFFF"/>
                </a:solidFill>
                <a:latin typeface="Yu Gothic"/>
              </a:defRPr>
            </a:pPr>
            <a:r>
              <a:t>公衆衛生</a:t>
            </a:r>
            <a:br/>
            <a:r>
              <a:t>学位取得</a:t>
            </a:r>
          </a:p>
        </p:txBody>
      </p:sp>
      <p:sp>
        <p:nvSpPr>
          <p:cNvPr id="15" name="TextBox 14"/>
          <p:cNvSpPr txBox="1"/>
          <p:nvPr/>
        </p:nvSpPr>
        <p:spPr>
          <a:xfrm>
            <a:off x="5212080" y="2194560"/>
            <a:ext cx="2011680" cy="274320"/>
          </a:xfrm>
          <a:prstGeom prst="rect">
            <a:avLst/>
          </a:prstGeom>
          <a:noFill/>
        </p:spPr>
        <p:txBody>
          <a:bodyPr wrap="square">
            <a:spAutoFit/>
          </a:bodyPr>
          <a:lstStyle/>
          <a:p>
            <a:pPr algn="ctr">
              <a:defRPr sz="1000" b="0">
                <a:solidFill>
                  <a:srgbClr val="DDDDDD"/>
                </a:solidFill>
                <a:latin typeface="Yu Gothic"/>
              </a:defRPr>
            </a:pPr>
            <a:r>
              <a:t>3-1〜3-3</a:t>
            </a:r>
          </a:p>
        </p:txBody>
      </p:sp>
      <p:sp>
        <p:nvSpPr>
          <p:cNvPr id="16" name="Rounded Rectangle 15"/>
          <p:cNvSpPr/>
          <p:nvPr/>
        </p:nvSpPr>
        <p:spPr>
          <a:xfrm>
            <a:off x="7452360" y="1371600"/>
            <a:ext cx="2011680" cy="118872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1417320"/>
            <a:ext cx="2011680" cy="228600"/>
          </a:xfrm>
          <a:prstGeom prst="rect">
            <a:avLst/>
          </a:prstGeom>
          <a:noFill/>
        </p:spPr>
        <p:txBody>
          <a:bodyPr wrap="square">
            <a:spAutoFit/>
          </a:bodyPr>
          <a:lstStyle/>
          <a:p>
            <a:pPr algn="ctr">
              <a:defRPr sz="900" b="1">
                <a:solidFill>
                  <a:srgbClr val="DDDDDD"/>
                </a:solidFill>
                <a:latin typeface="Yu Gothic"/>
              </a:defRPr>
            </a:pPr>
            <a:r>
              <a:t>Phase 4</a:t>
            </a:r>
          </a:p>
        </p:txBody>
      </p:sp>
      <p:sp>
        <p:nvSpPr>
          <p:cNvPr id="18" name="TextBox 17"/>
          <p:cNvSpPr txBox="1"/>
          <p:nvPr/>
        </p:nvSpPr>
        <p:spPr>
          <a:xfrm>
            <a:off x="7452360" y="1645920"/>
            <a:ext cx="2011680" cy="548640"/>
          </a:xfrm>
          <a:prstGeom prst="rect">
            <a:avLst/>
          </a:prstGeom>
          <a:noFill/>
        </p:spPr>
        <p:txBody>
          <a:bodyPr wrap="square">
            <a:spAutoFit/>
          </a:bodyPr>
          <a:lstStyle/>
          <a:p>
            <a:pPr algn="ctr">
              <a:defRPr sz="1400" b="1">
                <a:solidFill>
                  <a:srgbClr val="FFFFFF"/>
                </a:solidFill>
                <a:latin typeface="Yu Gothic"/>
              </a:defRPr>
            </a:pPr>
            <a:r>
              <a:t>起業</a:t>
            </a:r>
            <a:br/>
            <a:r>
              <a:t>国際連携</a:t>
            </a:r>
          </a:p>
        </p:txBody>
      </p:sp>
      <p:sp>
        <p:nvSpPr>
          <p:cNvPr id="19" name="TextBox 18"/>
          <p:cNvSpPr txBox="1"/>
          <p:nvPr/>
        </p:nvSpPr>
        <p:spPr>
          <a:xfrm>
            <a:off x="7452360" y="2194560"/>
            <a:ext cx="2011680" cy="274320"/>
          </a:xfrm>
          <a:prstGeom prst="rect">
            <a:avLst/>
          </a:prstGeom>
          <a:noFill/>
        </p:spPr>
        <p:txBody>
          <a:bodyPr wrap="square">
            <a:spAutoFit/>
          </a:bodyPr>
          <a:lstStyle/>
          <a:p>
            <a:pPr algn="ctr">
              <a:defRPr sz="1000" b="0">
                <a:solidFill>
                  <a:srgbClr val="DDDDDD"/>
                </a:solidFill>
                <a:latin typeface="Yu Gothic"/>
              </a:defRPr>
            </a:pPr>
            <a:r>
              <a:t>4-1〜4-6</a:t>
            </a:r>
          </a:p>
        </p:txBody>
      </p:sp>
      <p:sp>
        <p:nvSpPr>
          <p:cNvPr id="20" name="Rounded Rectangle 19"/>
          <p:cNvSpPr/>
          <p:nvPr/>
        </p:nvSpPr>
        <p:spPr>
          <a:xfrm>
            <a:off x="9692640" y="1371600"/>
            <a:ext cx="2011680" cy="1188720"/>
          </a:xfrm>
          <a:prstGeom prst="round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0" y="1417320"/>
            <a:ext cx="2011680" cy="228600"/>
          </a:xfrm>
          <a:prstGeom prst="rect">
            <a:avLst/>
          </a:prstGeom>
          <a:noFill/>
        </p:spPr>
        <p:txBody>
          <a:bodyPr wrap="square">
            <a:spAutoFit/>
          </a:bodyPr>
          <a:lstStyle/>
          <a:p>
            <a:pPr algn="ctr">
              <a:defRPr sz="900" b="1">
                <a:solidFill>
                  <a:srgbClr val="DDDDDD"/>
                </a:solidFill>
                <a:latin typeface="Yu Gothic"/>
              </a:defRPr>
            </a:pPr>
            <a:r>
              <a:t>Phase 5</a:t>
            </a:r>
          </a:p>
        </p:txBody>
      </p:sp>
      <p:sp>
        <p:nvSpPr>
          <p:cNvPr id="22" name="TextBox 21"/>
          <p:cNvSpPr txBox="1"/>
          <p:nvPr/>
        </p:nvSpPr>
        <p:spPr>
          <a:xfrm>
            <a:off x="9692640" y="1645920"/>
            <a:ext cx="2011680" cy="548640"/>
          </a:xfrm>
          <a:prstGeom prst="rect">
            <a:avLst/>
          </a:prstGeom>
          <a:noFill/>
        </p:spPr>
        <p:txBody>
          <a:bodyPr wrap="square">
            <a:spAutoFit/>
          </a:bodyPr>
          <a:lstStyle/>
          <a:p>
            <a:pPr algn="ctr">
              <a:defRPr sz="1400" b="1">
                <a:solidFill>
                  <a:srgbClr val="FFFFFF"/>
                </a:solidFill>
                <a:latin typeface="Yu Gothic"/>
              </a:defRPr>
            </a:pPr>
            <a:r>
              <a:t>データ</a:t>
            </a:r>
            <a:br/>
            <a:r>
              <a:t>サイエンティスト</a:t>
            </a:r>
          </a:p>
        </p:txBody>
      </p:sp>
      <p:sp>
        <p:nvSpPr>
          <p:cNvPr id="23" name="TextBox 22"/>
          <p:cNvSpPr txBox="1"/>
          <p:nvPr/>
        </p:nvSpPr>
        <p:spPr>
          <a:xfrm>
            <a:off x="9692640" y="2194560"/>
            <a:ext cx="2011680" cy="274320"/>
          </a:xfrm>
          <a:prstGeom prst="rect">
            <a:avLst/>
          </a:prstGeom>
          <a:noFill/>
        </p:spPr>
        <p:txBody>
          <a:bodyPr wrap="square">
            <a:spAutoFit/>
          </a:bodyPr>
          <a:lstStyle/>
          <a:p>
            <a:pPr algn="ctr">
              <a:defRPr sz="1000" b="0">
                <a:solidFill>
                  <a:srgbClr val="DDDDDD"/>
                </a:solidFill>
                <a:latin typeface="Yu Gothic"/>
              </a:defRPr>
            </a:pPr>
            <a:r>
              <a:t>5-1〜5-5</a:t>
            </a:r>
          </a:p>
        </p:txBody>
      </p:sp>
      <p:sp>
        <p:nvSpPr>
          <p:cNvPr id="24" name="Rounded Rectangle 23"/>
          <p:cNvSpPr/>
          <p:nvPr/>
        </p:nvSpPr>
        <p:spPr>
          <a:xfrm>
            <a:off x="731520" y="2926080"/>
            <a:ext cx="5029200" cy="91440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2926080"/>
            <a:ext cx="63500" cy="9144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2999232"/>
            <a:ext cx="4754880" cy="228600"/>
          </a:xfrm>
          <a:prstGeom prst="rect">
            <a:avLst/>
          </a:prstGeom>
          <a:noFill/>
        </p:spPr>
        <p:txBody>
          <a:bodyPr wrap="square">
            <a:spAutoFit/>
          </a:bodyPr>
          <a:lstStyle/>
          <a:p>
            <a:pPr algn="l">
              <a:defRPr sz="1000" b="1">
                <a:solidFill>
                  <a:srgbClr val="2B6CB0"/>
                </a:solidFill>
                <a:latin typeface="Yu Gothic"/>
              </a:defRPr>
            </a:pPr>
            <a:r>
              <a:t>専門</a:t>
            </a:r>
          </a:p>
        </p:txBody>
      </p:sp>
      <p:sp>
        <p:nvSpPr>
          <p:cNvPr id="27" name="TextBox 26"/>
          <p:cNvSpPr txBox="1"/>
          <p:nvPr/>
        </p:nvSpPr>
        <p:spPr>
          <a:xfrm>
            <a:off x="960120" y="3200400"/>
            <a:ext cx="4754880" cy="594360"/>
          </a:xfrm>
          <a:prstGeom prst="rect">
            <a:avLst/>
          </a:prstGeom>
          <a:noFill/>
        </p:spPr>
        <p:txBody>
          <a:bodyPr wrap="square">
            <a:spAutoFit/>
          </a:bodyPr>
          <a:lstStyle/>
          <a:p>
            <a:pPr algn="l">
              <a:defRPr sz="1500" b="0">
                <a:solidFill>
                  <a:srgbClr val="1A202C"/>
                </a:solidFill>
                <a:latin typeface="Yu Gothic"/>
              </a:defRPr>
            </a:pPr>
            <a:r>
              <a:t>「好奇心」</a:t>
            </a:r>
          </a:p>
        </p:txBody>
      </p:sp>
      <p:sp>
        <p:nvSpPr>
          <p:cNvPr id="28" name="Rounded Rectangle 27"/>
          <p:cNvSpPr/>
          <p:nvPr/>
        </p:nvSpPr>
        <p:spPr>
          <a:xfrm>
            <a:off x="6126480" y="2926080"/>
            <a:ext cx="5303520" cy="9144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0" y="2926080"/>
            <a:ext cx="63500" cy="9144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2999232"/>
            <a:ext cx="5029200" cy="228600"/>
          </a:xfrm>
          <a:prstGeom prst="rect">
            <a:avLst/>
          </a:prstGeom>
          <a:noFill/>
        </p:spPr>
        <p:txBody>
          <a:bodyPr wrap="square">
            <a:spAutoFit/>
          </a:bodyPr>
          <a:lstStyle/>
          <a:p>
            <a:pPr algn="l">
              <a:defRPr sz="1000" b="1">
                <a:solidFill>
                  <a:srgbClr val="B7791F"/>
                </a:solidFill>
                <a:latin typeface="Yu Gothic"/>
              </a:defRPr>
            </a:pPr>
            <a:r>
              <a:t>座右の銘</a:t>
            </a:r>
          </a:p>
        </p:txBody>
      </p:sp>
      <p:sp>
        <p:nvSpPr>
          <p:cNvPr id="31" name="TextBox 30"/>
          <p:cNvSpPr txBox="1"/>
          <p:nvPr/>
        </p:nvSpPr>
        <p:spPr>
          <a:xfrm>
            <a:off x="6355080" y="3200400"/>
            <a:ext cx="5029200" cy="594360"/>
          </a:xfrm>
          <a:prstGeom prst="rect">
            <a:avLst/>
          </a:prstGeom>
          <a:noFill/>
        </p:spPr>
        <p:txBody>
          <a:bodyPr wrap="square">
            <a:spAutoFit/>
          </a:bodyPr>
          <a:lstStyle/>
          <a:p>
            <a:pPr algn="l">
              <a:defRPr sz="1500" b="0">
                <a:solidFill>
                  <a:srgbClr val="1A202C"/>
                </a:solidFill>
                <a:latin typeface="Yu Gothic"/>
              </a:defRPr>
            </a:pPr>
            <a:r>
              <a:t>「大隠朝市」</a:t>
            </a:r>
            <a:br/>
            <a:r>
              <a:t>「未解決の課題は他の分野では90%解決されている」</a:t>
            </a:r>
          </a:p>
        </p:txBody>
      </p:sp>
      <p:sp>
        <p:nvSpPr>
          <p:cNvPr id="32" name="Rounded Rectangle 31"/>
          <p:cNvSpPr/>
          <p:nvPr/>
        </p:nvSpPr>
        <p:spPr>
          <a:xfrm>
            <a:off x="731520" y="4114800"/>
            <a:ext cx="10698480" cy="822960"/>
          </a:xfrm>
          <a:prstGeom prst="roundRect">
            <a:avLst/>
          </a:prstGeom>
          <a:solidFill>
            <a:srgbClr val="E9D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4114800"/>
            <a:ext cx="63500" cy="822960"/>
          </a:xfrm>
          <a:prstGeom prst="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187952"/>
            <a:ext cx="10424160" cy="228600"/>
          </a:xfrm>
          <a:prstGeom prst="rect">
            <a:avLst/>
          </a:prstGeom>
          <a:noFill/>
        </p:spPr>
        <p:txBody>
          <a:bodyPr wrap="square">
            <a:spAutoFit/>
          </a:bodyPr>
          <a:lstStyle/>
          <a:p>
            <a:pPr algn="l">
              <a:defRPr sz="1000" b="1">
                <a:solidFill>
                  <a:srgbClr val="553C9A"/>
                </a:solidFill>
                <a:latin typeface="Yu Gothic"/>
              </a:defRPr>
            </a:pPr>
            <a:r>
              <a:t>研究者としての目標</a:t>
            </a:r>
          </a:p>
        </p:txBody>
      </p:sp>
      <p:sp>
        <p:nvSpPr>
          <p:cNvPr id="35" name="TextBox 34"/>
          <p:cNvSpPr txBox="1"/>
          <p:nvPr/>
        </p:nvSpPr>
        <p:spPr>
          <a:xfrm>
            <a:off x="960120" y="4389120"/>
            <a:ext cx="10424160" cy="502920"/>
          </a:xfrm>
          <a:prstGeom prst="rect">
            <a:avLst/>
          </a:prstGeom>
          <a:noFill/>
        </p:spPr>
        <p:txBody>
          <a:bodyPr wrap="square">
            <a:spAutoFit/>
          </a:bodyPr>
          <a:lstStyle/>
          <a:p>
            <a:pPr algn="l">
              <a:defRPr sz="1500" b="0">
                <a:solidFill>
                  <a:srgbClr val="1A202C"/>
                </a:solidFill>
                <a:latin typeface="Yu Gothic"/>
              </a:defRPr>
            </a:pPr>
            <a:r>
              <a:t>蝋人形になること — 後世に残る研究業績を確立し、不朽の存在として認知される</a:t>
            </a:r>
          </a:p>
        </p:txBody>
      </p:sp>
      <p:sp>
        <p:nvSpPr>
          <p:cNvPr id="36" name="TextBox 35"/>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Phase 1：麻酔科臨床期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7772400" cy="5029200"/>
          </a:xfrm>
          <a:prstGeom prst="rect">
            <a:avLst/>
          </a:prstGeom>
          <a:noFill/>
        </p:spPr>
        <p:txBody>
          <a:bodyPr wrap="square">
            <a:spAutoFit/>
          </a:bodyPr>
          <a:lstStyle/>
          <a:p/>
          <a:p>
            <a:pPr>
              <a:spcBef>
                <a:spcPts val="400"/>
              </a:spcBef>
            </a:pPr>
            <a:r>
              <a:rPr sz="1500" b="1">
                <a:solidFill>
                  <a:srgbClr val="2B6CB0"/>
                </a:solidFill>
                <a:latin typeface="Yu Gothic"/>
              </a:rPr>
              <a:t>1-1  </a:t>
            </a:r>
            <a:r>
              <a:rPr sz="1600">
                <a:solidFill>
                  <a:srgbClr val="1A202C"/>
                </a:solidFill>
                <a:latin typeface="Yu Gothic"/>
              </a:rPr>
              <a:t>医学部卒業・麻酔科入局</a:t>
            </a:r>
          </a:p>
          <a:p>
            <a:pPr>
              <a:spcBef>
                <a:spcPts val="400"/>
              </a:spcBef>
            </a:pPr>
            <a:r>
              <a:rPr sz="1500" b="1">
                <a:solidFill>
                  <a:srgbClr val="2B6CB0"/>
                </a:solidFill>
                <a:latin typeface="Yu Gothic"/>
              </a:rPr>
              <a:t>1-2  </a:t>
            </a:r>
            <a:r>
              <a:rPr sz="1600">
                <a:solidFill>
                  <a:srgbClr val="1A202C"/>
                </a:solidFill>
                <a:latin typeface="Yu Gothic"/>
              </a:rPr>
              <a:t>東京都立墨東病院（三次救命救急）麻酔科に勤務</a:t>
            </a:r>
          </a:p>
          <a:p>
            <a:pPr>
              <a:spcBef>
                <a:spcPts val="100"/>
              </a:spcBef>
            </a:pPr>
            <a:r>
              <a:rPr sz="1200">
                <a:solidFill>
                  <a:srgbClr val="4A5568"/>
                </a:solidFill>
                <a:latin typeface="Yu Gothic"/>
              </a:rPr>
              <a:t>      のべ200〜300名の医師の中で「他の医師に手に負えない症例は知識も技術も大西を呼ぶ」ルール</a:t>
            </a:r>
          </a:p>
          <a:p>
            <a:pPr>
              <a:spcBef>
                <a:spcPts val="400"/>
              </a:spcBef>
            </a:pPr>
            <a:r>
              <a:rPr sz="1500" b="1">
                <a:solidFill>
                  <a:srgbClr val="2B6CB0"/>
                </a:solidFill>
                <a:latin typeface="Yu Gothic"/>
              </a:rPr>
              <a:t>1-3  </a:t>
            </a:r>
            <a:r>
              <a:rPr sz="1600">
                <a:solidFill>
                  <a:srgbClr val="1A202C"/>
                </a:solidFill>
                <a:latin typeface="Yu Gothic"/>
              </a:rPr>
              <a:t>酒井哲郎先生の著書で「東京の市中病院にいる天才麻酔科医」として紹介</a:t>
            </a:r>
          </a:p>
          <a:p>
            <a:pPr>
              <a:spcBef>
                <a:spcPts val="400"/>
              </a:spcBef>
            </a:pPr>
            <a:r>
              <a:rPr sz="1500" b="1">
                <a:solidFill>
                  <a:srgbClr val="2B6CB0"/>
                </a:solidFill>
                <a:latin typeface="Yu Gothic"/>
              </a:rPr>
              <a:t>1-4  </a:t>
            </a:r>
            <a:r>
              <a:rPr sz="1600">
                <a:solidFill>
                  <a:srgbClr val="1A202C"/>
                </a:solidFill>
                <a:latin typeface="Yu Gothic"/>
              </a:rPr>
              <a:t>天野篤先生（上皇の執刀医）からお見合いを紹介されるほど気に入られる</a:t>
            </a:r>
          </a:p>
          <a:p>
            <a:pPr>
              <a:spcBef>
                <a:spcPts val="400"/>
              </a:spcBef>
            </a:pPr>
            <a:r>
              <a:rPr sz="1500" b="1">
                <a:solidFill>
                  <a:srgbClr val="2B6CB0"/>
                </a:solidFill>
                <a:latin typeface="Yu Gothic"/>
              </a:rPr>
              <a:t>1-5  </a:t>
            </a:r>
            <a:r>
              <a:rPr sz="1600">
                <a:solidFill>
                  <a:srgbClr val="1A202C"/>
                </a:solidFill>
                <a:latin typeface="Yu Gothic"/>
              </a:rPr>
              <a:t>麻酔科でしたいことは全て終えて「卒業」</a:t>
            </a:r>
          </a:p>
        </p:txBody>
      </p:sp>
      <p:pic>
        <p:nvPicPr>
          <p:cNvPr id="5" name="Picture 4" descr="book_cover.png"/>
          <p:cNvPicPr>
            <a:picLocks noChangeAspect="1"/>
          </p:cNvPicPr>
          <p:nvPr/>
        </p:nvPicPr>
        <p:blipFill>
          <a:blip r:embed="rId2"/>
          <a:stretch>
            <a:fillRect/>
          </a:stretch>
        </p:blipFill>
        <p:spPr>
          <a:xfrm>
            <a:off x="8961120" y="1188720"/>
            <a:ext cx="2109399" cy="4572000"/>
          </a:xfrm>
          <a:prstGeom prst="rect">
            <a:avLst/>
          </a:prstGeom>
        </p:spPr>
      </p:pic>
      <p:sp>
        <p:nvSpPr>
          <p:cNvPr id="6" name="TextBox 5"/>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Phase 1：「天才麻酔科医」の紹介</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_page.jpg"/>
          <p:cNvPicPr>
            <a:picLocks noChangeAspect="1"/>
          </p:cNvPicPr>
          <p:nvPr/>
        </p:nvPicPr>
        <p:blipFill>
          <a:blip r:embed="rId2"/>
          <a:stretch>
            <a:fillRect/>
          </a:stretch>
        </p:blipFill>
        <p:spPr>
          <a:xfrm>
            <a:off x="731520" y="1188720"/>
            <a:ext cx="6339840" cy="4754880"/>
          </a:xfrm>
          <a:prstGeom prst="rect">
            <a:avLst/>
          </a:prstGeom>
        </p:spPr>
      </p:pic>
      <p:sp>
        <p:nvSpPr>
          <p:cNvPr id="5" name="Rounded Rectangle 4"/>
          <p:cNvSpPr/>
          <p:nvPr/>
        </p:nvSpPr>
        <p:spPr>
          <a:xfrm>
            <a:off x="6400800" y="1371600"/>
            <a:ext cx="5303520" cy="182880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0" y="1371600"/>
            <a:ext cx="63500"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1444752"/>
            <a:ext cx="5029200" cy="228600"/>
          </a:xfrm>
          <a:prstGeom prst="rect">
            <a:avLst/>
          </a:prstGeom>
          <a:noFill/>
        </p:spPr>
        <p:txBody>
          <a:bodyPr wrap="square">
            <a:spAutoFit/>
          </a:bodyPr>
          <a:lstStyle/>
          <a:p>
            <a:pPr algn="l">
              <a:defRPr sz="1000" b="1">
                <a:solidFill>
                  <a:srgbClr val="2B6CB0"/>
                </a:solidFill>
                <a:latin typeface="Yu Gothic"/>
              </a:defRPr>
            </a:pPr>
            <a:r>
              <a:t>書籍より引用</a:t>
            </a:r>
          </a:p>
        </p:txBody>
      </p:sp>
      <p:sp>
        <p:nvSpPr>
          <p:cNvPr id="8" name="TextBox 7"/>
          <p:cNvSpPr txBox="1"/>
          <p:nvPr/>
        </p:nvSpPr>
        <p:spPr>
          <a:xfrm>
            <a:off x="6629400" y="1645920"/>
            <a:ext cx="5029200" cy="1508760"/>
          </a:xfrm>
          <a:prstGeom prst="rect">
            <a:avLst/>
          </a:prstGeom>
          <a:noFill/>
        </p:spPr>
        <p:txBody>
          <a:bodyPr wrap="square">
            <a:spAutoFit/>
          </a:bodyPr>
          <a:lstStyle/>
          <a:p>
            <a:pPr algn="l">
              <a:defRPr sz="1500" b="0">
                <a:solidFill>
                  <a:srgbClr val="1A202C"/>
                </a:solidFill>
                <a:latin typeface="Yu Gothic"/>
              </a:defRPr>
            </a:pPr>
            <a:r>
              <a:t>「例えば東京の市中病院で働く天才麻酔科医はおるのだが…」</a:t>
            </a:r>
            <a:br/>
            <a:br/>
            <a:r>
              <a:t>— 酒井哲郎先生</a:t>
            </a:r>
            <a:br/>
            <a:r>
              <a:t>『麻酔科診療にみる医学留学へのパスポート』</a:t>
            </a:r>
          </a:p>
        </p:txBody>
      </p:sp>
      <p:sp>
        <p:nvSpPr>
          <p:cNvPr id="9" name="Rounded Rectangle 8"/>
          <p:cNvSpPr/>
          <p:nvPr/>
        </p:nvSpPr>
        <p:spPr>
          <a:xfrm>
            <a:off x="6400800" y="3474720"/>
            <a:ext cx="5303520" cy="13716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3474720"/>
            <a:ext cx="63500" cy="13716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3547872"/>
            <a:ext cx="5029200" cy="228600"/>
          </a:xfrm>
          <a:prstGeom prst="rect">
            <a:avLst/>
          </a:prstGeom>
          <a:noFill/>
        </p:spPr>
        <p:txBody>
          <a:bodyPr wrap="square">
            <a:spAutoFit/>
          </a:bodyPr>
          <a:lstStyle/>
          <a:p>
            <a:pPr algn="l">
              <a:defRPr sz="1000" b="1">
                <a:solidFill>
                  <a:srgbClr val="B7791F"/>
                </a:solidFill>
                <a:latin typeface="Yu Gothic"/>
              </a:defRPr>
            </a:pPr>
            <a:r>
              <a:t>天野篤先生との関係</a:t>
            </a:r>
          </a:p>
        </p:txBody>
      </p:sp>
      <p:sp>
        <p:nvSpPr>
          <p:cNvPr id="12" name="TextBox 11"/>
          <p:cNvSpPr txBox="1"/>
          <p:nvPr/>
        </p:nvSpPr>
        <p:spPr>
          <a:xfrm>
            <a:off x="6629400" y="3749040"/>
            <a:ext cx="5029200" cy="1051560"/>
          </a:xfrm>
          <a:prstGeom prst="rect">
            <a:avLst/>
          </a:prstGeom>
          <a:noFill/>
        </p:spPr>
        <p:txBody>
          <a:bodyPr wrap="square">
            <a:spAutoFit/>
          </a:bodyPr>
          <a:lstStyle/>
          <a:p>
            <a:pPr algn="l">
              <a:defRPr sz="1500" b="0">
                <a:solidFill>
                  <a:srgbClr val="1A202C"/>
                </a:solidFill>
                <a:latin typeface="Yu Gothic"/>
              </a:defRPr>
            </a:pPr>
            <a:r>
              <a:t>天野篤先生（上皇の心臓バイパス手術執刀医）から</a:t>
            </a:r>
            <a:br/>
            <a:r>
              <a:t>お見合いを紹介されるほどの信頼関係</a:t>
            </a:r>
          </a:p>
        </p:txBody>
      </p:sp>
      <p:sp>
        <p:nvSpPr>
          <p:cNvPr id="13" name="TextBox 12"/>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Phase 2：医工連携期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1828800"/>
          </a:xfrm>
          <a:prstGeom prst="rect">
            <a:avLst/>
          </a:prstGeom>
          <a:noFill/>
        </p:spPr>
        <p:txBody>
          <a:bodyPr wrap="square">
            <a:spAutoFit/>
          </a:bodyPr>
          <a:lstStyle/>
          <a:p/>
          <a:p>
            <a:pPr>
              <a:spcBef>
                <a:spcPts val="400"/>
              </a:spcBef>
            </a:pPr>
            <a:r>
              <a:rPr sz="1500" b="1">
                <a:solidFill>
                  <a:srgbClr val="2C7A7B"/>
                </a:solidFill>
                <a:latin typeface="Yu Gothic"/>
              </a:rPr>
              <a:t>2-1  </a:t>
            </a:r>
            <a:r>
              <a:rPr sz="1600">
                <a:solidFill>
                  <a:srgbClr val="1A202C"/>
                </a:solidFill>
                <a:latin typeface="Yu Gothic"/>
              </a:rPr>
              <a:t>墨東病院在籍中、市中病院と医学部を持たない工学部での医工連携に着手</a:t>
            </a:r>
          </a:p>
          <a:p>
            <a:pPr>
              <a:spcBef>
                <a:spcPts val="400"/>
              </a:spcBef>
            </a:pPr>
            <a:r>
              <a:rPr sz="1500" b="1">
                <a:solidFill>
                  <a:srgbClr val="2C7A7B"/>
                </a:solidFill>
                <a:latin typeface="Yu Gothic"/>
              </a:rPr>
              <a:t>2-2  </a:t>
            </a:r>
            <a:r>
              <a:rPr sz="1600">
                <a:solidFill>
                  <a:srgbClr val="1A202C"/>
                </a:solidFill>
                <a:latin typeface="Yu Gothic"/>
              </a:rPr>
              <a:t>全身麻酔の機序研究 — 京都工業繊維大学（医学部なし）の論文が確信に最も近い</a:t>
            </a:r>
          </a:p>
          <a:p>
            <a:pPr>
              <a:spcBef>
                <a:spcPts val="400"/>
              </a:spcBef>
            </a:pPr>
            <a:r>
              <a:rPr sz="1500" b="1">
                <a:solidFill>
                  <a:srgbClr val="2C7A7B"/>
                </a:solidFill>
                <a:latin typeface="Yu Gothic"/>
              </a:rPr>
              <a:t>2-3  </a:t>
            </a:r>
            <a:r>
              <a:rPr sz="1600">
                <a:solidFill>
                  <a:srgbClr val="1A202C"/>
                </a:solidFill>
                <a:latin typeface="Yu Gothic"/>
              </a:rPr>
              <a:t>生成AI前のプログラミングコンペ受賞歴 → コーディング能力の客観的証明</a:t>
            </a:r>
          </a:p>
        </p:txBody>
      </p:sp>
      <p:sp>
        <p:nvSpPr>
          <p:cNvPr id="5" name="Rounded Rectangle 4"/>
          <p:cNvSpPr/>
          <p:nvPr/>
        </p:nvSpPr>
        <p:spPr>
          <a:xfrm>
            <a:off x="731520" y="2743200"/>
            <a:ext cx="10515600" cy="1097280"/>
          </a:xfrm>
          <a:prstGeom prst="roundRect">
            <a:avLst/>
          </a:prstGeom>
          <a:solidFill>
            <a:srgbClr val="E6FF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743200"/>
            <a:ext cx="63500" cy="1097280"/>
          </a:xfrm>
          <a:prstGeom prst="rect">
            <a:avLst/>
          </a:prstGeom>
          <a:solidFill>
            <a:srgbClr val="2C7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816352"/>
            <a:ext cx="10241280" cy="228600"/>
          </a:xfrm>
          <a:prstGeom prst="rect">
            <a:avLst/>
          </a:prstGeom>
          <a:noFill/>
        </p:spPr>
        <p:txBody>
          <a:bodyPr wrap="square">
            <a:spAutoFit/>
          </a:bodyPr>
          <a:lstStyle/>
          <a:p>
            <a:pPr algn="l">
              <a:defRPr sz="1000" b="1">
                <a:solidFill>
                  <a:srgbClr val="2C7A7B"/>
                </a:solidFill>
                <a:latin typeface="Yu Gothic"/>
              </a:defRPr>
            </a:pPr>
            <a:r>
              <a:t>麻酔科の特異性</a:t>
            </a:r>
          </a:p>
        </p:txBody>
      </p:sp>
      <p:sp>
        <p:nvSpPr>
          <p:cNvPr id="8" name="TextBox 7"/>
          <p:cNvSpPr txBox="1"/>
          <p:nvPr/>
        </p:nvSpPr>
        <p:spPr>
          <a:xfrm>
            <a:off x="960120" y="3017520"/>
            <a:ext cx="10241280" cy="777240"/>
          </a:xfrm>
          <a:prstGeom prst="rect">
            <a:avLst/>
          </a:prstGeom>
          <a:noFill/>
        </p:spPr>
        <p:txBody>
          <a:bodyPr wrap="square">
            <a:spAutoFit/>
          </a:bodyPr>
          <a:lstStyle/>
          <a:p>
            <a:pPr algn="l">
              <a:defRPr sz="1500" b="0">
                <a:solidFill>
                  <a:srgbClr val="1A202C"/>
                </a:solidFill>
                <a:latin typeface="Yu Gothic"/>
              </a:defRPr>
            </a:pPr>
            <a:r>
              <a:t>全身麻酔の効く仕組みには十分な科学的根拠がまだない。</a:t>
            </a:r>
            <a:br/>
            <a:r>
              <a:t>医学部を持たない京都工業繊維大学の研究が最も核心に迫っている — 分野横断的アプローチの重要性</a:t>
            </a:r>
          </a:p>
        </p:txBody>
      </p:sp>
      <p:sp>
        <p:nvSpPr>
          <p:cNvPr id="9" name="Rounded Rectangle 8"/>
          <p:cNvSpPr/>
          <p:nvPr/>
        </p:nvSpPr>
        <p:spPr>
          <a:xfrm>
            <a:off x="731520" y="4114800"/>
            <a:ext cx="5029200" cy="228600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297680"/>
            <a:ext cx="4572000" cy="365760"/>
          </a:xfrm>
          <a:prstGeom prst="rect">
            <a:avLst/>
          </a:prstGeom>
          <a:noFill/>
        </p:spPr>
        <p:txBody>
          <a:bodyPr wrap="square">
            <a:spAutoFit/>
          </a:bodyPr>
          <a:lstStyle/>
          <a:p>
            <a:pPr algn="l">
              <a:defRPr sz="1800" b="1">
                <a:solidFill>
                  <a:srgbClr val="1A365D"/>
                </a:solidFill>
                <a:latin typeface="Yu Gothic"/>
              </a:defRPr>
            </a:pPr>
            <a:r>
              <a:t>臨床面の特徴</a:t>
            </a:r>
          </a:p>
        </p:txBody>
      </p:sp>
      <p:sp>
        <p:nvSpPr>
          <p:cNvPr id="11" name="TextBox 10"/>
          <p:cNvSpPr txBox="1"/>
          <p:nvPr/>
        </p:nvSpPr>
        <p:spPr>
          <a:xfrm>
            <a:off x="1005840" y="4754880"/>
            <a:ext cx="4572000" cy="1371600"/>
          </a:xfrm>
          <a:prstGeom prst="rect">
            <a:avLst/>
          </a:prstGeom>
          <a:noFill/>
        </p:spPr>
        <p:txBody>
          <a:bodyPr wrap="square">
            <a:spAutoFit/>
          </a:bodyPr>
          <a:lstStyle/>
          <a:p/>
          <a:p>
            <a:pPr>
              <a:spcBef>
                <a:spcPts val="400"/>
              </a:spcBef>
              <a:spcAft>
                <a:spcPts val="300"/>
              </a:spcAft>
            </a:pPr>
            <a:r>
              <a:rPr sz="1400" b="0">
                <a:solidFill>
                  <a:srgbClr val="1A202C"/>
                </a:solidFill>
                <a:latin typeface="Yu Gothic"/>
              </a:rPr>
              <a:t>▸ リアルタイム生体モニターデータ</a:t>
            </a:r>
          </a:p>
          <a:p>
            <a:pPr>
              <a:spcBef>
                <a:spcPts val="400"/>
              </a:spcBef>
              <a:spcAft>
                <a:spcPts val="300"/>
              </a:spcAft>
            </a:pPr>
            <a:r>
              <a:rPr sz="1400" b="0">
                <a:solidFill>
                  <a:srgbClr val="1A202C"/>
                </a:solidFill>
                <a:latin typeface="Yu Gothic"/>
              </a:rPr>
              <a:t>▸ PK/PDモデリングとの親和性</a:t>
            </a:r>
          </a:p>
          <a:p>
            <a:pPr>
              <a:spcBef>
                <a:spcPts val="400"/>
              </a:spcBef>
              <a:spcAft>
                <a:spcPts val="300"/>
              </a:spcAft>
            </a:pPr>
            <a:r>
              <a:rPr sz="1400" b="0">
                <a:solidFill>
                  <a:srgbClr val="1A202C"/>
                </a:solidFill>
                <a:latin typeface="Yu Gothic"/>
              </a:rPr>
              <a:t>▸ 手術スケジュールの複雑な最適化</a:t>
            </a:r>
          </a:p>
        </p:txBody>
      </p:sp>
      <p:sp>
        <p:nvSpPr>
          <p:cNvPr id="12" name="Rounded Rectangle 11"/>
          <p:cNvSpPr/>
          <p:nvPr/>
        </p:nvSpPr>
        <p:spPr>
          <a:xfrm>
            <a:off x="6126480" y="4114800"/>
            <a:ext cx="5303520" cy="228600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97680"/>
            <a:ext cx="4572000" cy="365760"/>
          </a:xfrm>
          <a:prstGeom prst="rect">
            <a:avLst/>
          </a:prstGeom>
          <a:noFill/>
        </p:spPr>
        <p:txBody>
          <a:bodyPr wrap="square">
            <a:spAutoFit/>
          </a:bodyPr>
          <a:lstStyle/>
          <a:p>
            <a:pPr algn="l">
              <a:defRPr sz="1800" b="1">
                <a:solidFill>
                  <a:srgbClr val="1A365D"/>
                </a:solidFill>
                <a:latin typeface="Yu Gothic"/>
              </a:defRPr>
            </a:pPr>
            <a:r>
              <a:t>研究面の特徴</a:t>
            </a:r>
          </a:p>
        </p:txBody>
      </p:sp>
      <p:sp>
        <p:nvSpPr>
          <p:cNvPr id="14" name="TextBox 13"/>
          <p:cNvSpPr txBox="1"/>
          <p:nvPr/>
        </p:nvSpPr>
        <p:spPr>
          <a:xfrm>
            <a:off x="6400800" y="4754880"/>
            <a:ext cx="4572000" cy="1371600"/>
          </a:xfrm>
          <a:prstGeom prst="rect">
            <a:avLst/>
          </a:prstGeom>
          <a:noFill/>
        </p:spPr>
        <p:txBody>
          <a:bodyPr wrap="square">
            <a:spAutoFit/>
          </a:bodyPr>
          <a:lstStyle/>
          <a:p/>
          <a:p>
            <a:pPr>
              <a:spcBef>
                <a:spcPts val="400"/>
              </a:spcBef>
              <a:spcAft>
                <a:spcPts val="300"/>
              </a:spcAft>
            </a:pPr>
            <a:r>
              <a:rPr sz="1400" b="0">
                <a:solidFill>
                  <a:srgbClr val="1A202C"/>
                </a:solidFill>
                <a:latin typeface="Yu Gothic"/>
              </a:rPr>
              <a:t>▸ 数理モデル・シミュレーション需要大</a:t>
            </a:r>
          </a:p>
          <a:p>
            <a:pPr>
              <a:spcBef>
                <a:spcPts val="400"/>
              </a:spcBef>
              <a:spcAft>
                <a:spcPts val="300"/>
              </a:spcAft>
            </a:pPr>
            <a:r>
              <a:rPr sz="1400" b="0">
                <a:solidFill>
                  <a:srgbClr val="1A202C"/>
                </a:solidFill>
                <a:latin typeface="Yu Gothic"/>
              </a:rPr>
              <a:t>▸ 多変量時系列データの宝庫</a:t>
            </a:r>
          </a:p>
          <a:p>
            <a:pPr>
              <a:spcBef>
                <a:spcPts val="400"/>
              </a:spcBef>
              <a:spcAft>
                <a:spcPts val="300"/>
              </a:spcAft>
            </a:pPr>
            <a:r>
              <a:rPr sz="1400" b="0">
                <a:solidFill>
                  <a:srgbClr val="1A202C"/>
                </a:solidFill>
                <a:latin typeface="Yu Gothic"/>
              </a:rPr>
              <a:t>▸ シフト制勤務 → 最適化問題と直結</a:t>
            </a:r>
          </a:p>
        </p:txBody>
      </p:sp>
      <p:sp>
        <p:nvSpPr>
          <p:cNvPr id="15" name="TextBox 14"/>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Phase 3：公衆衛生・学位取得期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2286000"/>
          </a:xfrm>
          <a:prstGeom prst="rect">
            <a:avLst/>
          </a:prstGeom>
          <a:noFill/>
        </p:spPr>
        <p:txBody>
          <a:bodyPr wrap="square">
            <a:spAutoFit/>
          </a:bodyPr>
          <a:lstStyle/>
          <a:p/>
          <a:p>
            <a:pPr>
              <a:spcBef>
                <a:spcPts val="400"/>
              </a:spcBef>
            </a:pPr>
            <a:r>
              <a:rPr sz="1500" b="1">
                <a:solidFill>
                  <a:srgbClr val="276749"/>
                </a:solidFill>
                <a:latin typeface="Yu Gothic"/>
              </a:rPr>
              <a:t>3-1  </a:t>
            </a:r>
            <a:r>
              <a:rPr sz="1600">
                <a:solidFill>
                  <a:srgbClr val="1A202C"/>
                </a:solidFill>
                <a:latin typeface="Yu Gothic"/>
              </a:rPr>
              <a:t>滋賀医科大学で感染症論文により学位（博士号）取得</a:t>
            </a:r>
          </a:p>
          <a:p>
            <a:pPr>
              <a:spcBef>
                <a:spcPts val="100"/>
              </a:spcBef>
            </a:pPr>
            <a:r>
              <a:rPr sz="1200">
                <a:solidFill>
                  <a:srgbClr val="4A5568"/>
                </a:solidFill>
                <a:latin typeface="Yu Gothic"/>
              </a:rPr>
              <a:t>      生成AIのない時代に執筆。ChatGPTにコード改善を依頼したところデュアルユースを疑われ拒否された</a:t>
            </a:r>
          </a:p>
          <a:p>
            <a:pPr>
              <a:spcBef>
                <a:spcPts val="400"/>
              </a:spcBef>
            </a:pPr>
            <a:r>
              <a:rPr sz="1500" b="1">
                <a:solidFill>
                  <a:srgbClr val="276749"/>
                </a:solidFill>
                <a:latin typeface="Yu Gothic"/>
              </a:rPr>
              <a:t>3-2  </a:t>
            </a:r>
            <a:r>
              <a:rPr sz="1600">
                <a:solidFill>
                  <a:srgbClr val="1A202C"/>
                </a:solidFill>
                <a:latin typeface="Yu Gothic"/>
              </a:rPr>
              <a:t>学位の縁で滋賀医科大学 救急集中治療講座 非常勤助教に就任</a:t>
            </a:r>
          </a:p>
          <a:p>
            <a:pPr>
              <a:spcBef>
                <a:spcPts val="400"/>
              </a:spcBef>
            </a:pPr>
            <a:r>
              <a:rPr sz="1500" b="1">
                <a:solidFill>
                  <a:srgbClr val="276749"/>
                </a:solidFill>
                <a:latin typeface="Yu Gothic"/>
              </a:rPr>
              <a:t>3-3  </a:t>
            </a:r>
            <a:r>
              <a:rPr sz="1600">
                <a:solidFill>
                  <a:srgbClr val="1A202C"/>
                </a:solidFill>
                <a:latin typeface="Yu Gothic"/>
              </a:rPr>
              <a:t>医療の (not so) big data を使った研究支援を推進したい</a:t>
            </a:r>
          </a:p>
          <a:p>
            <a:pPr>
              <a:spcBef>
                <a:spcPts val="100"/>
              </a:spcBef>
            </a:pPr>
            <a:r>
              <a:rPr sz="1200">
                <a:solidFill>
                  <a:srgbClr val="4A5568"/>
                </a:solidFill>
                <a:latin typeface="Yu Gothic"/>
              </a:rPr>
              <a:t>      ドメイン知識を使って滋賀大学と滋賀医科大学の間の通訳を果たす</a:t>
            </a:r>
          </a:p>
        </p:txBody>
      </p:sp>
      <p:sp>
        <p:nvSpPr>
          <p:cNvPr id="5" name="Rounded Rectangle 4"/>
          <p:cNvSpPr/>
          <p:nvPr/>
        </p:nvSpPr>
        <p:spPr>
          <a:xfrm>
            <a:off x="731520" y="3657600"/>
            <a:ext cx="10515600" cy="1097280"/>
          </a:xfrm>
          <a:prstGeom prst="roundRect">
            <a:avLst/>
          </a:prstGeom>
          <a:solidFill>
            <a:srgbClr val="C6F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657600"/>
            <a:ext cx="63500" cy="1097280"/>
          </a:xfrm>
          <a:prstGeom prst="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730752"/>
            <a:ext cx="10241280" cy="228600"/>
          </a:xfrm>
          <a:prstGeom prst="rect">
            <a:avLst/>
          </a:prstGeom>
          <a:noFill/>
        </p:spPr>
        <p:txBody>
          <a:bodyPr wrap="square">
            <a:spAutoFit/>
          </a:bodyPr>
          <a:lstStyle/>
          <a:p>
            <a:pPr algn="l">
              <a:defRPr sz="1000" b="1">
                <a:solidFill>
                  <a:srgbClr val="276749"/>
                </a:solidFill>
                <a:latin typeface="Yu Gothic"/>
              </a:defRPr>
            </a:pPr>
            <a:r>
              <a:t>通訳者としての役割</a:t>
            </a:r>
          </a:p>
        </p:txBody>
      </p:sp>
      <p:sp>
        <p:nvSpPr>
          <p:cNvPr id="8" name="TextBox 7"/>
          <p:cNvSpPr txBox="1"/>
          <p:nvPr/>
        </p:nvSpPr>
        <p:spPr>
          <a:xfrm>
            <a:off x="960120" y="3931920"/>
            <a:ext cx="10241280" cy="777240"/>
          </a:xfrm>
          <a:prstGeom prst="rect">
            <a:avLst/>
          </a:prstGeom>
          <a:noFill/>
        </p:spPr>
        <p:txBody>
          <a:bodyPr wrap="square">
            <a:spAutoFit/>
          </a:bodyPr>
          <a:lstStyle/>
          <a:p>
            <a:pPr algn="l">
              <a:defRPr sz="1500" b="0">
                <a:solidFill>
                  <a:srgbClr val="1A202C"/>
                </a:solidFill>
                <a:latin typeface="Yu Gothic"/>
              </a:defRPr>
            </a:pPr>
            <a:r>
              <a:t>データサイエンス（滋賀大学）× 臨床医学（滋賀医科大学）</a:t>
            </a:r>
            <a:br/>
            <a:r>
              <a:t>両大学の間でドメイン知識による橋渡しができる稀有なポジション</a:t>
            </a:r>
          </a:p>
        </p:txBody>
      </p:sp>
      <p:sp>
        <p:nvSpPr>
          <p:cNvPr id="9" name="Rounded Rectangle 8"/>
          <p:cNvSpPr/>
          <p:nvPr/>
        </p:nvSpPr>
        <p:spPr>
          <a:xfrm>
            <a:off x="731520" y="5029200"/>
            <a:ext cx="10515600" cy="109728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029200"/>
            <a:ext cx="63500" cy="109728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02352"/>
            <a:ext cx="10241280" cy="228600"/>
          </a:xfrm>
          <a:prstGeom prst="rect">
            <a:avLst/>
          </a:prstGeom>
          <a:noFill/>
        </p:spPr>
        <p:txBody>
          <a:bodyPr wrap="square">
            <a:spAutoFit/>
          </a:bodyPr>
          <a:lstStyle/>
          <a:p>
            <a:pPr algn="l">
              <a:defRPr sz="1000" b="1">
                <a:solidFill>
                  <a:srgbClr val="2B6CB0"/>
                </a:solidFill>
                <a:latin typeface="Yu Gothic"/>
              </a:defRPr>
            </a:pPr>
            <a:r>
              <a:t>倫理と研究加速</a:t>
            </a:r>
          </a:p>
        </p:txBody>
      </p:sp>
      <p:sp>
        <p:nvSpPr>
          <p:cNvPr id="12" name="TextBox 11"/>
          <p:cNvSpPr txBox="1"/>
          <p:nvPr/>
        </p:nvSpPr>
        <p:spPr>
          <a:xfrm>
            <a:off x="960120" y="5303520"/>
            <a:ext cx="10241280" cy="777240"/>
          </a:xfrm>
          <a:prstGeom prst="rect">
            <a:avLst/>
          </a:prstGeom>
          <a:noFill/>
        </p:spPr>
        <p:txBody>
          <a:bodyPr wrap="square">
            <a:spAutoFit/>
          </a:bodyPr>
          <a:lstStyle/>
          <a:p>
            <a:pPr algn="l">
              <a:defRPr sz="1500" b="0">
                <a:solidFill>
                  <a:srgbClr val="1A202C"/>
                </a:solidFill>
                <a:latin typeface="Yu Gothic"/>
              </a:defRPr>
            </a:pPr>
            <a:r>
              <a:t>研究において倫理は再現性のパーツであるに過ぎないのに過大視されている。</a:t>
            </a:r>
            <a:br/>
            <a:r>
              <a:t>オープンデータを活用して研究を加速させるほうが生産的</a:t>
            </a:r>
          </a:p>
        </p:txBody>
      </p:sp>
      <p:sp>
        <p:nvSpPr>
          <p:cNvPr id="13" name="TextBox 12"/>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Phase 4：起業・国際連携期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3200400"/>
          </a:xfrm>
          <a:prstGeom prst="rect">
            <a:avLst/>
          </a:prstGeom>
          <a:noFill/>
        </p:spPr>
        <p:txBody>
          <a:bodyPr wrap="square">
            <a:spAutoFit/>
          </a:bodyPr>
          <a:lstStyle/>
          <a:p/>
          <a:p>
            <a:pPr>
              <a:spcBef>
                <a:spcPts val="400"/>
              </a:spcBef>
            </a:pPr>
            <a:r>
              <a:rPr sz="1500" b="1">
                <a:solidFill>
                  <a:srgbClr val="B7791F"/>
                </a:solidFill>
                <a:latin typeface="Yu Gothic"/>
              </a:rPr>
              <a:t>4-1  </a:t>
            </a:r>
            <a:r>
              <a:rPr sz="1600">
                <a:solidFill>
                  <a:srgbClr val="1A202C"/>
                </a:solidFill>
                <a:latin typeface="Yu Gothic"/>
              </a:rPr>
              <a:t>スリランカとのSATREPS計画 — 3年越しでスリランカ側が書類作成できず頓挫</a:t>
            </a:r>
          </a:p>
          <a:p>
            <a:pPr>
              <a:spcBef>
                <a:spcPts val="100"/>
              </a:spcBef>
            </a:pPr>
            <a:r>
              <a:rPr sz="1200">
                <a:solidFill>
                  <a:srgbClr val="4A5568"/>
                </a:solidFill>
                <a:latin typeface="Yu Gothic"/>
              </a:rPr>
              <a:t>      現地JICAにも連絡を絶たれた。国内では文科省・前スリランカ大使・SATREPS発案者と知己を得た</a:t>
            </a:r>
          </a:p>
          <a:p>
            <a:pPr>
              <a:spcBef>
                <a:spcPts val="400"/>
              </a:spcBef>
            </a:pPr>
            <a:r>
              <a:rPr sz="1500" b="1">
                <a:solidFill>
                  <a:srgbClr val="B7791F"/>
                </a:solidFill>
                <a:latin typeface="Yu Gothic"/>
              </a:rPr>
              <a:t>4-2  </a:t>
            </a:r>
            <a:r>
              <a:rPr sz="1600">
                <a:solidFill>
                  <a:srgbClr val="1A202C"/>
                </a:solidFill>
                <a:latin typeface="Yu Gothic"/>
              </a:rPr>
              <a:t>成育医療研究センターとの共同研究 — まさかの成育側の倫理審査が未了というサプライズ</a:t>
            </a:r>
          </a:p>
          <a:p>
            <a:pPr>
              <a:spcBef>
                <a:spcPts val="400"/>
              </a:spcBef>
            </a:pPr>
            <a:r>
              <a:rPr sz="1500" b="1">
                <a:solidFill>
                  <a:srgbClr val="B7791F"/>
                </a:solidFill>
                <a:latin typeface="Yu Gothic"/>
              </a:rPr>
              <a:t>4-3  </a:t>
            </a:r>
            <a:r>
              <a:rPr sz="1600">
                <a:solidFill>
                  <a:srgbClr val="1A202C"/>
                </a:solidFill>
                <a:latin typeface="Yu Gothic"/>
              </a:rPr>
              <a:t>シフト作成の最適化（数値最適化）— 導入実績あり</a:t>
            </a:r>
          </a:p>
          <a:p>
            <a:pPr>
              <a:spcBef>
                <a:spcPts val="400"/>
              </a:spcBef>
            </a:pPr>
            <a:r>
              <a:rPr sz="1500" b="1">
                <a:solidFill>
                  <a:srgbClr val="B7791F"/>
                </a:solidFill>
                <a:latin typeface="Yu Gothic"/>
              </a:rPr>
              <a:t>4-4  </a:t>
            </a:r>
            <a:r>
              <a:rPr sz="1600">
                <a:solidFill>
                  <a:srgbClr val="1A202C"/>
                </a:solidFill>
                <a:latin typeface="Yu Gothic"/>
              </a:rPr>
              <a:t>学術支援サービス — 導入実績あり</a:t>
            </a:r>
          </a:p>
          <a:p>
            <a:pPr>
              <a:spcBef>
                <a:spcPts val="400"/>
              </a:spcBef>
            </a:pPr>
            <a:r>
              <a:rPr sz="1500" b="1">
                <a:solidFill>
                  <a:srgbClr val="B7791F"/>
                </a:solidFill>
                <a:latin typeface="Yu Gothic"/>
              </a:rPr>
              <a:t>4-5  </a:t>
            </a:r>
            <a:r>
              <a:rPr sz="1600">
                <a:solidFill>
                  <a:srgbClr val="1A202C"/>
                </a:solidFill>
                <a:latin typeface="Yu Gothic"/>
              </a:rPr>
              <a:t>大学発ベンチャー法人補助金の大学還流モデル構想</a:t>
            </a:r>
          </a:p>
          <a:p>
            <a:pPr>
              <a:spcBef>
                <a:spcPts val="400"/>
              </a:spcBef>
            </a:pPr>
            <a:r>
              <a:rPr sz="1500" b="1">
                <a:solidFill>
                  <a:srgbClr val="B7791F"/>
                </a:solidFill>
                <a:latin typeface="Yu Gothic"/>
              </a:rPr>
              <a:t>4-6  </a:t>
            </a:r>
            <a:r>
              <a:rPr sz="1600">
                <a:solidFill>
                  <a:srgbClr val="1A202C"/>
                </a:solidFill>
                <a:latin typeface="Yu Gothic"/>
              </a:rPr>
              <a:t>産学連携 — シフト最適化・学術支援の展開</a:t>
            </a:r>
          </a:p>
        </p:txBody>
      </p:sp>
      <p:sp>
        <p:nvSpPr>
          <p:cNvPr id="5" name="Rounded Rectangle 4"/>
          <p:cNvSpPr/>
          <p:nvPr/>
        </p:nvSpPr>
        <p:spPr>
          <a:xfrm>
            <a:off x="731520" y="4754880"/>
            <a:ext cx="10515600" cy="1097280"/>
          </a:xfrm>
          <a:prstGeom prst="roundRect">
            <a:avLst/>
          </a:prstGeom>
          <a:solidFill>
            <a:srgbClr val="FE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4754880"/>
            <a:ext cx="63500" cy="1097280"/>
          </a:xfrm>
          <a:prstGeom prst="rect">
            <a:avLst/>
          </a:prstGeom>
          <a:solidFill>
            <a:srgbClr val="9B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4828032"/>
            <a:ext cx="10241280" cy="228600"/>
          </a:xfrm>
          <a:prstGeom prst="rect">
            <a:avLst/>
          </a:prstGeom>
          <a:noFill/>
        </p:spPr>
        <p:txBody>
          <a:bodyPr wrap="square">
            <a:spAutoFit/>
          </a:bodyPr>
          <a:lstStyle/>
          <a:p>
            <a:pPr algn="l">
              <a:defRPr sz="1000" b="1">
                <a:solidFill>
                  <a:srgbClr val="9B2C2C"/>
                </a:solidFill>
                <a:latin typeface="Yu Gothic"/>
              </a:defRPr>
            </a:pPr>
            <a:r>
              <a:t>教訓</a:t>
            </a:r>
          </a:p>
        </p:txBody>
      </p:sp>
      <p:sp>
        <p:nvSpPr>
          <p:cNvPr id="8" name="TextBox 7"/>
          <p:cNvSpPr txBox="1"/>
          <p:nvPr/>
        </p:nvSpPr>
        <p:spPr>
          <a:xfrm>
            <a:off x="960120" y="5029200"/>
            <a:ext cx="10241280" cy="777240"/>
          </a:xfrm>
          <a:prstGeom prst="rect">
            <a:avLst/>
          </a:prstGeom>
          <a:noFill/>
        </p:spPr>
        <p:txBody>
          <a:bodyPr wrap="square">
            <a:spAutoFit/>
          </a:bodyPr>
          <a:lstStyle/>
          <a:p>
            <a:pPr algn="l">
              <a:defRPr sz="1500" b="0">
                <a:solidFill>
                  <a:srgbClr val="1A202C"/>
                </a:solidFill>
                <a:latin typeface="Yu Gothic"/>
              </a:defRPr>
            </a:pPr>
            <a:r>
              <a:t>国際連携は相手側の事務能力に大きく依存する。国内でのネットワーク構築は成果として残る。</a:t>
            </a:r>
            <a:br/>
            <a:r>
              <a:t>倫理審査の未了は共同研究における予測困難なリスク。</a:t>
            </a:r>
          </a:p>
        </p:txBody>
      </p:sp>
      <p:sp>
        <p:nvSpPr>
          <p:cNvPr id="9" name="TextBox 8"/>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Phase 5：データサイエンティスト期（現在）</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
            <a:pPr>
              <a:spcBef>
                <a:spcPts val="400"/>
              </a:spcBef>
            </a:pPr>
            <a:r>
              <a:rPr sz="1500" b="1">
                <a:solidFill>
                  <a:srgbClr val="553C9A"/>
                </a:solidFill>
                <a:latin typeface="Yu Gothic"/>
              </a:rPr>
              <a:t>5-1  </a:t>
            </a:r>
            <a:r>
              <a:rPr sz="1600">
                <a:solidFill>
                  <a:srgbClr val="1A202C"/>
                </a:solidFill>
                <a:latin typeface="Yu Gothic"/>
              </a:rPr>
              <a:t>滋賀大学にデータサイエンティストとして入職</a:t>
            </a:r>
          </a:p>
          <a:p>
            <a:pPr>
              <a:spcBef>
                <a:spcPts val="400"/>
              </a:spcBef>
            </a:pPr>
            <a:r>
              <a:rPr sz="1500" b="1">
                <a:solidFill>
                  <a:srgbClr val="553C9A"/>
                </a:solidFill>
                <a:latin typeface="Yu Gothic"/>
              </a:rPr>
              <a:t>5-2  </a:t>
            </a:r>
            <a:r>
              <a:rPr sz="1600">
                <a:solidFill>
                  <a:srgbClr val="1A202C"/>
                </a:solidFill>
                <a:latin typeface="Yu Gothic"/>
              </a:rPr>
              <a:t>hikone — 独自の因果推論手法論文を執筆、JMLRに投稿中</a:t>
            </a:r>
          </a:p>
          <a:p>
            <a:pPr>
              <a:spcBef>
                <a:spcPts val="400"/>
              </a:spcBef>
            </a:pPr>
            <a:r>
              <a:rPr sz="1500" b="1">
                <a:solidFill>
                  <a:srgbClr val="553C9A"/>
                </a:solidFill>
                <a:latin typeface="Yu Gothic"/>
              </a:rPr>
              <a:t>5-3  </a:t>
            </a:r>
            <a:r>
              <a:rPr sz="1600">
                <a:solidFill>
                  <a:srgbClr val="1A202C"/>
                </a:solidFill>
                <a:latin typeface="Yu Gothic"/>
              </a:rPr>
              <a:t>論文を100本書いてもいいですか？</a:t>
            </a:r>
          </a:p>
          <a:p>
            <a:pPr>
              <a:spcBef>
                <a:spcPts val="400"/>
              </a:spcBef>
            </a:pPr>
            <a:r>
              <a:rPr sz="1500" b="1">
                <a:solidFill>
                  <a:srgbClr val="553C9A"/>
                </a:solidFill>
                <a:latin typeface="Yu Gothic"/>
              </a:rPr>
              <a:t>5-4  </a:t>
            </a:r>
            <a:r>
              <a:rPr sz="1600">
                <a:solidFill>
                  <a:srgbClr val="1A202C"/>
                </a:solidFill>
                <a:latin typeface="Yu Gothic"/>
              </a:rPr>
              <a:t>論文管理ダッシュボードを自作 → センターのプロジェクト管理にも活用</a:t>
            </a:r>
          </a:p>
          <a:p>
            <a:pPr>
              <a:spcBef>
                <a:spcPts val="400"/>
              </a:spcBef>
            </a:pPr>
            <a:r>
              <a:rPr sz="1500" b="1">
                <a:solidFill>
                  <a:srgbClr val="553C9A"/>
                </a:solidFill>
                <a:latin typeface="Yu Gothic"/>
              </a:rPr>
              <a:t>5-5  </a:t>
            </a:r>
            <a:r>
              <a:rPr sz="1600">
                <a:solidFill>
                  <a:srgbClr val="1A202C"/>
                </a:solidFill>
                <a:latin typeface="Yu Gothic"/>
              </a:rPr>
              <a:t>Devin × 伊藤忠 × 滋賀大学 — AI支援の大学導入提案</a:t>
            </a:r>
          </a:p>
        </p:txBody>
      </p:sp>
      <p:sp>
        <p:nvSpPr>
          <p:cNvPr id="5" name="TextBox 4"/>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研究ビジョン — データの上流へ</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2286000" cy="9144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2194560" cy="365760"/>
          </a:xfrm>
          <a:prstGeom prst="rect">
            <a:avLst/>
          </a:prstGeom>
          <a:noFill/>
        </p:spPr>
        <p:txBody>
          <a:bodyPr wrap="square">
            <a:spAutoFit/>
          </a:bodyPr>
          <a:lstStyle/>
          <a:p>
            <a:pPr algn="ctr">
              <a:defRPr sz="1400" b="1">
                <a:solidFill>
                  <a:srgbClr val="1A365D"/>
                </a:solidFill>
                <a:latin typeface="Yu Gothic"/>
              </a:defRPr>
            </a:pPr>
            <a:r>
              <a:t>医学</a:t>
            </a:r>
          </a:p>
        </p:txBody>
      </p:sp>
      <p:sp>
        <p:nvSpPr>
          <p:cNvPr id="6" name="TextBox 5"/>
          <p:cNvSpPr txBox="1"/>
          <p:nvPr/>
        </p:nvSpPr>
        <p:spPr>
          <a:xfrm>
            <a:off x="777240" y="1920240"/>
            <a:ext cx="2194560" cy="320040"/>
          </a:xfrm>
          <a:prstGeom prst="rect">
            <a:avLst/>
          </a:prstGeom>
          <a:noFill/>
        </p:spPr>
        <p:txBody>
          <a:bodyPr wrap="square">
            <a:spAutoFit/>
          </a:bodyPr>
          <a:lstStyle/>
          <a:p>
            <a:pPr algn="ctr">
              <a:defRPr sz="1100" b="0">
                <a:solidFill>
                  <a:srgbClr val="4A5568"/>
                </a:solidFill>
                <a:latin typeface="Yu Gothic"/>
              </a:defRPr>
            </a:pPr>
            <a:r>
              <a:t>エビデンスを使う立場</a:t>
            </a:r>
          </a:p>
        </p:txBody>
      </p:sp>
      <p:sp>
        <p:nvSpPr>
          <p:cNvPr id="7" name="TextBox 6"/>
          <p:cNvSpPr txBox="1"/>
          <p:nvPr/>
        </p:nvSpPr>
        <p:spPr>
          <a:xfrm>
            <a:off x="3017520" y="146304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8" name="Rounded Rectangle 7"/>
          <p:cNvSpPr/>
          <p:nvPr/>
        </p:nvSpPr>
        <p:spPr>
          <a:xfrm>
            <a:off x="3474720" y="1463040"/>
            <a:ext cx="2286000" cy="9144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554480"/>
            <a:ext cx="2194560" cy="365760"/>
          </a:xfrm>
          <a:prstGeom prst="rect">
            <a:avLst/>
          </a:prstGeom>
          <a:noFill/>
        </p:spPr>
        <p:txBody>
          <a:bodyPr wrap="square">
            <a:spAutoFit/>
          </a:bodyPr>
          <a:lstStyle/>
          <a:p>
            <a:pPr algn="ctr">
              <a:defRPr sz="1400" b="1">
                <a:solidFill>
                  <a:srgbClr val="1A365D"/>
                </a:solidFill>
                <a:latin typeface="Yu Gothic"/>
              </a:defRPr>
            </a:pPr>
            <a:r>
              <a:t>公衆衛生</a:t>
            </a:r>
          </a:p>
        </p:txBody>
      </p:sp>
      <p:sp>
        <p:nvSpPr>
          <p:cNvPr id="10" name="TextBox 9"/>
          <p:cNvSpPr txBox="1"/>
          <p:nvPr/>
        </p:nvSpPr>
        <p:spPr>
          <a:xfrm>
            <a:off x="3520440" y="1920240"/>
            <a:ext cx="2194560" cy="320040"/>
          </a:xfrm>
          <a:prstGeom prst="rect">
            <a:avLst/>
          </a:prstGeom>
          <a:noFill/>
        </p:spPr>
        <p:txBody>
          <a:bodyPr wrap="square">
            <a:spAutoFit/>
          </a:bodyPr>
          <a:lstStyle/>
          <a:p>
            <a:pPr algn="ctr">
              <a:defRPr sz="1100" b="0">
                <a:solidFill>
                  <a:srgbClr val="4A5568"/>
                </a:solidFill>
                <a:latin typeface="Yu Gothic"/>
              </a:defRPr>
            </a:pPr>
            <a:r>
              <a:t>手法を使う立場</a:t>
            </a:r>
          </a:p>
        </p:txBody>
      </p:sp>
      <p:sp>
        <p:nvSpPr>
          <p:cNvPr id="11" name="TextBox 10"/>
          <p:cNvSpPr txBox="1"/>
          <p:nvPr/>
        </p:nvSpPr>
        <p:spPr>
          <a:xfrm>
            <a:off x="5760720" y="146304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12" name="Rounded Rectangle 11"/>
          <p:cNvSpPr/>
          <p:nvPr/>
        </p:nvSpPr>
        <p:spPr>
          <a:xfrm>
            <a:off x="6217920" y="1463040"/>
            <a:ext cx="2286000" cy="914400"/>
          </a:xfrm>
          <a:prstGeom prst="roundRect">
            <a:avLst/>
          </a:prstGeom>
          <a:solidFill>
            <a:srgbClr val="FFFFFF"/>
          </a:solidFill>
          <a:ln w="25400">
            <a:solidFill>
              <a:srgbClr val="553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554480"/>
            <a:ext cx="2194560" cy="365760"/>
          </a:xfrm>
          <a:prstGeom prst="rect">
            <a:avLst/>
          </a:prstGeom>
          <a:noFill/>
        </p:spPr>
        <p:txBody>
          <a:bodyPr wrap="square">
            <a:spAutoFit/>
          </a:bodyPr>
          <a:lstStyle/>
          <a:p>
            <a:pPr algn="ctr">
              <a:defRPr sz="1400" b="1">
                <a:solidFill>
                  <a:srgbClr val="1A365D"/>
                </a:solidFill>
                <a:latin typeface="Yu Gothic"/>
              </a:defRPr>
            </a:pPr>
            <a:r>
              <a:t>DS・統計学</a:t>
            </a:r>
          </a:p>
        </p:txBody>
      </p:sp>
      <p:sp>
        <p:nvSpPr>
          <p:cNvPr id="14" name="TextBox 13"/>
          <p:cNvSpPr txBox="1"/>
          <p:nvPr/>
        </p:nvSpPr>
        <p:spPr>
          <a:xfrm>
            <a:off x="6263640" y="1920240"/>
            <a:ext cx="2194560" cy="320040"/>
          </a:xfrm>
          <a:prstGeom prst="rect">
            <a:avLst/>
          </a:prstGeom>
          <a:noFill/>
        </p:spPr>
        <p:txBody>
          <a:bodyPr wrap="square">
            <a:spAutoFit/>
          </a:bodyPr>
          <a:lstStyle/>
          <a:p>
            <a:pPr algn="ctr">
              <a:defRPr sz="1100" b="0">
                <a:solidFill>
                  <a:srgbClr val="4A5568"/>
                </a:solidFill>
                <a:latin typeface="Yu Gothic"/>
              </a:defRPr>
            </a:pPr>
            <a:r>
              <a:t>手法をつくる立場</a:t>
            </a:r>
          </a:p>
        </p:txBody>
      </p:sp>
      <p:sp>
        <p:nvSpPr>
          <p:cNvPr id="15" name="TextBox 14"/>
          <p:cNvSpPr txBox="1"/>
          <p:nvPr/>
        </p:nvSpPr>
        <p:spPr>
          <a:xfrm>
            <a:off x="8503920" y="146304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16" name="Rounded Rectangle 15"/>
          <p:cNvSpPr/>
          <p:nvPr/>
        </p:nvSpPr>
        <p:spPr>
          <a:xfrm>
            <a:off x="8961120" y="1463040"/>
            <a:ext cx="2286000" cy="914400"/>
          </a:xfrm>
          <a:prstGeom prst="roundRect">
            <a:avLst/>
          </a:prstGeom>
          <a:solidFill>
            <a:srgbClr val="FEFCB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554480"/>
            <a:ext cx="2194560" cy="365760"/>
          </a:xfrm>
          <a:prstGeom prst="rect">
            <a:avLst/>
          </a:prstGeom>
          <a:noFill/>
        </p:spPr>
        <p:txBody>
          <a:bodyPr wrap="square">
            <a:spAutoFit/>
          </a:bodyPr>
          <a:lstStyle/>
          <a:p>
            <a:pPr algn="ctr">
              <a:defRPr sz="1400" b="1">
                <a:solidFill>
                  <a:srgbClr val="1A365D"/>
                </a:solidFill>
                <a:latin typeface="Yu Gothic"/>
              </a:defRPr>
            </a:pPr>
            <a:r>
              <a:t>hikone</a:t>
            </a:r>
          </a:p>
        </p:txBody>
      </p:sp>
      <p:sp>
        <p:nvSpPr>
          <p:cNvPr id="18" name="TextBox 17"/>
          <p:cNvSpPr txBox="1"/>
          <p:nvPr/>
        </p:nvSpPr>
        <p:spPr>
          <a:xfrm>
            <a:off x="9006840" y="1920240"/>
            <a:ext cx="2194560" cy="320040"/>
          </a:xfrm>
          <a:prstGeom prst="rect">
            <a:avLst/>
          </a:prstGeom>
          <a:noFill/>
        </p:spPr>
        <p:txBody>
          <a:bodyPr wrap="square">
            <a:spAutoFit/>
          </a:bodyPr>
          <a:lstStyle/>
          <a:p>
            <a:pPr algn="ctr">
              <a:defRPr sz="1000" b="0">
                <a:solidFill>
                  <a:srgbClr val="4A5568"/>
                </a:solidFill>
                <a:latin typeface="Yu Gothic"/>
              </a:defRPr>
            </a:pPr>
            <a:r>
              <a:t>因果推論手法</a:t>
            </a:r>
            <a:br/>
            <a:r>
              <a:t>JMLR投稿中</a:t>
            </a:r>
          </a:p>
        </p:txBody>
      </p:sp>
      <p:sp>
        <p:nvSpPr>
          <p:cNvPr id="19" name="Rounded Rectangle 18"/>
          <p:cNvSpPr/>
          <p:nvPr/>
        </p:nvSpPr>
        <p:spPr>
          <a:xfrm>
            <a:off x="731520" y="2743200"/>
            <a:ext cx="5029200" cy="91440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2743200"/>
            <a:ext cx="63500" cy="9144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816352"/>
            <a:ext cx="4754880" cy="228600"/>
          </a:xfrm>
          <a:prstGeom prst="rect">
            <a:avLst/>
          </a:prstGeom>
          <a:noFill/>
        </p:spPr>
        <p:txBody>
          <a:bodyPr wrap="square">
            <a:spAutoFit/>
          </a:bodyPr>
          <a:lstStyle/>
          <a:p>
            <a:pPr algn="l">
              <a:defRPr sz="1000" b="1">
                <a:solidFill>
                  <a:srgbClr val="2B6CB0"/>
                </a:solidFill>
                <a:latin typeface="Yu Gothic"/>
              </a:defRPr>
            </a:pPr>
            <a:r>
              <a:t>データの下流＝医学の強み</a:t>
            </a:r>
          </a:p>
        </p:txBody>
      </p:sp>
      <p:sp>
        <p:nvSpPr>
          <p:cNvPr id="22" name="TextBox 21"/>
          <p:cNvSpPr txBox="1"/>
          <p:nvPr/>
        </p:nvSpPr>
        <p:spPr>
          <a:xfrm>
            <a:off x="960120" y="3017520"/>
            <a:ext cx="4754880" cy="594360"/>
          </a:xfrm>
          <a:prstGeom prst="rect">
            <a:avLst/>
          </a:prstGeom>
          <a:noFill/>
        </p:spPr>
        <p:txBody>
          <a:bodyPr wrap="square">
            <a:spAutoFit/>
          </a:bodyPr>
          <a:lstStyle/>
          <a:p>
            <a:pPr algn="l">
              <a:defRPr sz="1500" b="0">
                <a:solidFill>
                  <a:srgbClr val="1A202C"/>
                </a:solidFill>
                <a:latin typeface="Yu Gothic"/>
              </a:defRPr>
            </a:pPr>
            <a:r>
              <a:t>医学はデータの下流だが本人のプラクティスは変わる</a:t>
            </a:r>
            <a:br/>
            <a:r>
              <a:t>→ 必ず社会実装される</a:t>
            </a:r>
          </a:p>
        </p:txBody>
      </p:sp>
      <p:sp>
        <p:nvSpPr>
          <p:cNvPr id="23" name="Rounded Rectangle 22"/>
          <p:cNvSpPr/>
          <p:nvPr/>
        </p:nvSpPr>
        <p:spPr>
          <a:xfrm>
            <a:off x="6126480" y="2743200"/>
            <a:ext cx="5303520" cy="9144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2743200"/>
            <a:ext cx="63500" cy="9144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816352"/>
            <a:ext cx="5029200" cy="228600"/>
          </a:xfrm>
          <a:prstGeom prst="rect">
            <a:avLst/>
          </a:prstGeom>
          <a:noFill/>
        </p:spPr>
        <p:txBody>
          <a:bodyPr wrap="square">
            <a:spAutoFit/>
          </a:bodyPr>
          <a:lstStyle/>
          <a:p>
            <a:pPr algn="l">
              <a:defRPr sz="1000" b="1">
                <a:solidFill>
                  <a:srgbClr val="B7791F"/>
                </a:solidFill>
                <a:latin typeface="Yu Gothic"/>
              </a:defRPr>
            </a:pPr>
            <a:r>
              <a:t>エビデンスの階梯への異論</a:t>
            </a:r>
          </a:p>
        </p:txBody>
      </p:sp>
      <p:sp>
        <p:nvSpPr>
          <p:cNvPr id="26" name="TextBox 25"/>
          <p:cNvSpPr txBox="1"/>
          <p:nvPr/>
        </p:nvSpPr>
        <p:spPr>
          <a:xfrm>
            <a:off x="6355080" y="3017520"/>
            <a:ext cx="5029200" cy="594360"/>
          </a:xfrm>
          <a:prstGeom prst="rect">
            <a:avLst/>
          </a:prstGeom>
          <a:noFill/>
        </p:spPr>
        <p:txBody>
          <a:bodyPr wrap="square">
            <a:spAutoFit/>
          </a:bodyPr>
          <a:lstStyle/>
          <a:p>
            <a:pPr algn="l">
              <a:defRPr sz="1500" b="0">
                <a:solidFill>
                  <a:srgbClr val="1A202C"/>
                </a:solidFill>
                <a:latin typeface="Yu Gothic"/>
              </a:defRPr>
            </a:pPr>
            <a:r>
              <a:t>エビデンスの階梯は誤解されている。</a:t>
            </a:r>
            <a:br/>
            <a:r>
              <a:t>ケースリポートはRCTに劣らない</a:t>
            </a:r>
          </a:p>
        </p:txBody>
      </p:sp>
      <p:sp>
        <p:nvSpPr>
          <p:cNvPr id="27" name="Rounded Rectangle 26"/>
          <p:cNvSpPr/>
          <p:nvPr/>
        </p:nvSpPr>
        <p:spPr>
          <a:xfrm>
            <a:off x="731520" y="3931920"/>
            <a:ext cx="10698480" cy="914400"/>
          </a:xfrm>
          <a:prstGeom prst="roundRect">
            <a:avLst/>
          </a:prstGeom>
          <a:solidFill>
            <a:srgbClr val="E9D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3931920"/>
            <a:ext cx="63500" cy="914400"/>
          </a:xfrm>
          <a:prstGeom prst="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005072"/>
            <a:ext cx="10424160" cy="228600"/>
          </a:xfrm>
          <a:prstGeom prst="rect">
            <a:avLst/>
          </a:prstGeom>
          <a:noFill/>
        </p:spPr>
        <p:txBody>
          <a:bodyPr wrap="square">
            <a:spAutoFit/>
          </a:bodyPr>
          <a:lstStyle/>
          <a:p>
            <a:pPr algn="l">
              <a:defRPr sz="1000" b="1">
                <a:solidFill>
                  <a:srgbClr val="553C9A"/>
                </a:solidFill>
                <a:latin typeface="Yu Gothic"/>
              </a:defRPr>
            </a:pPr>
            <a:r>
              <a:t>戦略</a:t>
            </a:r>
          </a:p>
        </p:txBody>
      </p:sp>
      <p:sp>
        <p:nvSpPr>
          <p:cNvPr id="30" name="TextBox 29"/>
          <p:cNvSpPr txBox="1"/>
          <p:nvPr/>
        </p:nvSpPr>
        <p:spPr>
          <a:xfrm>
            <a:off x="960120" y="4206240"/>
            <a:ext cx="10424160" cy="594360"/>
          </a:xfrm>
          <a:prstGeom prst="rect">
            <a:avLst/>
          </a:prstGeom>
          <a:noFill/>
        </p:spPr>
        <p:txBody>
          <a:bodyPr wrap="square">
            <a:spAutoFit/>
          </a:bodyPr>
          <a:lstStyle/>
          <a:p>
            <a:pPr algn="l">
              <a:defRPr sz="1500" b="0">
                <a:solidFill>
                  <a:srgbClr val="1A202C"/>
                </a:solidFill>
                <a:latin typeface="Yu Gothic"/>
              </a:defRPr>
            </a:pPr>
            <a:r>
              <a:t>データの上流に遡ってキャリアを積み、手法をつくる側へ。</a:t>
            </a:r>
            <a:br/>
            <a:r>
              <a:t>同時に臨床経験に基づく社会実装力を武器に、研究と実践の両輪を回す。</a:t>
            </a:r>
          </a:p>
        </p:txBody>
      </p:sp>
      <p:sp>
        <p:nvSpPr>
          <p:cNvPr id="31" name="TextBox 30"/>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コーディング能力の証明</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91440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63500" cy="9144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44752"/>
            <a:ext cx="10241280" cy="228600"/>
          </a:xfrm>
          <a:prstGeom prst="rect">
            <a:avLst/>
          </a:prstGeom>
          <a:noFill/>
        </p:spPr>
        <p:txBody>
          <a:bodyPr wrap="square">
            <a:spAutoFit/>
          </a:bodyPr>
          <a:lstStyle/>
          <a:p>
            <a:pPr algn="l">
              <a:defRPr sz="1000" b="1">
                <a:solidFill>
                  <a:srgbClr val="2B6CB0"/>
                </a:solidFill>
                <a:latin typeface="Yu Gothic"/>
              </a:defRPr>
            </a:pPr>
            <a:r>
              <a:t>課題認識</a:t>
            </a:r>
          </a:p>
        </p:txBody>
      </p:sp>
      <p:sp>
        <p:nvSpPr>
          <p:cNvPr id="7" name="TextBox 6"/>
          <p:cNvSpPr txBox="1"/>
          <p:nvPr/>
        </p:nvSpPr>
        <p:spPr>
          <a:xfrm>
            <a:off x="960120" y="1645920"/>
            <a:ext cx="10241280" cy="594360"/>
          </a:xfrm>
          <a:prstGeom prst="rect">
            <a:avLst/>
          </a:prstGeom>
          <a:noFill/>
        </p:spPr>
        <p:txBody>
          <a:bodyPr wrap="square">
            <a:spAutoFit/>
          </a:bodyPr>
          <a:lstStyle/>
          <a:p>
            <a:pPr algn="l">
              <a:defRPr sz="1500" b="0">
                <a:solidFill>
                  <a:srgbClr val="1A202C"/>
                </a:solidFill>
                <a:latin typeface="Yu Gothic"/>
              </a:defRPr>
            </a:pPr>
            <a:r>
              <a:t>生成AI時代においてはコード能力の客観的評価が困難に</a:t>
            </a:r>
          </a:p>
        </p:txBody>
      </p:sp>
      <p:sp>
        <p:nvSpPr>
          <p:cNvPr id="8" name="Rounded Rectangle 7"/>
          <p:cNvSpPr/>
          <p:nvPr/>
        </p:nvSpPr>
        <p:spPr>
          <a:xfrm>
            <a:off x="731520" y="2560320"/>
            <a:ext cx="10515600" cy="1097280"/>
          </a:xfrm>
          <a:prstGeom prst="roundRect">
            <a:avLst/>
          </a:prstGeom>
          <a:solidFill>
            <a:srgbClr val="C6F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560320"/>
            <a:ext cx="63500" cy="1097280"/>
          </a:xfrm>
          <a:prstGeom prst="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33472"/>
            <a:ext cx="10241280" cy="228600"/>
          </a:xfrm>
          <a:prstGeom prst="rect">
            <a:avLst/>
          </a:prstGeom>
          <a:noFill/>
        </p:spPr>
        <p:txBody>
          <a:bodyPr wrap="square">
            <a:spAutoFit/>
          </a:bodyPr>
          <a:lstStyle/>
          <a:p>
            <a:pPr algn="l">
              <a:defRPr sz="1000" b="1">
                <a:solidFill>
                  <a:srgbClr val="276749"/>
                </a:solidFill>
                <a:latin typeface="Yu Gothic"/>
              </a:defRPr>
            </a:pPr>
            <a:r>
              <a:t>強み</a:t>
            </a:r>
          </a:p>
        </p:txBody>
      </p:sp>
      <p:sp>
        <p:nvSpPr>
          <p:cNvPr id="11" name="TextBox 10"/>
          <p:cNvSpPr txBox="1"/>
          <p:nvPr/>
        </p:nvSpPr>
        <p:spPr>
          <a:xfrm>
            <a:off x="960120" y="2834640"/>
            <a:ext cx="10241280" cy="777240"/>
          </a:xfrm>
          <a:prstGeom prst="rect">
            <a:avLst/>
          </a:prstGeom>
          <a:noFill/>
        </p:spPr>
        <p:txBody>
          <a:bodyPr wrap="square">
            <a:spAutoFit/>
          </a:bodyPr>
          <a:lstStyle/>
          <a:p>
            <a:pPr algn="l">
              <a:defRPr sz="1500" b="0">
                <a:solidFill>
                  <a:srgbClr val="1A202C"/>
                </a:solidFill>
                <a:latin typeface="Yu Gothic"/>
              </a:defRPr>
            </a:pPr>
            <a:r>
              <a:t>生成AI登場以前のプログラミングコンペティションにおける受賞歴あり</a:t>
            </a:r>
            <a:br/>
            <a:r>
              <a:t>→ コーディング能力、およびコードレビュー能力の客観的裏付け</a:t>
            </a:r>
          </a:p>
        </p:txBody>
      </p:sp>
      <p:sp>
        <p:nvSpPr>
          <p:cNvPr id="12" name="Rounded Rectangle 11"/>
          <p:cNvSpPr/>
          <p:nvPr/>
        </p:nvSpPr>
        <p:spPr>
          <a:xfrm>
            <a:off x="731520" y="3931920"/>
            <a:ext cx="941832"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941064"/>
            <a:ext cx="941832" cy="256032"/>
          </a:xfrm>
          <a:prstGeom prst="rect">
            <a:avLst/>
          </a:prstGeom>
          <a:noFill/>
        </p:spPr>
        <p:txBody>
          <a:bodyPr wrap="square">
            <a:spAutoFit/>
          </a:bodyPr>
          <a:lstStyle/>
          <a:p>
            <a:pPr algn="ctr">
              <a:defRPr sz="1000" b="1">
                <a:solidFill>
                  <a:srgbClr val="FFFFFF"/>
                </a:solidFill>
                <a:latin typeface="Yu Gothic"/>
              </a:defRPr>
            </a:pPr>
            <a:r>
              <a:t>数値最適化</a:t>
            </a:r>
          </a:p>
        </p:txBody>
      </p:sp>
      <p:sp>
        <p:nvSpPr>
          <p:cNvPr id="14" name="Rounded Rectangle 13"/>
          <p:cNvSpPr/>
          <p:nvPr/>
        </p:nvSpPr>
        <p:spPr>
          <a:xfrm>
            <a:off x="1764792" y="3931920"/>
            <a:ext cx="1252728"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64792" y="3941064"/>
            <a:ext cx="1252728" cy="256032"/>
          </a:xfrm>
          <a:prstGeom prst="rect">
            <a:avLst/>
          </a:prstGeom>
          <a:noFill/>
        </p:spPr>
        <p:txBody>
          <a:bodyPr wrap="square">
            <a:spAutoFit/>
          </a:bodyPr>
          <a:lstStyle/>
          <a:p>
            <a:pPr algn="ctr">
              <a:defRPr sz="1000" b="1">
                <a:solidFill>
                  <a:srgbClr val="FFFFFF"/>
                </a:solidFill>
                <a:latin typeface="Yu Gothic"/>
              </a:defRPr>
            </a:pPr>
            <a:r>
              <a:t>統計モデリング</a:t>
            </a:r>
          </a:p>
        </p:txBody>
      </p:sp>
      <p:sp>
        <p:nvSpPr>
          <p:cNvPr id="16" name="Rounded Rectangle 15"/>
          <p:cNvSpPr/>
          <p:nvPr/>
        </p:nvSpPr>
        <p:spPr>
          <a:xfrm>
            <a:off x="3108960" y="3931920"/>
            <a:ext cx="1252728"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3941064"/>
            <a:ext cx="1252728" cy="256032"/>
          </a:xfrm>
          <a:prstGeom prst="rect">
            <a:avLst/>
          </a:prstGeom>
          <a:noFill/>
        </p:spPr>
        <p:txBody>
          <a:bodyPr wrap="square">
            <a:spAutoFit/>
          </a:bodyPr>
          <a:lstStyle/>
          <a:p>
            <a:pPr algn="ctr">
              <a:defRPr sz="1000" b="1">
                <a:solidFill>
                  <a:srgbClr val="FFFFFF"/>
                </a:solidFill>
                <a:latin typeface="Yu Gothic"/>
              </a:defRPr>
            </a:pPr>
            <a:r>
              <a:t>コードレビュー</a:t>
            </a:r>
          </a:p>
        </p:txBody>
      </p:sp>
      <p:sp>
        <p:nvSpPr>
          <p:cNvPr id="18" name="Rounded Rectangle 17"/>
          <p:cNvSpPr/>
          <p:nvPr/>
        </p:nvSpPr>
        <p:spPr>
          <a:xfrm>
            <a:off x="4453128" y="3931920"/>
            <a:ext cx="1252728" cy="2743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53128" y="3941064"/>
            <a:ext cx="1252728" cy="256032"/>
          </a:xfrm>
          <a:prstGeom prst="rect">
            <a:avLst/>
          </a:prstGeom>
          <a:noFill/>
        </p:spPr>
        <p:txBody>
          <a:bodyPr wrap="square">
            <a:spAutoFit/>
          </a:bodyPr>
          <a:lstStyle/>
          <a:p>
            <a:pPr algn="ctr">
              <a:defRPr sz="1000" b="1">
                <a:solidFill>
                  <a:srgbClr val="FFFFFF"/>
                </a:solidFill>
                <a:latin typeface="Yu Gothic"/>
              </a:defRPr>
            </a:pPr>
            <a:r>
              <a:t>AI前受賞実績</a:t>
            </a:r>
          </a:p>
        </p:txBody>
      </p:sp>
      <p:sp>
        <p:nvSpPr>
          <p:cNvPr id="20" name="Rounded Rectangle 19"/>
          <p:cNvSpPr/>
          <p:nvPr/>
        </p:nvSpPr>
        <p:spPr>
          <a:xfrm>
            <a:off x="5797296" y="3931920"/>
            <a:ext cx="786384" cy="274320"/>
          </a:xfrm>
          <a:prstGeom prst="round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97296" y="3941064"/>
            <a:ext cx="786384" cy="256032"/>
          </a:xfrm>
          <a:prstGeom prst="rect">
            <a:avLst/>
          </a:prstGeom>
          <a:noFill/>
        </p:spPr>
        <p:txBody>
          <a:bodyPr wrap="square">
            <a:spAutoFit/>
          </a:bodyPr>
          <a:lstStyle/>
          <a:p>
            <a:pPr algn="ctr">
              <a:defRPr sz="1000" b="1">
                <a:solidFill>
                  <a:srgbClr val="FFFFFF"/>
                </a:solidFill>
                <a:latin typeface="Yu Gothic"/>
              </a:defRPr>
            </a:pPr>
            <a:r>
              <a:t>因果推論</a:t>
            </a:r>
          </a:p>
        </p:txBody>
      </p:sp>
      <p:sp>
        <p:nvSpPr>
          <p:cNvPr id="22" name="Rounded Rectangle 21"/>
          <p:cNvSpPr/>
          <p:nvPr/>
        </p:nvSpPr>
        <p:spPr>
          <a:xfrm>
            <a:off x="6675120" y="3931920"/>
            <a:ext cx="1563624" cy="27432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941064"/>
            <a:ext cx="1563624" cy="256032"/>
          </a:xfrm>
          <a:prstGeom prst="rect">
            <a:avLst/>
          </a:prstGeom>
          <a:noFill/>
        </p:spPr>
        <p:txBody>
          <a:bodyPr wrap="square">
            <a:spAutoFit/>
          </a:bodyPr>
          <a:lstStyle/>
          <a:p>
            <a:pPr algn="ctr">
              <a:defRPr sz="1000" b="1">
                <a:solidFill>
                  <a:srgbClr val="FFFFFF"/>
                </a:solidFill>
                <a:latin typeface="Yu Gothic"/>
              </a:defRPr>
            </a:pPr>
            <a:r>
              <a:t>論文ダッシュボード</a:t>
            </a:r>
          </a:p>
        </p:txBody>
      </p:sp>
      <p:sp>
        <p:nvSpPr>
          <p:cNvPr id="24" name="TextBox 23"/>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Devin × 伊藤忠 × 滋賀大学</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645920"/>
            <a:ext cx="2286000" cy="9144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737360"/>
            <a:ext cx="2194560" cy="365760"/>
          </a:xfrm>
          <a:prstGeom prst="rect">
            <a:avLst/>
          </a:prstGeom>
          <a:noFill/>
        </p:spPr>
        <p:txBody>
          <a:bodyPr wrap="square">
            <a:spAutoFit/>
          </a:bodyPr>
          <a:lstStyle/>
          <a:p>
            <a:pPr algn="ctr">
              <a:defRPr sz="1400" b="1">
                <a:solidFill>
                  <a:srgbClr val="1A365D"/>
                </a:solidFill>
                <a:latin typeface="Yu Gothic"/>
              </a:defRPr>
            </a:pPr>
            <a:r>
              <a:t>Cognition AI</a:t>
            </a:r>
          </a:p>
        </p:txBody>
      </p:sp>
      <p:sp>
        <p:nvSpPr>
          <p:cNvPr id="6" name="TextBox 5"/>
          <p:cNvSpPr txBox="1"/>
          <p:nvPr/>
        </p:nvSpPr>
        <p:spPr>
          <a:xfrm>
            <a:off x="1143000" y="2103120"/>
            <a:ext cx="2194560" cy="320040"/>
          </a:xfrm>
          <a:prstGeom prst="rect">
            <a:avLst/>
          </a:prstGeom>
          <a:noFill/>
        </p:spPr>
        <p:txBody>
          <a:bodyPr wrap="square">
            <a:spAutoFit/>
          </a:bodyPr>
          <a:lstStyle/>
          <a:p>
            <a:pPr algn="ctr">
              <a:defRPr sz="1100" b="0">
                <a:solidFill>
                  <a:srgbClr val="4A5568"/>
                </a:solidFill>
                <a:latin typeface="Yu Gothic"/>
              </a:defRPr>
            </a:pPr>
            <a:r>
              <a:t>Devin 開発元</a:t>
            </a:r>
          </a:p>
        </p:txBody>
      </p:sp>
      <p:sp>
        <p:nvSpPr>
          <p:cNvPr id="7" name="TextBox 6"/>
          <p:cNvSpPr txBox="1"/>
          <p:nvPr/>
        </p:nvSpPr>
        <p:spPr>
          <a:xfrm>
            <a:off x="3383280" y="164592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8" name="Rounded Rectangle 7"/>
          <p:cNvSpPr/>
          <p:nvPr/>
        </p:nvSpPr>
        <p:spPr>
          <a:xfrm>
            <a:off x="3840480" y="1645920"/>
            <a:ext cx="2286000" cy="914400"/>
          </a:xfrm>
          <a:prstGeom prst="roundRect">
            <a:avLst/>
          </a:prstGeom>
          <a:solidFill>
            <a:srgbClr val="FFFFF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0" y="1737360"/>
            <a:ext cx="2194560" cy="365760"/>
          </a:xfrm>
          <a:prstGeom prst="rect">
            <a:avLst/>
          </a:prstGeom>
          <a:noFill/>
        </p:spPr>
        <p:txBody>
          <a:bodyPr wrap="square">
            <a:spAutoFit/>
          </a:bodyPr>
          <a:lstStyle/>
          <a:p>
            <a:pPr algn="ctr">
              <a:defRPr sz="1400" b="1">
                <a:solidFill>
                  <a:srgbClr val="1A365D"/>
                </a:solidFill>
                <a:latin typeface="Yu Gothic"/>
              </a:defRPr>
            </a:pPr>
            <a:r>
              <a:t>伊藤忠テクノソリューションズ</a:t>
            </a:r>
          </a:p>
        </p:txBody>
      </p:sp>
      <p:sp>
        <p:nvSpPr>
          <p:cNvPr id="10" name="TextBox 9"/>
          <p:cNvSpPr txBox="1"/>
          <p:nvPr/>
        </p:nvSpPr>
        <p:spPr>
          <a:xfrm>
            <a:off x="3886200" y="2103120"/>
            <a:ext cx="2194560" cy="320040"/>
          </a:xfrm>
          <a:prstGeom prst="rect">
            <a:avLst/>
          </a:prstGeom>
          <a:noFill/>
        </p:spPr>
        <p:txBody>
          <a:bodyPr wrap="square">
            <a:spAutoFit/>
          </a:bodyPr>
          <a:lstStyle/>
          <a:p>
            <a:pPr algn="ctr">
              <a:defRPr sz="1100" b="0">
                <a:solidFill>
                  <a:srgbClr val="4A5568"/>
                </a:solidFill>
                <a:latin typeface="Yu Gothic"/>
              </a:defRPr>
            </a:pPr>
            <a:r>
              <a:t>日本代理店</a:t>
            </a:r>
          </a:p>
        </p:txBody>
      </p:sp>
      <p:sp>
        <p:nvSpPr>
          <p:cNvPr id="11" name="TextBox 10"/>
          <p:cNvSpPr txBox="1"/>
          <p:nvPr/>
        </p:nvSpPr>
        <p:spPr>
          <a:xfrm>
            <a:off x="6126480" y="164592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12" name="Rounded Rectangle 11"/>
          <p:cNvSpPr/>
          <p:nvPr/>
        </p:nvSpPr>
        <p:spPr>
          <a:xfrm>
            <a:off x="6583680" y="1645920"/>
            <a:ext cx="2286000" cy="9144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737360"/>
            <a:ext cx="2194560" cy="365760"/>
          </a:xfrm>
          <a:prstGeom prst="rect">
            <a:avLst/>
          </a:prstGeom>
          <a:noFill/>
        </p:spPr>
        <p:txBody>
          <a:bodyPr wrap="square">
            <a:spAutoFit/>
          </a:bodyPr>
          <a:lstStyle/>
          <a:p>
            <a:pPr algn="ctr">
              <a:defRPr sz="1400" b="1">
                <a:solidFill>
                  <a:srgbClr val="1A365D"/>
                </a:solidFill>
                <a:latin typeface="Yu Gothic"/>
              </a:defRPr>
            </a:pPr>
            <a:r>
              <a:t>滋賀大学</a:t>
            </a:r>
          </a:p>
        </p:txBody>
      </p:sp>
      <p:sp>
        <p:nvSpPr>
          <p:cNvPr id="14" name="TextBox 13"/>
          <p:cNvSpPr txBox="1"/>
          <p:nvPr/>
        </p:nvSpPr>
        <p:spPr>
          <a:xfrm>
            <a:off x="6629400" y="2103120"/>
            <a:ext cx="2194560" cy="320040"/>
          </a:xfrm>
          <a:prstGeom prst="rect">
            <a:avLst/>
          </a:prstGeom>
          <a:noFill/>
        </p:spPr>
        <p:txBody>
          <a:bodyPr wrap="square">
            <a:spAutoFit/>
          </a:bodyPr>
          <a:lstStyle/>
          <a:p>
            <a:pPr algn="ctr">
              <a:defRPr sz="1100" b="0">
                <a:solidFill>
                  <a:srgbClr val="4A5568"/>
                </a:solidFill>
                <a:latin typeface="Yu Gothic"/>
              </a:defRPr>
            </a:pPr>
            <a:r>
              <a:t>伊藤忠と縁あり</a:t>
            </a:r>
          </a:p>
        </p:txBody>
      </p:sp>
      <p:sp>
        <p:nvSpPr>
          <p:cNvPr id="15" name="Rounded Rectangle 14"/>
          <p:cNvSpPr/>
          <p:nvPr/>
        </p:nvSpPr>
        <p:spPr>
          <a:xfrm>
            <a:off x="731520" y="2926080"/>
            <a:ext cx="10515600" cy="9144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926080"/>
            <a:ext cx="63500" cy="9144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999232"/>
            <a:ext cx="10241280" cy="228600"/>
          </a:xfrm>
          <a:prstGeom prst="rect">
            <a:avLst/>
          </a:prstGeom>
          <a:noFill/>
        </p:spPr>
        <p:txBody>
          <a:bodyPr wrap="square">
            <a:spAutoFit/>
          </a:bodyPr>
          <a:lstStyle/>
          <a:p>
            <a:pPr algn="l">
              <a:defRPr sz="1000" b="1">
                <a:solidFill>
                  <a:srgbClr val="B7791F"/>
                </a:solidFill>
                <a:latin typeface="Yu Gothic"/>
              </a:defRPr>
            </a:pPr>
            <a:r>
              <a:t>提案</a:t>
            </a:r>
          </a:p>
        </p:txBody>
      </p:sp>
      <p:sp>
        <p:nvSpPr>
          <p:cNvPr id="18" name="TextBox 17"/>
          <p:cNvSpPr txBox="1"/>
          <p:nvPr/>
        </p:nvSpPr>
        <p:spPr>
          <a:xfrm>
            <a:off x="960120" y="3200400"/>
            <a:ext cx="10241280" cy="594360"/>
          </a:xfrm>
          <a:prstGeom prst="rect">
            <a:avLst/>
          </a:prstGeom>
          <a:noFill/>
        </p:spPr>
        <p:txBody>
          <a:bodyPr wrap="square">
            <a:spAutoFit/>
          </a:bodyPr>
          <a:lstStyle/>
          <a:p>
            <a:pPr algn="l">
              <a:defRPr sz="1500" b="0">
                <a:solidFill>
                  <a:srgbClr val="1A202C"/>
                </a:solidFill>
                <a:latin typeface="Yu Gothic"/>
              </a:defRPr>
            </a:pPr>
            <a:r>
              <a:t>伊藤忠が日本におけるDevin代理店となった今、滋賀大学でのDevin導入を検討できないか？</a:t>
            </a:r>
          </a:p>
        </p:txBody>
      </p:sp>
      <p:sp>
        <p:nvSpPr>
          <p:cNvPr id="19" name="TextBox 18"/>
          <p:cNvSpPr txBox="1"/>
          <p:nvPr/>
        </p:nvSpPr>
        <p:spPr>
          <a:xfrm>
            <a:off x="914400" y="4114800"/>
            <a:ext cx="10058400" cy="1828800"/>
          </a:xfrm>
          <a:prstGeom prst="rect">
            <a:avLst/>
          </a:prstGeom>
          <a:noFill/>
        </p:spPr>
        <p:txBody>
          <a:bodyPr wrap="square">
            <a:spAutoFit/>
          </a:bodyPr>
          <a:lstStyle/>
          <a:p/>
          <a:p>
            <a:pPr>
              <a:spcBef>
                <a:spcPts val="400"/>
              </a:spcBef>
              <a:spcAft>
                <a:spcPts val="300"/>
              </a:spcAft>
            </a:pPr>
            <a:r>
              <a:rPr sz="1700" b="0">
                <a:solidFill>
                  <a:srgbClr val="1A202C"/>
                </a:solidFill>
                <a:latin typeface="Yu Gothic"/>
              </a:rPr>
              <a:t>AI駆動型ソフトウェアエンジニアリングによる研究加速</a:t>
            </a:r>
          </a:p>
          <a:p>
            <a:pPr>
              <a:spcBef>
                <a:spcPts val="100"/>
              </a:spcBef>
            </a:pPr>
            <a:r>
              <a:rPr sz="1300">
                <a:solidFill>
                  <a:srgbClr val="4A5568"/>
                </a:solidFill>
                <a:latin typeface="Yu Gothic"/>
              </a:rPr>
              <a:t>    コーディング、データ分析、論文整備の自動化</a:t>
            </a:r>
          </a:p>
          <a:p>
            <a:pPr>
              <a:spcBef>
                <a:spcPts val="400"/>
              </a:spcBef>
              <a:spcAft>
                <a:spcPts val="300"/>
              </a:spcAft>
            </a:pPr>
            <a:r>
              <a:rPr sz="1700" b="0">
                <a:solidFill>
                  <a:srgbClr val="1A202C"/>
                </a:solidFill>
                <a:latin typeface="Yu Gothic"/>
              </a:rPr>
              <a:t>大学全体のDX推進の先行事例になり得る</a:t>
            </a:r>
          </a:p>
        </p:txBody>
      </p:sp>
      <p:sp>
        <p:nvSpPr>
          <p:cNvPr id="20" name="TextBox 19"/>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法人補助金の大学還流モデル</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554480"/>
            <a:ext cx="2286000" cy="914400"/>
          </a:xfrm>
          <a:prstGeom prst="roundRect">
            <a:avLst/>
          </a:prstGeom>
          <a:solidFill>
            <a:srgbClr val="FFFFFF"/>
          </a:solidFill>
          <a:ln w="25400">
            <a:solidFill>
              <a:srgbClr val="276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645920"/>
            <a:ext cx="2194560" cy="365760"/>
          </a:xfrm>
          <a:prstGeom prst="rect">
            <a:avLst/>
          </a:prstGeom>
          <a:noFill/>
        </p:spPr>
        <p:txBody>
          <a:bodyPr wrap="square">
            <a:spAutoFit/>
          </a:bodyPr>
          <a:lstStyle/>
          <a:p>
            <a:pPr algn="ctr">
              <a:defRPr sz="1400" b="1">
                <a:solidFill>
                  <a:srgbClr val="1A365D"/>
                </a:solidFill>
                <a:latin typeface="Yu Gothic"/>
              </a:defRPr>
            </a:pPr>
            <a:r>
              <a:t>大学発ベンチャー</a:t>
            </a:r>
          </a:p>
        </p:txBody>
      </p:sp>
      <p:sp>
        <p:nvSpPr>
          <p:cNvPr id="6" name="TextBox 5"/>
          <p:cNvSpPr txBox="1"/>
          <p:nvPr/>
        </p:nvSpPr>
        <p:spPr>
          <a:xfrm>
            <a:off x="1143000" y="2011680"/>
            <a:ext cx="2194560" cy="320040"/>
          </a:xfrm>
          <a:prstGeom prst="rect">
            <a:avLst/>
          </a:prstGeom>
          <a:noFill/>
        </p:spPr>
        <p:txBody>
          <a:bodyPr wrap="square">
            <a:spAutoFit/>
          </a:bodyPr>
          <a:lstStyle/>
          <a:p>
            <a:pPr algn="ctr">
              <a:defRPr sz="1100" b="0">
                <a:solidFill>
                  <a:srgbClr val="4A5568"/>
                </a:solidFill>
                <a:latin typeface="Yu Gothic"/>
              </a:defRPr>
            </a:pPr>
            <a:r>
              <a:t>技術・知見の事業化</a:t>
            </a:r>
          </a:p>
        </p:txBody>
      </p:sp>
      <p:sp>
        <p:nvSpPr>
          <p:cNvPr id="7" name="TextBox 6"/>
          <p:cNvSpPr txBox="1"/>
          <p:nvPr/>
        </p:nvSpPr>
        <p:spPr>
          <a:xfrm>
            <a:off x="3383280" y="155448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8" name="Rounded Rectangle 7"/>
          <p:cNvSpPr/>
          <p:nvPr/>
        </p:nvSpPr>
        <p:spPr>
          <a:xfrm>
            <a:off x="3840480" y="1554480"/>
            <a:ext cx="2286000" cy="914400"/>
          </a:xfrm>
          <a:prstGeom prst="roundRect">
            <a:avLst/>
          </a:prstGeom>
          <a:solidFill>
            <a:srgbClr val="FFFFFF"/>
          </a:solidFill>
          <a:ln w="2540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0" y="1645920"/>
            <a:ext cx="2194560" cy="365760"/>
          </a:xfrm>
          <a:prstGeom prst="rect">
            <a:avLst/>
          </a:prstGeom>
          <a:noFill/>
        </p:spPr>
        <p:txBody>
          <a:bodyPr wrap="square">
            <a:spAutoFit/>
          </a:bodyPr>
          <a:lstStyle/>
          <a:p>
            <a:pPr algn="ctr">
              <a:defRPr sz="1400" b="1">
                <a:solidFill>
                  <a:srgbClr val="1A365D"/>
                </a:solidFill>
                <a:latin typeface="Yu Gothic"/>
              </a:defRPr>
            </a:pPr>
            <a:r>
              <a:t>法人補助金取得</a:t>
            </a:r>
          </a:p>
        </p:txBody>
      </p:sp>
      <p:sp>
        <p:nvSpPr>
          <p:cNvPr id="10" name="TextBox 9"/>
          <p:cNvSpPr txBox="1"/>
          <p:nvPr/>
        </p:nvSpPr>
        <p:spPr>
          <a:xfrm>
            <a:off x="3886200" y="2011680"/>
            <a:ext cx="2194560" cy="320040"/>
          </a:xfrm>
          <a:prstGeom prst="rect">
            <a:avLst/>
          </a:prstGeom>
          <a:noFill/>
        </p:spPr>
        <p:txBody>
          <a:bodyPr wrap="square">
            <a:spAutoFit/>
          </a:bodyPr>
          <a:lstStyle/>
          <a:p>
            <a:pPr algn="ctr">
              <a:defRPr sz="1100" b="0">
                <a:solidFill>
                  <a:srgbClr val="4A5568"/>
                </a:solidFill>
                <a:latin typeface="Yu Gothic"/>
              </a:defRPr>
            </a:pPr>
            <a:r>
              <a:t>公的資金の獲得</a:t>
            </a:r>
          </a:p>
        </p:txBody>
      </p:sp>
      <p:sp>
        <p:nvSpPr>
          <p:cNvPr id="11" name="TextBox 10"/>
          <p:cNvSpPr txBox="1"/>
          <p:nvPr/>
        </p:nvSpPr>
        <p:spPr>
          <a:xfrm>
            <a:off x="6126480" y="1554480"/>
            <a:ext cx="457200" cy="914400"/>
          </a:xfrm>
          <a:prstGeom prst="rect">
            <a:avLst/>
          </a:prstGeom>
          <a:noFill/>
        </p:spPr>
        <p:txBody>
          <a:bodyPr wrap="square">
            <a:spAutoFit/>
          </a:bodyPr>
          <a:lstStyle/>
          <a:p>
            <a:pPr algn="ctr">
              <a:defRPr sz="2400" b="0">
                <a:solidFill>
                  <a:srgbClr val="2B6CB0"/>
                </a:solidFill>
                <a:latin typeface="Yu Gothic"/>
              </a:defRPr>
            </a:pPr>
            <a:r>
              <a:t>→</a:t>
            </a:r>
          </a:p>
        </p:txBody>
      </p:sp>
      <p:sp>
        <p:nvSpPr>
          <p:cNvPr id="12" name="Rounded Rectangle 11"/>
          <p:cNvSpPr/>
          <p:nvPr/>
        </p:nvSpPr>
        <p:spPr>
          <a:xfrm>
            <a:off x="6583680" y="1554480"/>
            <a:ext cx="2286000" cy="914400"/>
          </a:xfrm>
          <a:prstGeom prst="roundRect">
            <a:avLst/>
          </a:prstGeom>
          <a:solidFill>
            <a:srgbClr val="FFFFFF"/>
          </a:solidFill>
          <a:ln w="2540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645920"/>
            <a:ext cx="2194560" cy="365760"/>
          </a:xfrm>
          <a:prstGeom prst="rect">
            <a:avLst/>
          </a:prstGeom>
          <a:noFill/>
        </p:spPr>
        <p:txBody>
          <a:bodyPr wrap="square">
            <a:spAutoFit/>
          </a:bodyPr>
          <a:lstStyle/>
          <a:p>
            <a:pPr algn="ctr">
              <a:defRPr sz="1400" b="1">
                <a:solidFill>
                  <a:srgbClr val="1A365D"/>
                </a:solidFill>
                <a:latin typeface="Yu Gothic"/>
              </a:defRPr>
            </a:pPr>
            <a:r>
              <a:t>大学への還流</a:t>
            </a:r>
          </a:p>
        </p:txBody>
      </p:sp>
      <p:sp>
        <p:nvSpPr>
          <p:cNvPr id="14" name="TextBox 13"/>
          <p:cNvSpPr txBox="1"/>
          <p:nvPr/>
        </p:nvSpPr>
        <p:spPr>
          <a:xfrm>
            <a:off x="6629400" y="2011680"/>
            <a:ext cx="2194560" cy="320040"/>
          </a:xfrm>
          <a:prstGeom prst="rect">
            <a:avLst/>
          </a:prstGeom>
          <a:noFill/>
        </p:spPr>
        <p:txBody>
          <a:bodyPr wrap="square">
            <a:spAutoFit/>
          </a:bodyPr>
          <a:lstStyle/>
          <a:p>
            <a:pPr algn="ctr">
              <a:defRPr sz="1100" b="0">
                <a:solidFill>
                  <a:srgbClr val="4A5568"/>
                </a:solidFill>
                <a:latin typeface="Yu Gothic"/>
              </a:defRPr>
            </a:pPr>
            <a:r>
              <a:t>研究基盤の強化</a:t>
            </a:r>
          </a:p>
        </p:txBody>
      </p:sp>
      <p:sp>
        <p:nvSpPr>
          <p:cNvPr id="15" name="Rounded Rectangle 14"/>
          <p:cNvSpPr/>
          <p:nvPr/>
        </p:nvSpPr>
        <p:spPr>
          <a:xfrm>
            <a:off x="731520" y="2834640"/>
            <a:ext cx="10515600" cy="9144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834640"/>
            <a:ext cx="63500" cy="914400"/>
          </a:xfrm>
          <a:prstGeom prst="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907792"/>
            <a:ext cx="10241280" cy="228600"/>
          </a:xfrm>
          <a:prstGeom prst="rect">
            <a:avLst/>
          </a:prstGeom>
          <a:noFill/>
        </p:spPr>
        <p:txBody>
          <a:bodyPr wrap="square">
            <a:spAutoFit/>
          </a:bodyPr>
          <a:lstStyle/>
          <a:p>
            <a:pPr algn="l">
              <a:defRPr sz="1000" b="1">
                <a:solidFill>
                  <a:srgbClr val="B7791F"/>
                </a:solidFill>
                <a:latin typeface="Yu Gothic"/>
              </a:defRPr>
            </a:pPr>
            <a:r>
              <a:t>ビジョン</a:t>
            </a:r>
          </a:p>
        </p:txBody>
      </p:sp>
      <p:sp>
        <p:nvSpPr>
          <p:cNvPr id="18" name="TextBox 17"/>
          <p:cNvSpPr txBox="1"/>
          <p:nvPr/>
        </p:nvSpPr>
        <p:spPr>
          <a:xfrm>
            <a:off x="960120" y="3108960"/>
            <a:ext cx="10241280" cy="594360"/>
          </a:xfrm>
          <a:prstGeom prst="rect">
            <a:avLst/>
          </a:prstGeom>
          <a:noFill/>
        </p:spPr>
        <p:txBody>
          <a:bodyPr wrap="square">
            <a:spAutoFit/>
          </a:bodyPr>
          <a:lstStyle/>
          <a:p>
            <a:pPr algn="l">
              <a:defRPr sz="1500" b="0">
                <a:solidFill>
                  <a:srgbClr val="1A202C"/>
                </a:solidFill>
                <a:latin typeface="Yu Gothic"/>
              </a:defRPr>
            </a:pPr>
            <a:r>
              <a:t>大学発ベンチャーが獲得した法人補助金を大学の研究基盤に還流させるサステナブルなモデルを構築</a:t>
            </a:r>
          </a:p>
        </p:txBody>
      </p:sp>
      <p:sp>
        <p:nvSpPr>
          <p:cNvPr id="19" name="TextBox 18"/>
          <p:cNvSpPr txBox="1"/>
          <p:nvPr/>
        </p:nvSpPr>
        <p:spPr>
          <a:xfrm>
            <a:off x="914400" y="4023360"/>
            <a:ext cx="10058400" cy="1828800"/>
          </a:xfrm>
          <a:prstGeom prst="rect">
            <a:avLst/>
          </a:prstGeom>
          <a:noFill/>
        </p:spPr>
        <p:txBody>
          <a:bodyPr wrap="square">
            <a:spAutoFit/>
          </a:bodyPr>
          <a:lstStyle/>
          <a:p/>
          <a:p>
            <a:pPr>
              <a:spcBef>
                <a:spcPts val="400"/>
              </a:spcBef>
              <a:spcAft>
                <a:spcPts val="300"/>
              </a:spcAft>
            </a:pPr>
            <a:r>
              <a:rPr sz="1700" b="0">
                <a:solidFill>
                  <a:srgbClr val="1A202C"/>
                </a:solidFill>
                <a:latin typeface="Yu Gothic"/>
              </a:rPr>
              <a:t>産学連携の成果を大学運営に直接貢献させる仕組み</a:t>
            </a:r>
          </a:p>
          <a:p>
            <a:pPr>
              <a:spcBef>
                <a:spcPts val="400"/>
              </a:spcBef>
              <a:spcAft>
                <a:spcPts val="300"/>
              </a:spcAft>
            </a:pPr>
            <a:r>
              <a:rPr sz="1700" b="0">
                <a:solidFill>
                  <a:srgbClr val="1A202C"/>
                </a:solidFill>
                <a:latin typeface="Yu Gothic"/>
              </a:rPr>
              <a:t>ベンチャー → 補助金 → 大学 の好循環サイクル</a:t>
            </a:r>
          </a:p>
        </p:txBody>
      </p:sp>
      <p:sp>
        <p:nvSpPr>
          <p:cNvPr id="20" name="TextBox 19"/>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産学連携の展開</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3474720" cy="365760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88720"/>
            <a:ext cx="63500" cy="3657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3108960" cy="365760"/>
          </a:xfrm>
          <a:prstGeom prst="rect">
            <a:avLst/>
          </a:prstGeom>
          <a:noFill/>
        </p:spPr>
        <p:txBody>
          <a:bodyPr wrap="square">
            <a:spAutoFit/>
          </a:bodyPr>
          <a:lstStyle/>
          <a:p>
            <a:pPr algn="l">
              <a:defRPr sz="1700" b="1">
                <a:solidFill>
                  <a:srgbClr val="1A365D"/>
                </a:solidFill>
                <a:latin typeface="Yu Gothic"/>
              </a:defRPr>
            </a:pPr>
            <a:r>
              <a:t>シフト作成の最適化</a:t>
            </a:r>
          </a:p>
        </p:txBody>
      </p:sp>
      <p:sp>
        <p:nvSpPr>
          <p:cNvPr id="7" name="TextBox 6"/>
          <p:cNvSpPr txBox="1"/>
          <p:nvPr/>
        </p:nvSpPr>
        <p:spPr>
          <a:xfrm>
            <a:off x="914400" y="1828800"/>
            <a:ext cx="3108960" cy="2286000"/>
          </a:xfrm>
          <a:prstGeom prst="rect">
            <a:avLst/>
          </a:prstGeom>
          <a:noFill/>
        </p:spPr>
        <p:txBody>
          <a:bodyPr wrap="square">
            <a:spAutoFit/>
          </a:bodyPr>
          <a:lstStyle/>
          <a:p/>
          <a:p>
            <a:pPr>
              <a:spcBef>
                <a:spcPts val="400"/>
              </a:spcBef>
              <a:spcAft>
                <a:spcPts val="300"/>
              </a:spcAft>
            </a:pPr>
            <a:r>
              <a:rPr sz="1300" b="0">
                <a:solidFill>
                  <a:srgbClr val="1A202C"/>
                </a:solidFill>
                <a:latin typeface="Yu Gothic"/>
              </a:rPr>
              <a:t>▸ 手法：数値最適化</a:t>
            </a:r>
          </a:p>
          <a:p>
            <a:pPr>
              <a:spcBef>
                <a:spcPts val="400"/>
              </a:spcBef>
              <a:spcAft>
                <a:spcPts val="300"/>
              </a:spcAft>
            </a:pPr>
            <a:r>
              <a:rPr sz="1300" b="0">
                <a:solidFill>
                  <a:srgbClr val="1A202C"/>
                </a:solidFill>
                <a:latin typeface="Yu Gothic"/>
              </a:rPr>
              <a:t>▸ 実績：導入済 ✓</a:t>
            </a:r>
          </a:p>
          <a:p>
            <a:pPr>
              <a:spcBef>
                <a:spcPts val="400"/>
              </a:spcBef>
              <a:spcAft>
                <a:spcPts val="300"/>
              </a:spcAft>
            </a:pPr>
            <a:r>
              <a:rPr sz="1300" b="0">
                <a:solidFill>
                  <a:srgbClr val="1A202C"/>
                </a:solidFill>
                <a:latin typeface="Yu Gothic"/>
              </a:rPr>
              <a:t>▸ 公平性・連続勤務制限</a:t>
            </a:r>
          </a:p>
          <a:p>
            <a:pPr>
              <a:spcBef>
                <a:spcPts val="400"/>
              </a:spcBef>
              <a:spcAft>
                <a:spcPts val="300"/>
              </a:spcAft>
            </a:pPr>
            <a:r>
              <a:rPr sz="1300" b="0">
                <a:solidFill>
                  <a:srgbClr val="1A202C"/>
                </a:solidFill>
                <a:latin typeface="Yu Gothic"/>
              </a:rPr>
              <a:t>▸ コスト削減 + 満足度両立</a:t>
            </a:r>
          </a:p>
        </p:txBody>
      </p:sp>
      <p:sp>
        <p:nvSpPr>
          <p:cNvPr id="8" name="Rounded Rectangle 7"/>
          <p:cNvSpPr/>
          <p:nvPr/>
        </p:nvSpPr>
        <p:spPr>
          <a:xfrm>
            <a:off x="914400" y="4114800"/>
            <a:ext cx="630936"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23944"/>
            <a:ext cx="630936" cy="256032"/>
          </a:xfrm>
          <a:prstGeom prst="rect">
            <a:avLst/>
          </a:prstGeom>
          <a:noFill/>
        </p:spPr>
        <p:txBody>
          <a:bodyPr wrap="square">
            <a:spAutoFit/>
          </a:bodyPr>
          <a:lstStyle/>
          <a:p>
            <a:pPr algn="ctr">
              <a:defRPr sz="1000" b="1">
                <a:solidFill>
                  <a:srgbClr val="FFFFFF"/>
                </a:solidFill>
                <a:latin typeface="Yu Gothic"/>
              </a:defRPr>
            </a:pPr>
            <a:r>
              <a:t>最適化</a:t>
            </a:r>
          </a:p>
        </p:txBody>
      </p:sp>
      <p:sp>
        <p:nvSpPr>
          <p:cNvPr id="10" name="Rounded Rectangle 9"/>
          <p:cNvSpPr/>
          <p:nvPr/>
        </p:nvSpPr>
        <p:spPr>
          <a:xfrm>
            <a:off x="1618488" y="4114800"/>
            <a:ext cx="475488" cy="274320"/>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8488" y="4123944"/>
            <a:ext cx="475488" cy="256032"/>
          </a:xfrm>
          <a:prstGeom prst="rect">
            <a:avLst/>
          </a:prstGeom>
          <a:noFill/>
        </p:spPr>
        <p:txBody>
          <a:bodyPr wrap="square">
            <a:spAutoFit/>
          </a:bodyPr>
          <a:lstStyle/>
          <a:p>
            <a:pPr algn="ctr">
              <a:defRPr sz="1000" b="1">
                <a:solidFill>
                  <a:srgbClr val="FFFFFF"/>
                </a:solidFill>
                <a:latin typeface="Yu Gothic"/>
              </a:defRPr>
            </a:pPr>
            <a:r>
              <a:t>OR</a:t>
            </a:r>
          </a:p>
        </p:txBody>
      </p:sp>
      <p:sp>
        <p:nvSpPr>
          <p:cNvPr id="12" name="Rounded Rectangle 11"/>
          <p:cNvSpPr/>
          <p:nvPr/>
        </p:nvSpPr>
        <p:spPr>
          <a:xfrm>
            <a:off x="4480560" y="1188720"/>
            <a:ext cx="3474720" cy="365760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188720"/>
            <a:ext cx="63500" cy="3657600"/>
          </a:xfrm>
          <a:prstGeom prst="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371600"/>
            <a:ext cx="3108960" cy="365760"/>
          </a:xfrm>
          <a:prstGeom prst="rect">
            <a:avLst/>
          </a:prstGeom>
          <a:noFill/>
        </p:spPr>
        <p:txBody>
          <a:bodyPr wrap="square">
            <a:spAutoFit/>
          </a:bodyPr>
          <a:lstStyle/>
          <a:p>
            <a:pPr algn="l">
              <a:defRPr sz="1700" b="1">
                <a:solidFill>
                  <a:srgbClr val="1A365D"/>
                </a:solidFill>
                <a:latin typeface="Yu Gothic"/>
              </a:defRPr>
            </a:pPr>
            <a:r>
              <a:t>学術支援</a:t>
            </a:r>
          </a:p>
        </p:txBody>
      </p:sp>
      <p:sp>
        <p:nvSpPr>
          <p:cNvPr id="15" name="TextBox 14"/>
          <p:cNvSpPr txBox="1"/>
          <p:nvPr/>
        </p:nvSpPr>
        <p:spPr>
          <a:xfrm>
            <a:off x="4663440" y="1828800"/>
            <a:ext cx="3108960" cy="2286000"/>
          </a:xfrm>
          <a:prstGeom prst="rect">
            <a:avLst/>
          </a:prstGeom>
          <a:noFill/>
        </p:spPr>
        <p:txBody>
          <a:bodyPr wrap="square">
            <a:spAutoFit/>
          </a:bodyPr>
          <a:lstStyle/>
          <a:p/>
          <a:p>
            <a:pPr>
              <a:spcBef>
                <a:spcPts val="400"/>
              </a:spcBef>
              <a:spcAft>
                <a:spcPts val="300"/>
              </a:spcAft>
            </a:pPr>
            <a:r>
              <a:rPr sz="1300" b="0">
                <a:solidFill>
                  <a:srgbClr val="1A202C"/>
                </a:solidFill>
                <a:latin typeface="Yu Gothic"/>
              </a:rPr>
              <a:t>▸ 実績：導入済 ✓</a:t>
            </a:r>
          </a:p>
          <a:p>
            <a:pPr>
              <a:spcBef>
                <a:spcPts val="400"/>
              </a:spcBef>
              <a:spcAft>
                <a:spcPts val="300"/>
              </a:spcAft>
            </a:pPr>
            <a:r>
              <a:rPr sz="1300" b="0">
                <a:solidFill>
                  <a:srgbClr val="1A202C"/>
                </a:solidFill>
                <a:latin typeface="Yu Gothic"/>
              </a:rPr>
              <a:t>▸ 論文執筆・データ解析</a:t>
            </a:r>
          </a:p>
          <a:p>
            <a:pPr>
              <a:spcBef>
                <a:spcPts val="400"/>
              </a:spcBef>
              <a:spcAft>
                <a:spcPts val="300"/>
              </a:spcAft>
            </a:pPr>
            <a:r>
              <a:rPr sz="1300" b="0">
                <a:solidFill>
                  <a:srgbClr val="1A202C"/>
                </a:solidFill>
                <a:latin typeface="Yu Gothic"/>
              </a:rPr>
              <a:t>▸ 統計コンサルティング</a:t>
            </a:r>
          </a:p>
          <a:p>
            <a:pPr>
              <a:spcBef>
                <a:spcPts val="400"/>
              </a:spcBef>
              <a:spcAft>
                <a:spcPts val="300"/>
              </a:spcAft>
            </a:pPr>
            <a:r>
              <a:rPr sz="1300" b="0">
                <a:solidFill>
                  <a:srgbClr val="1A202C"/>
                </a:solidFill>
                <a:latin typeface="Yu Gothic"/>
              </a:rPr>
              <a:t>▸ 研究デザイン助言</a:t>
            </a:r>
          </a:p>
        </p:txBody>
      </p:sp>
      <p:sp>
        <p:nvSpPr>
          <p:cNvPr id="16" name="Rounded Rectangle 15"/>
          <p:cNvSpPr/>
          <p:nvPr/>
        </p:nvSpPr>
        <p:spPr>
          <a:xfrm>
            <a:off x="4663440" y="4114800"/>
            <a:ext cx="475488" cy="2743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4123944"/>
            <a:ext cx="475488" cy="256032"/>
          </a:xfrm>
          <a:prstGeom prst="rect">
            <a:avLst/>
          </a:prstGeom>
          <a:noFill/>
        </p:spPr>
        <p:txBody>
          <a:bodyPr wrap="square">
            <a:spAutoFit/>
          </a:bodyPr>
          <a:lstStyle/>
          <a:p>
            <a:pPr algn="ctr">
              <a:defRPr sz="1000" b="1">
                <a:solidFill>
                  <a:srgbClr val="FFFFFF"/>
                </a:solidFill>
                <a:latin typeface="Yu Gothic"/>
              </a:defRPr>
            </a:pPr>
            <a:r>
              <a:t>統計</a:t>
            </a:r>
          </a:p>
        </p:txBody>
      </p:sp>
      <p:sp>
        <p:nvSpPr>
          <p:cNvPr id="18" name="Rounded Rectangle 17"/>
          <p:cNvSpPr/>
          <p:nvPr/>
        </p:nvSpPr>
        <p:spPr>
          <a:xfrm>
            <a:off x="5212080" y="4114800"/>
            <a:ext cx="786384" cy="27432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4123944"/>
            <a:ext cx="786384" cy="256032"/>
          </a:xfrm>
          <a:prstGeom prst="rect">
            <a:avLst/>
          </a:prstGeom>
          <a:noFill/>
        </p:spPr>
        <p:txBody>
          <a:bodyPr wrap="square">
            <a:spAutoFit/>
          </a:bodyPr>
          <a:lstStyle/>
          <a:p>
            <a:pPr algn="ctr">
              <a:defRPr sz="1000" b="1">
                <a:solidFill>
                  <a:srgbClr val="FFFFFF"/>
                </a:solidFill>
                <a:latin typeface="Yu Gothic"/>
              </a:defRPr>
            </a:pPr>
            <a:r>
              <a:t>論文支援</a:t>
            </a:r>
          </a:p>
        </p:txBody>
      </p:sp>
      <p:sp>
        <p:nvSpPr>
          <p:cNvPr id="20" name="Rounded Rectangle 19"/>
          <p:cNvSpPr/>
          <p:nvPr/>
        </p:nvSpPr>
        <p:spPr>
          <a:xfrm>
            <a:off x="8229600" y="1188720"/>
            <a:ext cx="3474720" cy="3657600"/>
          </a:xfrm>
          <a:prstGeom prst="roundRect">
            <a:avLst/>
          </a:prstGeom>
          <a:solidFill>
            <a:srgbClr val="FFFFFF"/>
          </a:solidFill>
          <a:ln w="254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188720"/>
            <a:ext cx="63500" cy="3657600"/>
          </a:xfrm>
          <a:prstGeom prst="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371600"/>
            <a:ext cx="3108960" cy="365760"/>
          </a:xfrm>
          <a:prstGeom prst="rect">
            <a:avLst/>
          </a:prstGeom>
          <a:noFill/>
        </p:spPr>
        <p:txBody>
          <a:bodyPr wrap="square">
            <a:spAutoFit/>
          </a:bodyPr>
          <a:lstStyle/>
          <a:p>
            <a:pPr algn="l">
              <a:defRPr sz="1700" b="1">
                <a:solidFill>
                  <a:srgbClr val="1A365D"/>
                </a:solidFill>
                <a:latin typeface="Yu Gothic"/>
              </a:defRPr>
            </a:pPr>
            <a:r>
              <a:t>論文ダッシュボード</a:t>
            </a:r>
          </a:p>
        </p:txBody>
      </p:sp>
      <p:sp>
        <p:nvSpPr>
          <p:cNvPr id="23" name="TextBox 22"/>
          <p:cNvSpPr txBox="1"/>
          <p:nvPr/>
        </p:nvSpPr>
        <p:spPr>
          <a:xfrm>
            <a:off x="8412480" y="1828800"/>
            <a:ext cx="3108960" cy="2286000"/>
          </a:xfrm>
          <a:prstGeom prst="rect">
            <a:avLst/>
          </a:prstGeom>
          <a:noFill/>
        </p:spPr>
        <p:txBody>
          <a:bodyPr wrap="square">
            <a:spAutoFit/>
          </a:bodyPr>
          <a:lstStyle/>
          <a:p/>
          <a:p>
            <a:pPr>
              <a:spcBef>
                <a:spcPts val="400"/>
              </a:spcBef>
              <a:spcAft>
                <a:spcPts val="300"/>
              </a:spcAft>
            </a:pPr>
            <a:r>
              <a:rPr sz="1300" b="0">
                <a:solidFill>
                  <a:srgbClr val="1A202C"/>
                </a:solidFill>
                <a:latin typeface="Yu Gothic"/>
              </a:rPr>
              <a:t>▸ 論文管理用に自作</a:t>
            </a:r>
          </a:p>
          <a:p>
            <a:pPr>
              <a:spcBef>
                <a:spcPts val="400"/>
              </a:spcBef>
              <a:spcAft>
                <a:spcPts val="300"/>
              </a:spcAft>
            </a:pPr>
            <a:r>
              <a:rPr sz="1300" b="0">
                <a:solidFill>
                  <a:srgbClr val="1A202C"/>
                </a:solidFill>
                <a:latin typeface="Yu Gothic"/>
              </a:rPr>
              <a:t>▸ センターのプロジェクト管理に活用</a:t>
            </a:r>
          </a:p>
          <a:p>
            <a:pPr>
              <a:spcBef>
                <a:spcPts val="400"/>
              </a:spcBef>
              <a:spcAft>
                <a:spcPts val="300"/>
              </a:spcAft>
            </a:pPr>
            <a:r>
              <a:rPr sz="1300" b="0">
                <a:solidFill>
                  <a:srgbClr val="1A202C"/>
                </a:solidFill>
                <a:latin typeface="Yu Gothic"/>
              </a:rPr>
              <a:t>▸ 目標：論文100本</a:t>
            </a:r>
          </a:p>
        </p:txBody>
      </p:sp>
      <p:sp>
        <p:nvSpPr>
          <p:cNvPr id="24" name="Rounded Rectangle 23"/>
          <p:cNvSpPr/>
          <p:nvPr/>
        </p:nvSpPr>
        <p:spPr>
          <a:xfrm>
            <a:off x="8412480" y="4114800"/>
            <a:ext cx="941832" cy="274320"/>
          </a:xfrm>
          <a:prstGeom prst="roundRect">
            <a:avLst/>
          </a:prstGeom>
          <a:solidFill>
            <a:srgbClr val="553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4123944"/>
            <a:ext cx="941832" cy="256032"/>
          </a:xfrm>
          <a:prstGeom prst="rect">
            <a:avLst/>
          </a:prstGeom>
          <a:noFill/>
        </p:spPr>
        <p:txBody>
          <a:bodyPr wrap="square">
            <a:spAutoFit/>
          </a:bodyPr>
          <a:lstStyle/>
          <a:p>
            <a:pPr algn="ctr">
              <a:defRPr sz="1000" b="1">
                <a:solidFill>
                  <a:srgbClr val="FFFFFF"/>
                </a:solidFill>
                <a:latin typeface="Yu Gothic"/>
              </a:defRPr>
            </a:pPr>
            <a:r>
              <a:t>管理ツール</a:t>
            </a:r>
          </a:p>
        </p:txBody>
      </p:sp>
      <p:sp>
        <p:nvSpPr>
          <p:cNvPr id="26" name="Rounded Rectangle 25"/>
          <p:cNvSpPr/>
          <p:nvPr/>
        </p:nvSpPr>
        <p:spPr>
          <a:xfrm>
            <a:off x="731520" y="5120640"/>
            <a:ext cx="10698480" cy="731520"/>
          </a:xfrm>
          <a:prstGeom prst="roundRect">
            <a:avLst/>
          </a:prstGeom>
          <a:solidFill>
            <a:srgbClr val="C6F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120640"/>
            <a:ext cx="63500" cy="731520"/>
          </a:xfrm>
          <a:prstGeom prst="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193792"/>
            <a:ext cx="10424160" cy="228600"/>
          </a:xfrm>
          <a:prstGeom prst="rect">
            <a:avLst/>
          </a:prstGeom>
          <a:noFill/>
        </p:spPr>
        <p:txBody>
          <a:bodyPr wrap="square">
            <a:spAutoFit/>
          </a:bodyPr>
          <a:lstStyle/>
          <a:p>
            <a:pPr algn="l">
              <a:defRPr sz="1000" b="1">
                <a:solidFill>
                  <a:srgbClr val="276749"/>
                </a:solidFill>
                <a:latin typeface="Yu Gothic"/>
              </a:defRPr>
            </a:pPr>
            <a:r>
              <a:t>目標</a:t>
            </a:r>
          </a:p>
        </p:txBody>
      </p:sp>
      <p:sp>
        <p:nvSpPr>
          <p:cNvPr id="29" name="TextBox 28"/>
          <p:cNvSpPr txBox="1"/>
          <p:nvPr/>
        </p:nvSpPr>
        <p:spPr>
          <a:xfrm>
            <a:off x="960120" y="5394960"/>
            <a:ext cx="10424160" cy="411480"/>
          </a:xfrm>
          <a:prstGeom prst="rect">
            <a:avLst/>
          </a:prstGeom>
          <a:noFill/>
        </p:spPr>
        <p:txBody>
          <a:bodyPr wrap="square">
            <a:spAutoFit/>
          </a:bodyPr>
          <a:lstStyle/>
          <a:p>
            <a:pPr algn="l">
              <a:defRPr sz="1500" b="0">
                <a:solidFill>
                  <a:srgbClr val="1A202C"/>
                </a:solidFill>
                <a:latin typeface="Yu Gothic"/>
              </a:defRPr>
            </a:pPr>
            <a:r>
              <a:t>導入実績のあるシフト最適化・学術支援を基盤に学内外へ展開。論文ダッシュボードでセンター業務を効率化。</a:t>
            </a:r>
          </a:p>
        </p:txBody>
      </p:sp>
      <p:sp>
        <p:nvSpPr>
          <p:cNvPr id="30" name="TextBox 29"/>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320040"/>
            <a:ext cx="10515600" cy="548640"/>
          </a:xfrm>
          <a:prstGeom prst="rect">
            <a:avLst/>
          </a:prstGeom>
          <a:noFill/>
        </p:spPr>
        <p:txBody>
          <a:bodyPr wrap="square">
            <a:spAutoFit/>
          </a:bodyPr>
          <a:lstStyle/>
          <a:p>
            <a:pPr algn="l">
              <a:defRPr sz="3200" b="1">
                <a:solidFill>
                  <a:srgbClr val="1A365D"/>
                </a:solidFill>
                <a:latin typeface="Yu Gothic"/>
              </a:defRPr>
            </a:pPr>
            <a:r>
              <a:t>研究上の方針</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914400"/>
          </a:xfrm>
          <a:prstGeom prst="roundRect">
            <a:avLst/>
          </a:prstGeom>
          <a:solidFill>
            <a:srgbClr val="FE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63500" cy="914400"/>
          </a:xfrm>
          <a:prstGeom prst="rect">
            <a:avLst/>
          </a:prstGeom>
          <a:solidFill>
            <a:srgbClr val="9B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19072"/>
            <a:ext cx="10241280" cy="228600"/>
          </a:xfrm>
          <a:prstGeom prst="rect">
            <a:avLst/>
          </a:prstGeom>
          <a:noFill/>
        </p:spPr>
        <p:txBody>
          <a:bodyPr wrap="square">
            <a:spAutoFit/>
          </a:bodyPr>
          <a:lstStyle/>
          <a:p>
            <a:pPr algn="l">
              <a:defRPr sz="1000" b="1">
                <a:solidFill>
                  <a:srgbClr val="9B2C2C"/>
                </a:solidFill>
                <a:latin typeface="Yu Gothic"/>
              </a:defRPr>
            </a:pPr>
            <a:r>
              <a:t>留意事項</a:t>
            </a:r>
          </a:p>
        </p:txBody>
      </p:sp>
      <p:sp>
        <p:nvSpPr>
          <p:cNvPr id="7" name="TextBox 6"/>
          <p:cNvSpPr txBox="1"/>
          <p:nvPr/>
        </p:nvSpPr>
        <p:spPr>
          <a:xfrm>
            <a:off x="960120" y="1920240"/>
            <a:ext cx="10241280" cy="594360"/>
          </a:xfrm>
          <a:prstGeom prst="rect">
            <a:avLst/>
          </a:prstGeom>
          <a:noFill/>
        </p:spPr>
        <p:txBody>
          <a:bodyPr wrap="square">
            <a:spAutoFit/>
          </a:bodyPr>
          <a:lstStyle/>
          <a:p>
            <a:pPr algn="l">
              <a:defRPr sz="1500" b="0">
                <a:solidFill>
                  <a:srgbClr val="1A202C"/>
                </a:solidFill>
                <a:latin typeface="Yu Gothic"/>
              </a:defRPr>
            </a:pPr>
            <a:r>
              <a:t>特定の研究者（佐藤俊哉氏）との共同研究は行わない方針</a:t>
            </a:r>
          </a:p>
        </p:txBody>
      </p:sp>
      <p:sp>
        <p:nvSpPr>
          <p:cNvPr id="8" name="TextBox 7"/>
          <p:cNvSpPr txBox="1"/>
          <p:nvPr/>
        </p:nvSpPr>
        <p:spPr>
          <a:xfrm>
            <a:off x="914400" y="2926080"/>
            <a:ext cx="10058400" cy="2743200"/>
          </a:xfrm>
          <a:prstGeom prst="rect">
            <a:avLst/>
          </a:prstGeom>
          <a:noFill/>
        </p:spPr>
        <p:txBody>
          <a:bodyPr wrap="square">
            <a:spAutoFit/>
          </a:bodyPr>
          <a:lstStyle/>
          <a:p/>
          <a:p>
            <a:pPr>
              <a:spcBef>
                <a:spcPts val="400"/>
              </a:spcBef>
              <a:spcAft>
                <a:spcPts val="300"/>
              </a:spcAft>
            </a:pPr>
            <a:r>
              <a:rPr sz="1800" b="0">
                <a:solidFill>
                  <a:srgbClr val="1A202C"/>
                </a:solidFill>
                <a:latin typeface="Yu Gothic"/>
              </a:rPr>
              <a:t>独自の研究ラインを確立・維持する</a:t>
            </a:r>
          </a:p>
          <a:p>
            <a:pPr>
              <a:spcBef>
                <a:spcPts val="100"/>
              </a:spcBef>
            </a:pPr>
            <a:r>
              <a:rPr sz="1300">
                <a:solidFill>
                  <a:srgbClr val="4A5568"/>
                </a:solidFill>
                <a:latin typeface="Yu Gothic"/>
              </a:rPr>
              <a:t>    研究の独立性と方向性を自ら決定</a:t>
            </a:r>
          </a:p>
          <a:p>
            <a:pPr>
              <a:spcBef>
                <a:spcPts val="400"/>
              </a:spcBef>
              <a:spcAft>
                <a:spcPts val="300"/>
              </a:spcAft>
            </a:pPr>
            <a:r>
              <a:rPr sz="1800" b="0">
                <a:solidFill>
                  <a:srgbClr val="1A202C"/>
                </a:solidFill>
                <a:latin typeface="Yu Gothic"/>
              </a:rPr>
              <a:t>共同研究は研究ビジョンが合致する相手と進める</a:t>
            </a:r>
          </a:p>
          <a:p>
            <a:pPr>
              <a:spcBef>
                <a:spcPts val="100"/>
              </a:spcBef>
            </a:pPr>
            <a:r>
              <a:rPr sz="1300">
                <a:solidFill>
                  <a:srgbClr val="4A5568"/>
                </a:solidFill>
                <a:latin typeface="Yu Gothic"/>
              </a:rPr>
              <a:t>    相互補完的で建設的なパートナーシップを重視</a:t>
            </a:r>
          </a:p>
        </p:txBody>
      </p:sp>
      <p:sp>
        <p:nvSpPr>
          <p:cNvPr id="9" name="TextBox 8"/>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914400" y="731520"/>
            <a:ext cx="10332720" cy="731520"/>
          </a:xfrm>
          <a:prstGeom prst="rect">
            <a:avLst/>
          </a:prstGeom>
          <a:noFill/>
        </p:spPr>
        <p:txBody>
          <a:bodyPr wrap="square">
            <a:spAutoFit/>
          </a:bodyPr>
          <a:lstStyle/>
          <a:p>
            <a:pPr algn="ctr">
              <a:defRPr sz="4200" b="1">
                <a:solidFill>
                  <a:srgbClr val="FFFFFF"/>
                </a:solidFill>
                <a:latin typeface="Yu Gothic"/>
              </a:defRPr>
            </a:pPr>
            <a:r>
              <a:t>まとめ</a:t>
            </a:r>
          </a:p>
        </p:txBody>
      </p:sp>
      <p:sp>
        <p:nvSpPr>
          <p:cNvPr id="3" name="Rectangle 2"/>
          <p:cNvSpPr/>
          <p:nvPr/>
        </p:nvSpPr>
        <p:spPr>
          <a:xfrm>
            <a:off x="5029200" y="1554480"/>
            <a:ext cx="210312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2011680"/>
            <a:ext cx="7589520" cy="4114800"/>
          </a:xfrm>
          <a:prstGeom prst="rect">
            <a:avLst/>
          </a:prstGeom>
          <a:noFill/>
        </p:spPr>
        <p:txBody>
          <a:bodyPr wrap="square">
            <a:spAutoFit/>
          </a:bodyPr>
          <a:lstStyle/>
          <a:p/>
          <a:p>
            <a:pPr>
              <a:spcBef>
                <a:spcPts val="400"/>
              </a:spcBef>
              <a:spcAft>
                <a:spcPts val="300"/>
              </a:spcAft>
            </a:pPr>
            <a:r>
              <a:rPr sz="1800" b="0">
                <a:solidFill>
                  <a:srgbClr val="DDDDDD"/>
                </a:solidFill>
                <a:latin typeface="Yu Gothic"/>
              </a:rPr>
              <a:t>◆  医学部→麻酔科→医工連携→公衆衛生→起業→DSのキャリア遷移</a:t>
            </a:r>
          </a:p>
          <a:p>
            <a:pPr>
              <a:spcBef>
                <a:spcPts val="400"/>
              </a:spcBef>
              <a:spcAft>
                <a:spcPts val="300"/>
              </a:spcAft>
            </a:pPr>
            <a:r>
              <a:rPr sz="1800" b="0">
                <a:solidFill>
                  <a:srgbClr val="DDDDDD"/>
                </a:solidFill>
                <a:latin typeface="Yu Gothic"/>
              </a:rPr>
              <a:t>◆  墨東病院「天才麻酔科医」— 麻酔科を卒業して新たな挑戦へ</a:t>
            </a:r>
          </a:p>
          <a:p>
            <a:pPr>
              <a:spcBef>
                <a:spcPts val="400"/>
              </a:spcBef>
              <a:spcAft>
                <a:spcPts val="300"/>
              </a:spcAft>
            </a:pPr>
            <a:r>
              <a:rPr sz="1800" b="0">
                <a:solidFill>
                  <a:srgbClr val="DDDDDD"/>
                </a:solidFill>
                <a:latin typeface="Yu Gothic"/>
              </a:rPr>
              <a:t>◆  データの上流に遡り手法をつくる側へ（hikone → JMLR）</a:t>
            </a:r>
          </a:p>
          <a:p>
            <a:pPr>
              <a:spcBef>
                <a:spcPts val="400"/>
              </a:spcBef>
              <a:spcAft>
                <a:spcPts val="300"/>
              </a:spcAft>
            </a:pPr>
            <a:r>
              <a:rPr sz="1800" b="0">
                <a:solidFill>
                  <a:srgbClr val="DDDDDD"/>
                </a:solidFill>
                <a:latin typeface="Yu Gothic"/>
              </a:rPr>
              <a:t>◆  滋賀大学 × 滋賀医科大学のドメイン知識通訳</a:t>
            </a:r>
          </a:p>
          <a:p>
            <a:pPr>
              <a:spcBef>
                <a:spcPts val="400"/>
              </a:spcBef>
              <a:spcAft>
                <a:spcPts val="300"/>
              </a:spcAft>
            </a:pPr>
            <a:r>
              <a:rPr sz="1800" b="0">
                <a:solidFill>
                  <a:srgbClr val="DDDDDD"/>
                </a:solidFill>
                <a:latin typeface="Yu Gothic"/>
              </a:rPr>
              <a:t>◆  Devin導入・法人補助金還流・シフト最適化・学術支援</a:t>
            </a:r>
          </a:p>
          <a:p>
            <a:pPr>
              <a:spcBef>
                <a:spcPts val="400"/>
              </a:spcBef>
              <a:spcAft>
                <a:spcPts val="300"/>
              </a:spcAft>
            </a:pPr>
            <a:r>
              <a:rPr sz="1800" b="0">
                <a:solidFill>
                  <a:srgbClr val="DDDDDD"/>
                </a:solidFill>
                <a:latin typeface="Yu Gothic"/>
              </a:rPr>
              <a:t>◆  論文100本を目標に、蝋人形を目指す</a:t>
            </a:r>
          </a:p>
        </p:txBody>
      </p:sp>
      <p:sp>
        <p:nvSpPr>
          <p:cNvPr id="5" name="TextBox 4"/>
          <p:cNvSpPr txBox="1"/>
          <p:nvPr/>
        </p:nvSpPr>
        <p:spPr>
          <a:xfrm>
            <a:off x="914400" y="5852160"/>
            <a:ext cx="10332720" cy="457200"/>
          </a:xfrm>
          <a:prstGeom prst="rect">
            <a:avLst/>
          </a:prstGeom>
          <a:noFill/>
        </p:spPr>
        <p:txBody>
          <a:bodyPr wrap="square">
            <a:spAutoFit/>
          </a:bodyPr>
          <a:lstStyle/>
          <a:p>
            <a:pPr algn="ctr">
              <a:defRPr sz="1600" b="0">
                <a:solidFill>
                  <a:srgbClr val="999999"/>
                </a:solidFill>
                <a:latin typeface="Yu Gothic"/>
              </a:defRPr>
            </a:pPr>
            <a:r>
              <a:t>ご清聴ありがとうございました</a:t>
            </a:r>
          </a:p>
        </p:txBody>
      </p:sp>
      <p:sp>
        <p:nvSpPr>
          <p:cNvPr id="6" name="TextBox 5"/>
          <p:cNvSpPr txBox="1"/>
          <p:nvPr/>
        </p:nvSpPr>
        <p:spPr>
          <a:xfrm>
            <a:off x="365760" y="6400800"/>
            <a:ext cx="914400" cy="274320"/>
          </a:xfrm>
          <a:prstGeom prst="rect">
            <a:avLst/>
          </a:prstGeom>
          <a:noFill/>
        </p:spPr>
        <p:txBody>
          <a:bodyPr wrap="square">
            <a:spAutoFit/>
          </a:bodyPr>
          <a:lstStyle/>
          <a:p>
            <a:pPr algn="l">
              <a:defRPr sz="1000" b="0">
                <a:solidFill>
                  <a:srgbClr val="4A5568"/>
                </a:solidFill>
                <a:latin typeface="Yu Gothic"/>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