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32720" cy="1828800"/>
          </a:xfrm>
          <a:prstGeom prst="rect">
            <a:avLst/>
          </a:prstGeom>
          <a:noFill/>
        </p:spPr>
        <p:txBody>
          <a:bodyPr wrap="square">
            <a:spAutoFit/>
          </a:bodyPr>
          <a:lstStyle/>
          <a:p>
            <a:pPr algn="ctr">
              <a:defRPr sz="2400" b="1">
                <a:solidFill>
                  <a:srgbClr val="1A1A2E"/>
                </a:solidFill>
                <a:latin typeface="Arial"/>
              </a:defRPr>
            </a:pPr>
            <a:r>
              <a:t>Beyond Bland-Altman: Concordance Correlation Coefficient Decomposition for Diagnostic Validation of Haemodynamic Monitors</a:t>
            </a:r>
            <a:br/>
            <a:r>
              <a:t/>
            </a:r>
          </a:p>
          <a:p>
            <a:br/>
            <a:pPr algn="ctr">
              <a:defRPr sz="1600">
                <a:solidFill>
                  <a:srgbClr val="555555"/>
                </a:solidFill>
                <a:latin typeface="Arial"/>
              </a:defRPr>
            </a:pPr>
            <a:r>
              <a:t>Figures and Tables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1. Arterial Pressure Waveform Decomposition</a:t>
            </a:r>
          </a:p>
        </p:txBody>
      </p:sp>
      <p:pic>
        <p:nvPicPr>
          <p:cNvPr id="3" name="Picture 2" descr="figure1_signal_decomposition.png"/>
          <p:cNvPicPr>
            <a:picLocks noChangeAspect="1"/>
          </p:cNvPicPr>
          <p:nvPr/>
        </p:nvPicPr>
        <p:blipFill>
          <a:blip r:embed="rId2"/>
          <a:stretch>
            <a:fillRect/>
          </a:stretch>
        </p:blipFill>
        <p:spPr>
          <a:xfrm>
            <a:off x="609447" y="822960"/>
            <a:ext cx="10972800" cy="3242023"/>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defRPr sz="1000" i="1">
                <a:solidFill>
                  <a:srgbClr val="333333"/>
                </a:solidFill>
                <a:latin typeface="Arial"/>
              </a:defRPr>
            </a:pPr>
            <a:r>
              <a:t>Figure 1. (A) True arterial pressure with DC baseline and AC pulsatile component (PP = 40 mmHg). (B) DC offset (+15 mmHg): PP unchanged at 40 mmHg. (C) Gain error (v = 1.15): PP distorted to 46 mmHg. Zero calibration corrects (B) but not (C).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2. Concordance Plots — Four Simulation Scenarios</a:t>
            </a:r>
          </a:p>
        </p:txBody>
      </p:sp>
      <p:pic>
        <p:nvPicPr>
          <p:cNvPr id="3" name="Picture 2" descr="figure2_ccc_zeroing_scenarios.png"/>
          <p:cNvPicPr>
            <a:picLocks noChangeAspect="1"/>
          </p:cNvPicPr>
          <p:nvPr/>
        </p:nvPicPr>
        <p:blipFill>
          <a:blip r:embed="rId2"/>
          <a:stretch>
            <a:fillRect/>
          </a:stretch>
        </p:blipFill>
        <p:spPr>
          <a:xfrm>
            <a:off x="609447" y="822960"/>
            <a:ext cx="10972800" cy="280876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defRPr sz="1000" i="1">
                <a:solidFill>
                  <a:srgbClr val="333333"/>
                </a:solidFill>
                <a:latin typeface="Arial"/>
              </a:defRPr>
            </a:pPr>
            <a:r>
              <a:t>Figure 2. (A) Before zeroing: offset causes CCC = 0.855. (B) After zeroing: CCC = 0.986, Cb = 1.000. (C) Gain error (v = 1.11): Cb = 0.870, uncorrectable by zeroing. (D) Gain + offset: CCC = 0.976. Dashed = identity line; solid = regression.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3. Conventional vs. Proposed Zero-Calibration-Free System</a:t>
            </a:r>
          </a:p>
        </p:txBody>
      </p:sp>
      <p:sp>
        <p:nvSpPr>
          <p:cNvPr id="3" name="TextBox 2"/>
          <p:cNvSpPr txBox="1"/>
          <p:nvPr/>
        </p:nvSpPr>
        <p:spPr>
          <a:xfrm>
            <a:off x="274320" y="777240"/>
            <a:ext cx="5486400" cy="365760"/>
          </a:xfrm>
          <a:prstGeom prst="rect">
            <a:avLst/>
          </a:prstGeom>
          <a:noFill/>
        </p:spPr>
        <p:txBody>
          <a:bodyPr wrap="none">
            <a:spAutoFit/>
          </a:bodyPr>
          <a:lstStyle/>
          <a:p>
            <a:pPr>
              <a:defRPr sz="1400" b="1">
                <a:latin typeface="Arial"/>
              </a:defRPr>
            </a:pPr>
            <a:r>
              <a:t>A. Conventional fluid-filled system</a:t>
            </a:r>
          </a:p>
        </p:txBody>
      </p:sp>
      <p:sp>
        <p:nvSpPr>
          <p:cNvPr id="4" name="Rounded Rectangle 3"/>
          <p:cNvSpPr/>
          <p:nvPr/>
        </p:nvSpPr>
        <p:spPr>
          <a:xfrm>
            <a:off x="457200" y="1463040"/>
            <a:ext cx="1463040" cy="822960"/>
          </a:xfrm>
          <a:prstGeom prst="roundRect">
            <a:avLst/>
          </a:prstGeom>
          <a:solidFill>
            <a:srgbClr val="FFCCCC"/>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100" b="1">
                <a:solidFill>
                  <a:srgbClr val="000000"/>
                </a:solidFill>
                <a:latin typeface="Arial"/>
              </a:defRPr>
            </a:pPr>
            <a:r>
              <a:t>Artery</a:t>
            </a:r>
            <a:br/>
            <a:r>
              <a:t>(catheter tip)</a:t>
            </a:r>
          </a:p>
        </p:txBody>
      </p:sp>
      <p:cxnSp>
        <p:nvCxnSpPr>
          <p:cNvPr id="5" name="Connector 4"/>
          <p:cNvCxnSpPr/>
          <p:nvPr/>
        </p:nvCxnSpPr>
        <p:spPr>
          <a:xfrm>
            <a:off x="1920240" y="1874519"/>
            <a:ext cx="548640" cy="0"/>
          </a:xfrm>
          <a:prstGeom prst="line">
            <a:avLst/>
          </a:prstGeom>
          <a:ln w="25400">
            <a:solidFill>
              <a:srgbClr val="3366CC"/>
            </a:solidFill>
          </a:ln>
          <a:ln>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737360" y="1234440"/>
            <a:ext cx="1097280" cy="274320"/>
          </a:xfrm>
          <a:prstGeom prst="rect">
            <a:avLst/>
          </a:prstGeom>
          <a:noFill/>
        </p:spPr>
        <p:txBody>
          <a:bodyPr wrap="none">
            <a:spAutoFit/>
          </a:bodyPr>
          <a:lstStyle/>
          <a:p>
            <a:pPr>
              <a:defRPr sz="800">
                <a:solidFill>
                  <a:srgbClr val="3366CC"/>
                </a:solidFill>
                <a:latin typeface="Arial"/>
              </a:defRPr>
            </a:pPr>
            <a:r>
              <a:t>Fluid-filled tubing</a:t>
            </a:r>
          </a:p>
        </p:txBody>
      </p:sp>
      <p:sp>
        <p:nvSpPr>
          <p:cNvPr id="7" name="Rounded Rectangle 6"/>
          <p:cNvSpPr/>
          <p:nvPr/>
        </p:nvSpPr>
        <p:spPr>
          <a:xfrm>
            <a:off x="2468880" y="1280160"/>
            <a:ext cx="1645920" cy="1097280"/>
          </a:xfrm>
          <a:prstGeom prst="roundRect">
            <a:avLst/>
          </a:prstGeom>
          <a:solidFill>
            <a:srgbClr val="CCDDFF"/>
          </a:solidFill>
          <a:ln w="19050">
            <a:solidFill>
              <a:srgbClr val="3366CC"/>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200" b="1">
                <a:solidFill>
                  <a:srgbClr val="000000"/>
                </a:solidFill>
                <a:latin typeface="Arial"/>
              </a:defRPr>
            </a:pPr>
            <a:r>
              <a:t>External</a:t>
            </a:r>
            <a:br/>
            <a:r>
              <a:t>transducer</a:t>
            </a:r>
          </a:p>
        </p:txBody>
      </p:sp>
      <p:cxnSp>
        <p:nvCxnSpPr>
          <p:cNvPr id="8" name="Connector 7"/>
          <p:cNvCxnSpPr/>
          <p:nvPr/>
        </p:nvCxnSpPr>
        <p:spPr>
          <a:xfrm>
            <a:off x="4114800" y="1874519"/>
            <a:ext cx="548640" cy="0"/>
          </a:xfrm>
          <a:prstGeom prst="line">
            <a:avLst/>
          </a:prstGeom>
          <a:ln w="25400">
            <a:solidFill>
              <a:srgbClr val="333333"/>
            </a:solidFill>
          </a:ln>
          <a:ln>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663440" y="1371600"/>
            <a:ext cx="1188720" cy="914400"/>
          </a:xfrm>
          <a:prstGeom prst="roundRect">
            <a:avLst/>
          </a:prstGeom>
          <a:solidFill>
            <a:srgbClr val="DDDDDD"/>
          </a:solidFill>
          <a:ln w="1905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200" b="1">
                <a:solidFill>
                  <a:srgbClr val="000000"/>
                </a:solidFill>
                <a:latin typeface="Arial"/>
              </a:defRPr>
            </a:pPr>
            <a:r>
              <a:t>Monitor</a:t>
            </a:r>
          </a:p>
        </p:txBody>
      </p:sp>
      <p:sp>
        <p:nvSpPr>
          <p:cNvPr id="10" name="Rounded Rectangle 9"/>
          <p:cNvSpPr/>
          <p:nvPr/>
        </p:nvSpPr>
        <p:spPr>
          <a:xfrm>
            <a:off x="457200" y="2926080"/>
            <a:ext cx="1371600" cy="822960"/>
          </a:xfrm>
          <a:prstGeom prst="roundRect">
            <a:avLst/>
          </a:prstGeom>
          <a:solidFill>
            <a:srgbClr val="FFCCCC"/>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900" b="0">
                <a:solidFill>
                  <a:srgbClr val="000000"/>
                </a:solidFill>
                <a:latin typeface="Arial"/>
              </a:defRPr>
            </a:pPr>
            <a:r>
              <a:t>Hydrostatic</a:t>
            </a:r>
            <a:br/>
            <a:r>
              <a:t>column</a:t>
            </a:r>
            <a:br/>
            <a:r>
              <a:t>(ΔP = ρgh)</a:t>
            </a:r>
          </a:p>
        </p:txBody>
      </p:sp>
      <p:sp>
        <p:nvSpPr>
          <p:cNvPr id="11" name="Rounded Rectangle 10"/>
          <p:cNvSpPr/>
          <p:nvPr/>
        </p:nvSpPr>
        <p:spPr>
          <a:xfrm>
            <a:off x="2011680" y="2926080"/>
            <a:ext cx="1371600" cy="822960"/>
          </a:xfrm>
          <a:prstGeom prst="roundRect">
            <a:avLst/>
          </a:prstGeom>
          <a:solidFill>
            <a:srgbClr val="FFDDCC"/>
          </a:solid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900" b="0">
                <a:solidFill>
                  <a:srgbClr val="000000"/>
                </a:solidFill>
                <a:latin typeface="Arial"/>
              </a:defRPr>
            </a:pPr>
            <a:r>
              <a:t>Atmospheric</a:t>
            </a:r>
            <a:br/>
            <a:r>
              <a:t>pressure</a:t>
            </a:r>
            <a:br/>
            <a:r>
              <a:t>reference</a:t>
            </a:r>
          </a:p>
        </p:txBody>
      </p:sp>
      <p:sp>
        <p:nvSpPr>
          <p:cNvPr id="12" name="Rounded Rectangle 11"/>
          <p:cNvSpPr/>
          <p:nvPr/>
        </p:nvSpPr>
        <p:spPr>
          <a:xfrm>
            <a:off x="3566160" y="2926080"/>
            <a:ext cx="1371600" cy="822960"/>
          </a:xfrm>
          <a:prstGeom prst="roundRect">
            <a:avLst/>
          </a:prstGeom>
          <a:solidFill>
            <a:srgbClr val="FFEECC"/>
          </a:solidFill>
          <a:ln w="1905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900" b="0">
                <a:solidFill>
                  <a:srgbClr val="000000"/>
                </a:solidFill>
                <a:latin typeface="Arial"/>
              </a:defRPr>
            </a:pPr>
            <a:r>
              <a:t>Transducer</a:t>
            </a:r>
            <a:br/>
            <a:r>
              <a:t>drift</a:t>
            </a:r>
          </a:p>
        </p:txBody>
      </p:sp>
      <p:cxnSp>
        <p:nvCxnSpPr>
          <p:cNvPr id="13" name="Connector 12"/>
          <p:cNvCxnSpPr/>
          <p:nvPr/>
        </p:nvCxnSpPr>
        <p:spPr>
          <a:xfrm>
            <a:off x="1143000" y="3749039"/>
            <a:ext cx="1554480" cy="640081"/>
          </a:xfrm>
          <a:prstGeom prst="line">
            <a:avLst/>
          </a:prstGeom>
          <a:ln w="25400">
            <a:solidFill>
              <a:srgbClr val="CC0000"/>
            </a:solidFill>
          </a:ln>
          <a:ln>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697480" y="3749039"/>
            <a:ext cx="0" cy="640081"/>
          </a:xfrm>
          <a:prstGeom prst="line">
            <a:avLst/>
          </a:prstGeom>
          <a:ln w="25400">
            <a:solidFill>
              <a:srgbClr val="CC0000"/>
            </a:solidFill>
          </a:ln>
          <a:ln>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697480" y="3749039"/>
            <a:ext cx="1554480" cy="640081"/>
          </a:xfrm>
          <a:prstGeom prst="line">
            <a:avLst/>
          </a:prstGeom>
          <a:ln w="25400">
            <a:solidFill>
              <a:srgbClr val="CC0000"/>
            </a:solidFill>
          </a:ln>
          <a:ln>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 y="4389120"/>
            <a:ext cx="4206240" cy="731520"/>
          </a:xfrm>
          <a:prstGeom prst="roundRect">
            <a:avLst/>
          </a:prstGeom>
          <a:solidFill>
            <a:srgbClr val="FFCCCC"/>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100" b="1">
                <a:solidFill>
                  <a:srgbClr val="CC0000"/>
                </a:solidFill>
                <a:latin typeface="Arial"/>
              </a:defRPr>
            </a:pPr>
            <a:r>
              <a:t>Manual zero calibration required</a:t>
            </a:r>
            <a:br/>
            <a:r>
              <a:t>(corrects offset/u only; gain/v unchanged)</a:t>
            </a:r>
          </a:p>
        </p:txBody>
      </p:sp>
      <p:sp>
        <p:nvSpPr>
          <p:cNvPr id="17" name="TextBox 16"/>
          <p:cNvSpPr txBox="1"/>
          <p:nvPr/>
        </p:nvSpPr>
        <p:spPr>
          <a:xfrm>
            <a:off x="6400800" y="777240"/>
            <a:ext cx="5486400" cy="365760"/>
          </a:xfrm>
          <a:prstGeom prst="rect">
            <a:avLst/>
          </a:prstGeom>
          <a:noFill/>
        </p:spPr>
        <p:txBody>
          <a:bodyPr wrap="none">
            <a:spAutoFit/>
          </a:bodyPr>
          <a:lstStyle/>
          <a:p>
            <a:pPr>
              <a:defRPr sz="1400" b="1">
                <a:solidFill>
                  <a:srgbClr val="006600"/>
                </a:solidFill>
                <a:latin typeface="Arial"/>
              </a:defRPr>
            </a:pPr>
            <a:r>
              <a:t>B. Proposed zero-free system</a:t>
            </a:r>
          </a:p>
        </p:txBody>
      </p:sp>
      <p:sp>
        <p:nvSpPr>
          <p:cNvPr id="18" name="Rounded Rectangle 17"/>
          <p:cNvSpPr/>
          <p:nvPr/>
        </p:nvSpPr>
        <p:spPr>
          <a:xfrm>
            <a:off x="6583680" y="1280160"/>
            <a:ext cx="1828800" cy="1097280"/>
          </a:xfrm>
          <a:prstGeom prst="roundRect">
            <a:avLst/>
          </a:prstGeom>
          <a:solidFill>
            <a:srgbClr val="CCFFCC"/>
          </a:solidFill>
          <a:ln w="19050">
            <a:solidFill>
              <a:srgbClr val="0088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100" b="1">
                <a:solidFill>
                  <a:srgbClr val="000000"/>
                </a:solidFill>
                <a:latin typeface="Arial"/>
              </a:defRPr>
            </a:pPr>
            <a:r>
              <a:t>Catheter-tip</a:t>
            </a:r>
            <a:br/>
            <a:r>
              <a:t>MEMS sensor</a:t>
            </a:r>
            <a:br/>
            <a:r>
              <a:t>(absolute pressure)</a:t>
            </a:r>
          </a:p>
        </p:txBody>
      </p:sp>
      <p:cxnSp>
        <p:nvCxnSpPr>
          <p:cNvPr id="19" name="Connector 18"/>
          <p:cNvCxnSpPr/>
          <p:nvPr/>
        </p:nvCxnSpPr>
        <p:spPr>
          <a:xfrm>
            <a:off x="8412480" y="1874519"/>
            <a:ext cx="548640" cy="0"/>
          </a:xfrm>
          <a:prstGeom prst="line">
            <a:avLst/>
          </a:prstGeom>
          <a:ln w="25400">
            <a:solidFill>
              <a:srgbClr val="008800"/>
            </a:solidFill>
          </a:ln>
          <a:ln>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961120" y="1097280"/>
            <a:ext cx="2011680" cy="1645920"/>
          </a:xfrm>
          <a:prstGeom prst="roundRect">
            <a:avLst/>
          </a:prstGeom>
          <a:solidFill>
            <a:srgbClr val="DDFFDD"/>
          </a:solidFill>
          <a:ln w="19050">
            <a:solidFill>
              <a:srgbClr val="0088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200" b="1">
                <a:solidFill>
                  <a:srgbClr val="000000"/>
                </a:solidFill>
                <a:latin typeface="Arial"/>
              </a:defRPr>
            </a:pPr>
            <a:r>
              <a:t>Smart Monitor</a:t>
            </a:r>
          </a:p>
          <a:p>
            <a:br/>
            <a:pPr>
              <a:defRPr sz="900">
                <a:solidFill>
                  <a:srgbClr val="006600"/>
                </a:solidFill>
                <a:latin typeface="Arial"/>
              </a:defRPr>
            </a:pPr>
            <a:r>
              <a:t>Built-in barometer</a:t>
            </a:r>
            <a:br/>
            <a:r>
              <a:t>+ auto-compensation</a:t>
            </a:r>
          </a:p>
          <a:p>
            <a:br/>
            <a:pPr>
              <a:defRPr sz="900">
                <a:solidFill>
                  <a:srgbClr val="006600"/>
                </a:solidFill>
                <a:latin typeface="Arial"/>
              </a:defRPr>
            </a:pPr>
            <a:r>
              <a:t>Self-calibrating</a:t>
            </a:r>
            <a:br/>
            <a:r>
              <a:t>MEMS reference</a:t>
            </a:r>
          </a:p>
        </p:txBody>
      </p:sp>
      <p:cxnSp>
        <p:nvCxnSpPr>
          <p:cNvPr id="21" name="Connector 20"/>
          <p:cNvCxnSpPr/>
          <p:nvPr/>
        </p:nvCxnSpPr>
        <p:spPr>
          <a:xfrm>
            <a:off x="10972800" y="1920240"/>
            <a:ext cx="274320" cy="0"/>
          </a:xfrm>
          <a:prstGeom prst="line">
            <a:avLst/>
          </a:prstGeom>
          <a:ln w="25400">
            <a:solidFill>
              <a:srgbClr val="333333"/>
            </a:solidFill>
          </a:ln>
          <a:ln>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1247120" y="1371600"/>
            <a:ext cx="731520" cy="914400"/>
          </a:xfrm>
          <a:prstGeom prst="roundRect">
            <a:avLst/>
          </a:prstGeom>
          <a:solidFill>
            <a:srgbClr val="DDDDDD"/>
          </a:solidFill>
          <a:ln w="1905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100" b="1">
                <a:solidFill>
                  <a:srgbClr val="000000"/>
                </a:solidFill>
                <a:latin typeface="Arial"/>
              </a:defRPr>
            </a:pPr>
            <a:r>
              <a:t>Display</a:t>
            </a:r>
          </a:p>
        </p:txBody>
      </p:sp>
      <p:sp>
        <p:nvSpPr>
          <p:cNvPr id="23" name="Rounded Rectangle 22"/>
          <p:cNvSpPr/>
          <p:nvPr/>
        </p:nvSpPr>
        <p:spPr>
          <a:xfrm>
            <a:off x="6583680" y="2926080"/>
            <a:ext cx="1371600" cy="822960"/>
          </a:xfrm>
          <a:prstGeom prst="roundRect">
            <a:avLst/>
          </a:prstGeom>
          <a:solidFill>
            <a:srgbClr val="CCFFCC"/>
          </a:solidFill>
          <a:ln w="19050">
            <a:solidFill>
              <a:srgbClr val="0088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900" b="0">
                <a:solidFill>
                  <a:srgbClr val="000000"/>
                </a:solidFill>
                <a:latin typeface="Arial"/>
              </a:defRPr>
            </a:pPr>
            <a:r>
              <a:t>Tip sensor</a:t>
            </a:r>
            <a:br/>
            <a:r>
              <a:t>→ Δh = 0</a:t>
            </a:r>
            <a:br/>
            <a:r>
              <a:t>✓ Eliminated</a:t>
            </a:r>
          </a:p>
        </p:txBody>
      </p:sp>
      <p:sp>
        <p:nvSpPr>
          <p:cNvPr id="24" name="Rounded Rectangle 23"/>
          <p:cNvSpPr/>
          <p:nvPr/>
        </p:nvSpPr>
        <p:spPr>
          <a:xfrm>
            <a:off x="8138160" y="2926080"/>
            <a:ext cx="1371600" cy="822960"/>
          </a:xfrm>
          <a:prstGeom prst="roundRect">
            <a:avLst/>
          </a:prstGeom>
          <a:solidFill>
            <a:srgbClr val="CCEECC"/>
          </a:solidFill>
          <a:ln w="19050">
            <a:solidFill>
              <a:srgbClr val="0088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900" b="0">
                <a:solidFill>
                  <a:srgbClr val="000000"/>
                </a:solidFill>
                <a:latin typeface="Arial"/>
              </a:defRPr>
            </a:pPr>
            <a:r>
              <a:t>Barometric</a:t>
            </a:r>
            <a:br/>
            <a:r>
              <a:t>compensation</a:t>
            </a:r>
            <a:br/>
            <a:r>
              <a:t>✓ Eliminated</a:t>
            </a:r>
          </a:p>
        </p:txBody>
      </p:sp>
      <p:sp>
        <p:nvSpPr>
          <p:cNvPr id="25" name="Rounded Rectangle 24"/>
          <p:cNvSpPr/>
          <p:nvPr/>
        </p:nvSpPr>
        <p:spPr>
          <a:xfrm>
            <a:off x="9692640" y="2926080"/>
            <a:ext cx="1371600" cy="822960"/>
          </a:xfrm>
          <a:prstGeom prst="roundRect">
            <a:avLst/>
          </a:prstGeom>
          <a:solidFill>
            <a:srgbClr val="DDDDBB"/>
          </a:solidFill>
          <a:ln w="19050">
            <a:solidFill>
              <a:srgbClr val="0088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900" b="0">
                <a:solidFill>
                  <a:srgbClr val="000000"/>
                </a:solidFill>
                <a:latin typeface="Arial"/>
              </a:defRPr>
            </a:pPr>
            <a:r>
              <a:t>Self-calibrating</a:t>
            </a:r>
            <a:br/>
            <a:r>
              <a:t>MEMS</a:t>
            </a:r>
            <a:br/>
            <a:r>
              <a:t>✓ Eliminated</a:t>
            </a:r>
          </a:p>
        </p:txBody>
      </p:sp>
      <p:cxnSp>
        <p:nvCxnSpPr>
          <p:cNvPr id="26" name="Connector 25"/>
          <p:cNvCxnSpPr/>
          <p:nvPr/>
        </p:nvCxnSpPr>
        <p:spPr>
          <a:xfrm>
            <a:off x="7269480" y="3749039"/>
            <a:ext cx="1554480" cy="640081"/>
          </a:xfrm>
          <a:prstGeom prst="line">
            <a:avLst/>
          </a:prstGeom>
          <a:ln w="25400">
            <a:solidFill>
              <a:srgbClr val="008800"/>
            </a:solidFill>
          </a:ln>
          <a:ln>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823960" y="3749039"/>
            <a:ext cx="0" cy="640081"/>
          </a:xfrm>
          <a:prstGeom prst="line">
            <a:avLst/>
          </a:prstGeom>
          <a:ln w="25400">
            <a:solidFill>
              <a:srgbClr val="008800"/>
            </a:solidFill>
          </a:ln>
          <a:ln>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8823960" y="3749039"/>
            <a:ext cx="1554480" cy="640081"/>
          </a:xfrm>
          <a:prstGeom prst="line">
            <a:avLst/>
          </a:prstGeom>
          <a:ln w="25400">
            <a:solidFill>
              <a:srgbClr val="008800"/>
            </a:solidFill>
          </a:ln>
          <a:ln>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858000" y="4389120"/>
            <a:ext cx="4206240" cy="731520"/>
          </a:xfrm>
          <a:prstGeom prst="roundRect">
            <a:avLst/>
          </a:prstGeom>
          <a:solidFill>
            <a:srgbClr val="CCFFCC"/>
          </a:solidFill>
          <a:ln w="19050">
            <a:solidFill>
              <a:srgbClr val="0088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defRPr sz="1100" b="1">
                <a:solidFill>
                  <a:srgbClr val="006600"/>
                </a:solidFill>
                <a:latin typeface="Arial"/>
              </a:defRPr>
            </a:pPr>
            <a:r>
              <a:t>Zero calibration unnecessary by design</a:t>
            </a:r>
            <a:br/>
            <a:r>
              <a:t>(u = 0 by design; PP accuracy validates v = 1)</a:t>
            </a:r>
          </a:p>
        </p:txBody>
      </p:sp>
      <p:sp>
        <p:nvSpPr>
          <p:cNvPr id="30" name="TextBox 29"/>
          <p:cNvSpPr txBox="1"/>
          <p:nvPr/>
        </p:nvSpPr>
        <p:spPr>
          <a:xfrm>
            <a:off x="457200" y="5394960"/>
            <a:ext cx="11247120" cy="731520"/>
          </a:xfrm>
          <a:prstGeom prst="rect">
            <a:avLst/>
          </a:prstGeom>
          <a:noFill/>
        </p:spPr>
        <p:txBody>
          <a:bodyPr wrap="square">
            <a:spAutoFit/>
          </a:bodyPr>
          <a:lstStyle/>
          <a:p>
            <a:pPr>
              <a:defRPr sz="1000" i="1">
                <a:solidFill>
                  <a:srgbClr val="333333"/>
                </a:solidFill>
                <a:latin typeface="Arial"/>
              </a:defRPr>
            </a:pPr>
            <a:r>
              <a:t>Figure 3. (A) Conventional fluid-filled system: three DC offset sources require manual zero calibration, which corrects offset (u) only. (B) Proposed zero-free system: catheter-tip MEMS eliminates hydrostatic column, built-in barometer compensates atmospheric pressure, self-calibrating MEMS eliminates drift. All offset sources eliminated by design; PP accuracy validates gain (v =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4. Cb Diagnostic Space (u–v Plane)</a:t>
            </a:r>
          </a:p>
        </p:txBody>
      </p:sp>
      <p:pic>
        <p:nvPicPr>
          <p:cNvPr id="3" name="Picture 2" descr="figure4_cb_diagnostic_space.png"/>
          <p:cNvPicPr>
            <a:picLocks noChangeAspect="1"/>
          </p:cNvPicPr>
          <p:nvPr/>
        </p:nvPicPr>
        <p:blipFill>
          <a:blip r:embed="rId2"/>
          <a:stretch>
            <a:fillRect/>
          </a:stretch>
        </p:blipFill>
        <p:spPr>
          <a:xfrm>
            <a:off x="3254471" y="822960"/>
            <a:ext cx="5682753"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defRPr sz="1000" i="1">
                <a:solidFill>
                  <a:srgbClr val="333333"/>
                </a:solidFill>
                <a:latin typeface="Arial"/>
              </a:defRPr>
            </a:pPr>
            <a:r>
              <a:t>Figure 4. Bias correction factor (Cb) as a function of location shift (u) and scale shift (v). Zero calibration moves the device horizontally (u → 0) but does not change v. Only u = 0 and v = 1 achieves Cb = 1.0. Points A–D correspond to Figure 2 scenarios.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5. Bland-Altman Plots — Four Scenarios</a:t>
            </a:r>
          </a:p>
        </p:txBody>
      </p:sp>
      <p:pic>
        <p:nvPicPr>
          <p:cNvPr id="3" name="Picture 2" descr="figure5_ba_comparison.png"/>
          <p:cNvPicPr>
            <a:picLocks noChangeAspect="1"/>
          </p:cNvPicPr>
          <p:nvPr/>
        </p:nvPicPr>
        <p:blipFill>
          <a:blip r:embed="rId2"/>
          <a:stretch>
            <a:fillRect/>
          </a:stretch>
        </p:blipFill>
        <p:spPr>
          <a:xfrm>
            <a:off x="609447" y="822960"/>
            <a:ext cx="10972800" cy="3159504"/>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defRPr sz="1000" i="1">
                <a:solidFill>
                  <a:srgbClr val="333333"/>
                </a:solidFill>
                <a:latin typeface="Arial"/>
              </a:defRPr>
            </a:pPr>
            <a:r>
              <a:t>Figure 5. (A) Before zeroing: bias = 11.9 mmHg. (B) After zeroing: bias ≈ 0. (C) Gain error: bias = −10.9 mmHg with proportional pattern. (D) Gain + offset: bias ≈ 1.1 mmHg — appears acceptable on BA but hides gain error. Red solid = mean bias; red dashed = 95% limits of agreement.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6. Sensitivity Analysis</a:t>
            </a:r>
          </a:p>
        </p:txBody>
      </p:sp>
      <p:pic>
        <p:nvPicPr>
          <p:cNvPr id="3" name="Picture 2" descr="figure6_sensitivity_analysis.png"/>
          <p:cNvPicPr>
            <a:picLocks noChangeAspect="1"/>
          </p:cNvPicPr>
          <p:nvPr/>
        </p:nvPicPr>
        <p:blipFill>
          <a:blip r:embed="rId2"/>
          <a:stretch>
            <a:fillRect/>
          </a:stretch>
        </p:blipFill>
        <p:spPr>
          <a:xfrm>
            <a:off x="609447" y="822960"/>
            <a:ext cx="10972800" cy="4749352"/>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defRPr sz="1000" i="1">
                <a:solidFill>
                  <a:srgbClr val="333333"/>
                </a:solidFill>
                <a:latin typeface="Arial"/>
              </a:defRPr>
            </a:pPr>
            <a:r>
              <a:t>Figure 6. (A) Cb heatmap as a function of gain error (%) and DC offset (mmHg). Zero calibration (horizontal move to offset = 0) only maximizes Cb when gain is correct. (B) CCC degradation with gain error at different sensor precision levels (r = 0.95, 0.97, 0.99). Grey band = typical MEMS gain accuracy range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7. Pulse Pressure Validation Demonstration</a:t>
            </a:r>
          </a:p>
        </p:txBody>
      </p:sp>
      <p:pic>
        <p:nvPicPr>
          <p:cNvPr id="3" name="Picture 2" descr="figure7_pp_validation.png"/>
          <p:cNvPicPr>
            <a:picLocks noChangeAspect="1"/>
          </p:cNvPicPr>
          <p:nvPr/>
        </p:nvPicPr>
        <p:blipFill>
          <a:blip r:embed="rId2"/>
          <a:stretch>
            <a:fillRect/>
          </a:stretch>
        </p:blipFill>
        <p:spPr>
          <a:xfrm>
            <a:off x="2176414" y="822960"/>
            <a:ext cx="7838867"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defRPr sz="1000" i="1">
                <a:solidFill>
                  <a:srgbClr val="333333"/>
                </a:solidFill>
                <a:latin typeface="Arial"/>
              </a:defRPr>
            </a:pPr>
            <a:r>
              <a:t>Figure 7. (A) Correct gain: reference (blue) and measured (red) match, PP = 40 mmHg. (B) Gain error (v = 1.15): PP expanded to 46 mmHg. (C) DC offset only (+15 mmHg): PP unchanged. (D) Correct gain PP correlation (slope ≈ 1.0). (E) Gain error PP correlation (slope = 1.15). (F) Logical chain from PP accuracy to zero-calibration-free monitoring.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Figure 8. Concordance Plots vs. Bland-Altman Plots — Side-by-Side</a:t>
            </a:r>
          </a:p>
        </p:txBody>
      </p:sp>
      <p:pic>
        <p:nvPicPr>
          <p:cNvPr id="3" name="Picture 2" descr="figure8_ba_vs_concordance.png"/>
          <p:cNvPicPr>
            <a:picLocks noChangeAspect="1"/>
          </p:cNvPicPr>
          <p:nvPr/>
        </p:nvPicPr>
        <p:blipFill>
          <a:blip r:embed="rId2"/>
          <a:stretch>
            <a:fillRect/>
          </a:stretch>
        </p:blipFill>
        <p:spPr>
          <a:xfrm>
            <a:off x="1476721" y="822960"/>
            <a:ext cx="9238253"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defRPr sz="1000" i="1">
                <a:solidFill>
                  <a:srgbClr val="333333"/>
                </a:solidFill>
                <a:latin typeface="Arial"/>
              </a:defRPr>
            </a:pPr>
            <a:r>
              <a:t>Figure 8. Top row: concordance plots. Bottom row: Bland-Altman plots. Same data, two methods. Scenarios B and D show similar BA bias distributions, but concordance plots reveal gain error as regression slope deviation. Demonstrates the complementary value of CCC decomposition.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Table 1. DC Offset Sources and Engineering Solutions</a:t>
            </a:r>
          </a:p>
        </p:txBody>
      </p:sp>
      <p:graphicFrame>
        <p:nvGraphicFramePr>
          <p:cNvPr id="3" name="Table 2"/>
          <p:cNvGraphicFramePr>
            <a:graphicFrameLocks noGrp="1"/>
          </p:cNvGraphicFramePr>
          <p:nvPr/>
        </p:nvGraphicFramePr>
        <p:xfrm>
          <a:off x="457200" y="1097280"/>
          <a:ext cx="11247120" cy="182880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365760">
                <a:tc>
                  <a:txBody>
                    <a:bodyPr/>
                    <a:lstStyle/>
                    <a:p>
                      <a:pPr algn="ctr">
                        <a:defRPr sz="900" b="1">
                          <a:solidFill>
                            <a:srgbClr val="FFFFFF"/>
                          </a:solidFill>
                          <a:latin typeface="Arial"/>
                        </a:defRPr>
                      </a:pPr>
                      <a:r>
                        <a:t>Offset Source</a:t>
                      </a:r>
                    </a:p>
                  </a:txBody>
                  <a:tcPr>
                    <a:solidFill>
                      <a:srgbClr val="2C5F8A"/>
                    </a:solidFill>
                  </a:tcPr>
                </a:tc>
                <a:tc>
                  <a:txBody>
                    <a:bodyPr/>
                    <a:lstStyle/>
                    <a:p>
                      <a:pPr algn="ctr">
                        <a:defRPr sz="900" b="1">
                          <a:solidFill>
                            <a:srgbClr val="FFFFFF"/>
                          </a:solidFill>
                          <a:latin typeface="Arial"/>
                        </a:defRPr>
                      </a:pPr>
                      <a:r>
                        <a:t>Physical Mechanism</a:t>
                      </a:r>
                    </a:p>
                  </a:txBody>
                  <a:tcPr>
                    <a:solidFill>
                      <a:srgbClr val="2C5F8A"/>
                    </a:solidFill>
                  </a:tcPr>
                </a:tc>
                <a:tc>
                  <a:txBody>
                    <a:bodyPr/>
                    <a:lstStyle/>
                    <a:p>
                      <a:pPr algn="ctr">
                        <a:defRPr sz="900" b="1">
                          <a:solidFill>
                            <a:srgbClr val="FFFFFF"/>
                          </a:solidFill>
                          <a:latin typeface="Arial"/>
                        </a:defRPr>
                      </a:pPr>
                      <a:r>
                        <a:t>Magnitude</a:t>
                      </a:r>
                    </a:p>
                  </a:txBody>
                  <a:tcPr>
                    <a:solidFill>
                      <a:srgbClr val="2C5F8A"/>
                    </a:solidFill>
                  </a:tcPr>
                </a:tc>
                <a:tc>
                  <a:txBody>
                    <a:bodyPr/>
                    <a:lstStyle/>
                    <a:p>
                      <a:pPr algn="ctr">
                        <a:defRPr sz="900" b="1">
                          <a:solidFill>
                            <a:srgbClr val="FFFFFF"/>
                          </a:solidFill>
                          <a:latin typeface="Arial"/>
                        </a:defRPr>
                      </a:pPr>
                      <a:r>
                        <a:t>Engineering Solution</a:t>
                      </a:r>
                    </a:p>
                  </a:txBody>
                  <a:tcPr>
                    <a:solidFill>
                      <a:srgbClr val="2C5F8A"/>
                    </a:solidFill>
                  </a:tcPr>
                </a:tc>
                <a:tc>
                  <a:txBody>
                    <a:bodyPr/>
                    <a:lstStyle/>
                    <a:p>
                      <a:pPr algn="ctr">
                        <a:defRPr sz="900" b="1">
                          <a:solidFill>
                            <a:srgbClr val="FFFFFF"/>
                          </a:solidFill>
                          <a:latin typeface="Arial"/>
                        </a:defRPr>
                      </a:pPr>
                      <a:r>
                        <a:t>CCC Component</a:t>
                      </a:r>
                    </a:p>
                  </a:txBody>
                  <a:tcPr>
                    <a:solidFill>
                      <a:srgbClr val="2C5F8A"/>
                    </a:solidFill>
                  </a:tcPr>
                </a:tc>
              </a:tr>
              <a:tr h="365760">
                <a:tc>
                  <a:txBody>
                    <a:bodyPr/>
                    <a:lstStyle/>
                    <a:p>
                      <a:pPr algn="ctr">
                        <a:defRPr sz="900">
                          <a:solidFill>
                            <a:srgbClr val="1A1A1A"/>
                          </a:solidFill>
                          <a:latin typeface="Arial"/>
                        </a:defRPr>
                      </a:pPr>
                      <a:r>
                        <a:t>Hydrostatic column</a:t>
                      </a:r>
                    </a:p>
                  </a:txBody>
                  <a:tcPr>
                    <a:solidFill>
                      <a:srgbClr val="E8F0FE"/>
                    </a:solidFill>
                  </a:tcPr>
                </a:tc>
                <a:tc>
                  <a:txBody>
                    <a:bodyPr/>
                    <a:lstStyle/>
                    <a:p>
                      <a:pPr algn="ctr">
                        <a:defRPr sz="900">
                          <a:solidFill>
                            <a:srgbClr val="1A1A1A"/>
                          </a:solidFill>
                          <a:latin typeface="Arial"/>
                        </a:defRPr>
                      </a:pPr>
                      <a:r>
                        <a:t>ΔP = ρgh</a:t>
                      </a:r>
                    </a:p>
                    <a:p>
                      <a:pPr algn="ctr">
                        <a:defRPr sz="900">
                          <a:solidFill>
                            <a:srgbClr val="1A1A1A"/>
                          </a:solidFill>
                          <a:latin typeface="Arial"/>
                        </a:defRPr>
                      </a:pPr>
                      <a:r>
                        <a:t>(transducer–catheter tip height)</a:t>
                      </a:r>
                    </a:p>
                  </a:txBody>
                  <a:tcPr>
                    <a:solidFill>
                      <a:srgbClr val="E8F0FE"/>
                    </a:solidFill>
                  </a:tcPr>
                </a:tc>
                <a:tc>
                  <a:txBody>
                    <a:bodyPr/>
                    <a:lstStyle/>
                    <a:p>
                      <a:pPr algn="ctr">
                        <a:defRPr sz="900">
                          <a:solidFill>
                            <a:srgbClr val="1A1A1A"/>
                          </a:solidFill>
                          <a:latin typeface="Arial"/>
                        </a:defRPr>
                      </a:pPr>
                      <a:r>
                        <a:t>~0.74 mmHg/cm</a:t>
                      </a:r>
                    </a:p>
                  </a:txBody>
                  <a:tcPr>
                    <a:solidFill>
                      <a:srgbClr val="E8F0FE"/>
                    </a:solidFill>
                  </a:tcPr>
                </a:tc>
                <a:tc>
                  <a:txBody>
                    <a:bodyPr/>
                    <a:lstStyle/>
                    <a:p>
                      <a:pPr algn="ctr">
                        <a:defRPr sz="900">
                          <a:solidFill>
                            <a:srgbClr val="1A1A1A"/>
                          </a:solidFill>
                          <a:latin typeface="Arial"/>
                        </a:defRPr>
                      </a:pPr>
                      <a:r>
                        <a:t>Catheter-tip MEMS sensor</a:t>
                      </a:r>
                    </a:p>
                    <a:p>
                      <a:pPr algn="ctr">
                        <a:defRPr sz="900">
                          <a:solidFill>
                            <a:srgbClr val="1A1A1A"/>
                          </a:solidFill>
                          <a:latin typeface="Arial"/>
                        </a:defRPr>
                      </a:pPr>
                      <a:r>
                        <a:t>(eliminates fluid column)</a:t>
                      </a:r>
                    </a:p>
                  </a:txBody>
                  <a:tcPr>
                    <a:solidFill>
                      <a:srgbClr val="E8F0FE"/>
                    </a:solidFill>
                  </a:tcPr>
                </a:tc>
                <a:tc>
                  <a:txBody>
                    <a:bodyPr/>
                    <a:lstStyle/>
                    <a:p>
                      <a:pPr algn="ctr">
                        <a:defRPr sz="900">
                          <a:solidFill>
                            <a:srgbClr val="1A1A1A"/>
                          </a:solidFill>
                          <a:latin typeface="Arial"/>
                        </a:defRPr>
                      </a:pPr>
                      <a:r>
                        <a:t>Reduces u</a:t>
                      </a:r>
                    </a:p>
                    <a:p>
                      <a:pPr algn="ctr">
                        <a:defRPr sz="900">
                          <a:solidFill>
                            <a:srgbClr val="1A1A1A"/>
                          </a:solidFill>
                          <a:latin typeface="Arial"/>
                        </a:defRPr>
                      </a:pPr>
                      <a:r>
                        <a:t>(location shift)</a:t>
                      </a:r>
                    </a:p>
                  </a:txBody>
                  <a:tcPr>
                    <a:solidFill>
                      <a:srgbClr val="E8F0FE"/>
                    </a:solidFill>
                  </a:tcPr>
                </a:tc>
              </a:tr>
              <a:tr h="365760">
                <a:tc>
                  <a:txBody>
                    <a:bodyPr/>
                    <a:lstStyle/>
                    <a:p>
                      <a:pPr algn="ctr">
                        <a:defRPr sz="900">
                          <a:solidFill>
                            <a:srgbClr val="1A1A1A"/>
                          </a:solidFill>
                          <a:latin typeface="Arial"/>
                        </a:defRPr>
                      </a:pPr>
                      <a:r>
                        <a:t>Atmospheric pressure</a:t>
                      </a:r>
                    </a:p>
                    <a:p>
                      <a:pPr algn="ctr">
                        <a:defRPr sz="900">
                          <a:solidFill>
                            <a:srgbClr val="1A1A1A"/>
                          </a:solidFill>
                          <a:latin typeface="Arial"/>
                        </a:defRPr>
                      </a:pPr>
                      <a:r>
                        <a:t>reference</a:t>
                      </a:r>
                    </a:p>
                  </a:txBody>
                  <a:tcPr>
                    <a:solidFill>
                      <a:srgbClr val="FFFFFF"/>
                    </a:solidFill>
                  </a:tcPr>
                </a:tc>
                <a:tc>
                  <a:txBody>
                    <a:bodyPr/>
                    <a:lstStyle/>
                    <a:p>
                      <a:pPr algn="ctr">
                        <a:defRPr sz="900">
                          <a:solidFill>
                            <a:srgbClr val="1A1A1A"/>
                          </a:solidFill>
                          <a:latin typeface="Arial"/>
                        </a:defRPr>
                      </a:pPr>
                      <a:r>
                        <a:t>Gauge measurement</a:t>
                      </a:r>
                    </a:p>
                    <a:p>
                      <a:pPr algn="ctr">
                        <a:defRPr sz="900">
                          <a:solidFill>
                            <a:srgbClr val="1A1A1A"/>
                          </a:solidFill>
                          <a:latin typeface="Arial"/>
                        </a:defRPr>
                      </a:pPr>
                      <a:r>
                        <a:t>relative to ~760 mmHg</a:t>
                      </a:r>
                    </a:p>
                  </a:txBody>
                  <a:tcPr>
                    <a:solidFill>
                      <a:srgbClr val="FFFFFF"/>
                    </a:solidFill>
                  </a:tcPr>
                </a:tc>
                <a:tc>
                  <a:txBody>
                    <a:bodyPr/>
                    <a:lstStyle/>
                    <a:p>
                      <a:pPr algn="ctr">
                        <a:defRPr sz="900">
                          <a:solidFill>
                            <a:srgbClr val="1A1A1A"/>
                          </a:solidFill>
                          <a:latin typeface="Arial"/>
                        </a:defRPr>
                      </a:pPr>
                      <a:r>
                        <a:t>Entire baseline</a:t>
                      </a:r>
                    </a:p>
                  </a:txBody>
                  <a:tcPr>
                    <a:solidFill>
                      <a:srgbClr val="FFFFFF"/>
                    </a:solidFill>
                  </a:tcPr>
                </a:tc>
                <a:tc>
                  <a:txBody>
                    <a:bodyPr/>
                    <a:lstStyle/>
                    <a:p>
                      <a:pPr algn="ctr">
                        <a:defRPr sz="900">
                          <a:solidFill>
                            <a:srgbClr val="1A1A1A"/>
                          </a:solidFill>
                          <a:latin typeface="Arial"/>
                        </a:defRPr>
                      </a:pPr>
                      <a:r>
                        <a:t>Absolute pressure sensor +</a:t>
                      </a:r>
                    </a:p>
                    <a:p>
                      <a:pPr algn="ctr">
                        <a:defRPr sz="900">
                          <a:solidFill>
                            <a:srgbClr val="1A1A1A"/>
                          </a:solidFill>
                          <a:latin typeface="Arial"/>
                        </a:defRPr>
                      </a:pPr>
                      <a:r>
                        <a:t>built-in barometer</a:t>
                      </a:r>
                    </a:p>
                  </a:txBody>
                  <a:tcPr>
                    <a:solidFill>
                      <a:srgbClr val="FFFFFF"/>
                    </a:solidFill>
                  </a:tcPr>
                </a:tc>
                <a:tc>
                  <a:txBody>
                    <a:bodyPr/>
                    <a:lstStyle/>
                    <a:p>
                      <a:pPr algn="ctr">
                        <a:defRPr sz="900">
                          <a:solidFill>
                            <a:srgbClr val="1A1A1A"/>
                          </a:solidFill>
                          <a:latin typeface="Arial"/>
                        </a:defRPr>
                      </a:pPr>
                      <a:r>
                        <a:t>Reduces u</a:t>
                      </a:r>
                    </a:p>
                    <a:p>
                      <a:pPr algn="ctr">
                        <a:defRPr sz="900">
                          <a:solidFill>
                            <a:srgbClr val="1A1A1A"/>
                          </a:solidFill>
                          <a:latin typeface="Arial"/>
                        </a:defRPr>
                      </a:pPr>
                      <a:r>
                        <a:t>(location shift)</a:t>
                      </a:r>
                    </a:p>
                  </a:txBody>
                  <a:tcPr>
                    <a:solidFill>
                      <a:srgbClr val="FFFFFF"/>
                    </a:solidFill>
                  </a:tcPr>
                </a:tc>
              </a:tr>
              <a:tr h="365760">
                <a:tc>
                  <a:txBody>
                    <a:bodyPr/>
                    <a:lstStyle/>
                    <a:p>
                      <a:pPr algn="ctr">
                        <a:defRPr sz="900">
                          <a:solidFill>
                            <a:srgbClr val="1A1A1A"/>
                          </a:solidFill>
                          <a:latin typeface="Arial"/>
                        </a:defRPr>
                      </a:pPr>
                      <a:r>
                        <a:t>Transducer drift</a:t>
                      </a:r>
                    </a:p>
                  </a:txBody>
                  <a:tcPr>
                    <a:solidFill>
                      <a:srgbClr val="E8F0FE"/>
                    </a:solidFill>
                  </a:tcPr>
                </a:tc>
                <a:tc>
                  <a:txBody>
                    <a:bodyPr/>
                    <a:lstStyle/>
                    <a:p>
                      <a:pPr algn="ctr">
                        <a:defRPr sz="900">
                          <a:solidFill>
                            <a:srgbClr val="1A1A1A"/>
                          </a:solidFill>
                          <a:latin typeface="Arial"/>
                        </a:defRPr>
                      </a:pPr>
                      <a:r>
                        <a:t>Mechanical creep,</a:t>
                      </a:r>
                    </a:p>
                    <a:p>
                      <a:pPr algn="ctr">
                        <a:defRPr sz="900">
                          <a:solidFill>
                            <a:srgbClr val="1A1A1A"/>
                          </a:solidFill>
                          <a:latin typeface="Arial"/>
                        </a:defRPr>
                      </a:pPr>
                      <a:r>
                        <a:t>thermal effects</a:t>
                      </a:r>
                    </a:p>
                  </a:txBody>
                  <a:tcPr>
                    <a:solidFill>
                      <a:srgbClr val="E8F0FE"/>
                    </a:solidFill>
                  </a:tcPr>
                </a:tc>
                <a:tc>
                  <a:txBody>
                    <a:bodyPr/>
                    <a:lstStyle/>
                    <a:p>
                      <a:pPr algn="ctr">
                        <a:defRPr sz="900">
                          <a:solidFill>
                            <a:srgbClr val="1A1A1A"/>
                          </a:solidFill>
                          <a:latin typeface="Arial"/>
                        </a:defRPr>
                      </a:pPr>
                      <a:r>
                        <a:t>~1–5 mmHg/day</a:t>
                      </a:r>
                    </a:p>
                  </a:txBody>
                  <a:tcPr>
                    <a:solidFill>
                      <a:srgbClr val="E8F0FE"/>
                    </a:solidFill>
                  </a:tcPr>
                </a:tc>
                <a:tc>
                  <a:txBody>
                    <a:bodyPr/>
                    <a:lstStyle/>
                    <a:p>
                      <a:pPr algn="ctr">
                        <a:defRPr sz="900">
                          <a:solidFill>
                            <a:srgbClr val="1A1A1A"/>
                          </a:solidFill>
                          <a:latin typeface="Arial"/>
                        </a:defRPr>
                      </a:pPr>
                      <a:r>
                        <a:t>Self-calibrating MEMS</a:t>
                      </a:r>
                    </a:p>
                    <a:p>
                      <a:pPr algn="ctr">
                        <a:defRPr sz="900">
                          <a:solidFill>
                            <a:srgbClr val="1A1A1A"/>
                          </a:solidFill>
                          <a:latin typeface="Arial"/>
                        </a:defRPr>
                      </a:pPr>
                      <a:r>
                        <a:t>with reference cavity</a:t>
                      </a:r>
                    </a:p>
                  </a:txBody>
                  <a:tcPr>
                    <a:solidFill>
                      <a:srgbClr val="E8F0FE"/>
                    </a:solidFill>
                  </a:tcPr>
                </a:tc>
                <a:tc>
                  <a:txBody>
                    <a:bodyPr/>
                    <a:lstStyle/>
                    <a:p>
                      <a:pPr algn="ctr">
                        <a:defRPr sz="900">
                          <a:solidFill>
                            <a:srgbClr val="1A1A1A"/>
                          </a:solidFill>
                          <a:latin typeface="Arial"/>
                        </a:defRPr>
                      </a:pPr>
                      <a:r>
                        <a:t>Reduces u</a:t>
                      </a:r>
                    </a:p>
                    <a:p>
                      <a:pPr algn="ctr">
                        <a:defRPr sz="900">
                          <a:solidFill>
                            <a:srgbClr val="1A1A1A"/>
                          </a:solidFill>
                          <a:latin typeface="Arial"/>
                        </a:defRPr>
                      </a:pPr>
                      <a:r>
                        <a:t>(location shift)</a:t>
                      </a:r>
                    </a:p>
                  </a:txBody>
                  <a:tcPr>
                    <a:solidFill>
                      <a:srgbClr val="E8F0FE"/>
                    </a:solidFill>
                  </a:tcPr>
                </a:tc>
              </a:tr>
              <a:tr h="365760">
                <a:tc>
                  <a:txBody>
                    <a:bodyPr/>
                    <a:lstStyle/>
                    <a:p>
                      <a:pPr algn="ctr">
                        <a:defRPr sz="900">
                          <a:solidFill>
                            <a:srgbClr val="1A1A1A"/>
                          </a:solidFill>
                          <a:latin typeface="Arial"/>
                        </a:defRPr>
                      </a:pPr>
                      <a:r>
                        <a:t>Gain error</a:t>
                      </a:r>
                    </a:p>
                    <a:p>
                      <a:pPr algn="ctr">
                        <a:defRPr sz="900">
                          <a:solidFill>
                            <a:srgbClr val="1A1A1A"/>
                          </a:solidFill>
                          <a:latin typeface="Arial"/>
                        </a:defRPr>
                      </a:pPr>
                      <a:r>
                        <a:t>(NOT corrected by</a:t>
                      </a:r>
                    </a:p>
                    <a:p>
                      <a:pPr algn="ctr">
                        <a:defRPr sz="900">
                          <a:solidFill>
                            <a:srgbClr val="1A1A1A"/>
                          </a:solidFill>
                          <a:latin typeface="Arial"/>
                        </a:defRPr>
                      </a:pPr>
                      <a:r>
                        <a:t>zero calibration)</a:t>
                      </a:r>
                    </a:p>
                  </a:txBody>
                  <a:tcPr>
                    <a:solidFill>
                      <a:srgbClr val="FFFFFF"/>
                    </a:solidFill>
                  </a:tcPr>
                </a:tc>
                <a:tc>
                  <a:txBody>
                    <a:bodyPr/>
                    <a:lstStyle/>
                    <a:p>
                      <a:pPr algn="ctr">
                        <a:defRPr sz="900">
                          <a:solidFill>
                            <a:srgbClr val="1A1A1A"/>
                          </a:solidFill>
                          <a:latin typeface="Arial"/>
                        </a:defRPr>
                      </a:pPr>
                      <a:r>
                        <a:t>Sensitivity mismatch:</a:t>
                      </a:r>
                    </a:p>
                    <a:p>
                      <a:pPr algn="ctr">
                        <a:defRPr sz="900">
                          <a:solidFill>
                            <a:srgbClr val="1A1A1A"/>
                          </a:solidFill>
                          <a:latin typeface="Arial"/>
                        </a:defRPr>
                      </a:pPr>
                      <a:r>
                        <a:t>output/pressure ≠ nominal</a:t>
                      </a:r>
                    </a:p>
                  </a:txBody>
                  <a:tcPr>
                    <a:solidFill>
                      <a:srgbClr val="FFFFFF"/>
                    </a:solidFill>
                  </a:tcPr>
                </a:tc>
                <a:tc>
                  <a:txBody>
                    <a:bodyPr/>
                    <a:lstStyle/>
                    <a:p>
                      <a:pPr algn="ctr">
                        <a:defRPr sz="900">
                          <a:solidFill>
                            <a:srgbClr val="1A1A1A"/>
                          </a:solidFill>
                          <a:latin typeface="Arial"/>
                        </a:defRPr>
                      </a:pPr>
                      <a:r>
                        <a:t>1–15% (typical)</a:t>
                      </a:r>
                    </a:p>
                  </a:txBody>
                  <a:tcPr>
                    <a:solidFill>
                      <a:srgbClr val="FFFFFF"/>
                    </a:solidFill>
                  </a:tcPr>
                </a:tc>
                <a:tc>
                  <a:txBody>
                    <a:bodyPr/>
                    <a:lstStyle/>
                    <a:p>
                      <a:pPr algn="ctr">
                        <a:defRPr sz="900">
                          <a:solidFill>
                            <a:srgbClr val="1A1A1A"/>
                          </a:solidFill>
                          <a:latin typeface="Arial"/>
                        </a:defRPr>
                      </a:pPr>
                      <a:r>
                        <a:t>Factory calibration;</a:t>
                      </a:r>
                    </a:p>
                    <a:p>
                      <a:pPr algn="ctr">
                        <a:defRPr sz="900">
                          <a:solidFill>
                            <a:srgbClr val="1A1A1A"/>
                          </a:solidFill>
                          <a:latin typeface="Arial"/>
                        </a:defRPr>
                      </a:pPr>
                      <a:r>
                        <a:t>PP accuracy validates gain</a:t>
                      </a:r>
                    </a:p>
                  </a:txBody>
                  <a:tcPr>
                    <a:solidFill>
                      <a:srgbClr val="FFFFFF"/>
                    </a:solidFill>
                  </a:tcPr>
                </a:tc>
                <a:tc>
                  <a:txBody>
                    <a:bodyPr/>
                    <a:lstStyle/>
                    <a:p>
                      <a:pPr algn="ctr">
                        <a:defRPr sz="900">
                          <a:solidFill>
                            <a:srgbClr val="1A1A1A"/>
                          </a:solidFill>
                          <a:latin typeface="Arial"/>
                        </a:defRPr>
                      </a:pPr>
                      <a:r>
                        <a:t>Affects v</a:t>
                      </a:r>
                    </a:p>
                    <a:p>
                      <a:pPr algn="ctr">
                        <a:defRPr sz="900">
                          <a:solidFill>
                            <a:srgbClr val="1A1A1A"/>
                          </a:solidFill>
                          <a:latin typeface="Arial"/>
                        </a:defRPr>
                      </a:pPr>
                      <a:r>
                        <a:t>(scale shift);</a:t>
                      </a:r>
                    </a:p>
                    <a:p>
                      <a:pPr algn="ctr">
                        <a:defRPr sz="900">
                          <a:solidFill>
                            <a:srgbClr val="1A1A1A"/>
                          </a:solidFill>
                          <a:latin typeface="Arial"/>
                        </a:defRPr>
                      </a:pPr>
                      <a:r>
                        <a:t>zeroing ineffective</a:t>
                      </a:r>
                    </a:p>
                  </a:txBody>
                  <a:tcPr>
                    <a:solidFill>
                      <a:srgbClr val="FFFFFF"/>
                    </a:solidFill>
                  </a:tcPr>
                </a:tc>
              </a:tr>
            </a:tbl>
          </a:graphicData>
        </a:graphic>
      </p:graphicFrame>
      <p:sp>
        <p:nvSpPr>
          <p:cNvPr id="4" name="TextBox 3"/>
          <p:cNvSpPr txBox="1"/>
          <p:nvPr/>
        </p:nvSpPr>
        <p:spPr>
          <a:xfrm>
            <a:off x="457200" y="3200400"/>
            <a:ext cx="11247120" cy="731520"/>
          </a:xfrm>
          <a:prstGeom prst="rect">
            <a:avLst/>
          </a:prstGeom>
          <a:noFill/>
        </p:spPr>
        <p:txBody>
          <a:bodyPr wrap="square">
            <a:spAutoFit/>
          </a:bodyPr>
          <a:lstStyle/>
          <a:p>
            <a:pPr>
              <a:defRPr sz="1000" i="1">
                <a:solidFill>
                  <a:srgbClr val="333333"/>
                </a:solidFill>
                <a:latin typeface="Arial"/>
              </a:defRPr>
            </a:pPr>
            <a:r>
              <a:t>Table 1. Three DC offset sources in conventional invasive arterial pressure monitoring and engineering solutions for elimination. Note that gain error (bottom row) is NOT correctable by zero calibration and requires separate validation via pulse pressure accuracy.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defRPr sz="1800" b="1">
                <a:solidFill>
                  <a:srgbClr val="1A1A2E"/>
                </a:solidFill>
                <a:latin typeface="Arial"/>
              </a:defRPr>
            </a:pPr>
            <a:r>
              <a:t>Table 2. Statistical Comparison Across Four Simulation Scenarios (n = 150)</a:t>
            </a:r>
          </a:p>
        </p:txBody>
      </p:sp>
      <p:graphicFrame>
        <p:nvGraphicFramePr>
          <p:cNvPr id="3" name="Table 2"/>
          <p:cNvGraphicFramePr>
            <a:graphicFrameLocks noGrp="1"/>
          </p:cNvGraphicFramePr>
          <p:nvPr/>
        </p:nvGraphicFramePr>
        <p:xfrm>
          <a:off x="457200" y="1097280"/>
          <a:ext cx="11247120" cy="1828800"/>
        </p:xfrm>
        <a:graphic>
          <a:graphicData uri="http://schemas.openxmlformats.org/drawingml/2006/table">
            <a:tbl>
              <a:tblPr firstRow="1" bandRow="1">
                <a:tableStyleId>{5C22544A-7EE6-4342-B048-85BDC9FD1C3A}</a:tableStyleId>
              </a:tblPr>
              <a:tblGrid>
                <a:gridCol w="1124712"/>
                <a:gridCol w="1124712"/>
                <a:gridCol w="1124712"/>
                <a:gridCol w="1124712"/>
                <a:gridCol w="1124712"/>
                <a:gridCol w="1124712"/>
                <a:gridCol w="1124712"/>
                <a:gridCol w="1124712"/>
                <a:gridCol w="1124712"/>
                <a:gridCol w="1124712"/>
              </a:tblGrid>
              <a:tr h="365760">
                <a:tc>
                  <a:txBody>
                    <a:bodyPr/>
                    <a:lstStyle/>
                    <a:p>
                      <a:pPr algn="ctr">
                        <a:defRPr sz="1000" b="1">
                          <a:solidFill>
                            <a:srgbClr val="FFFFFF"/>
                          </a:solidFill>
                          <a:latin typeface="Arial"/>
                        </a:defRPr>
                      </a:pPr>
                      <a:r>
                        <a:t>Scenario</a:t>
                      </a:r>
                    </a:p>
                  </a:txBody>
                  <a:tcPr>
                    <a:solidFill>
                      <a:srgbClr val="2C5F8A"/>
                    </a:solidFill>
                  </a:tcPr>
                </a:tc>
                <a:tc>
                  <a:txBody>
                    <a:bodyPr/>
                    <a:lstStyle/>
                    <a:p>
                      <a:pPr algn="ctr">
                        <a:defRPr sz="1000" b="1">
                          <a:solidFill>
                            <a:srgbClr val="FFFFFF"/>
                          </a:solidFill>
                          <a:latin typeface="Arial"/>
                        </a:defRPr>
                      </a:pPr>
                      <a:r>
                        <a:t>CCC</a:t>
                      </a:r>
                    </a:p>
                  </a:txBody>
                  <a:tcPr>
                    <a:solidFill>
                      <a:srgbClr val="2C5F8A"/>
                    </a:solidFill>
                  </a:tcPr>
                </a:tc>
                <a:tc>
                  <a:txBody>
                    <a:bodyPr/>
                    <a:lstStyle/>
                    <a:p>
                      <a:pPr algn="ctr">
                        <a:defRPr sz="1000" b="1">
                          <a:solidFill>
                            <a:srgbClr val="FFFFFF"/>
                          </a:solidFill>
                          <a:latin typeface="Arial"/>
                        </a:defRPr>
                      </a:pPr>
                      <a:r>
                        <a:t>r</a:t>
                      </a:r>
                    </a:p>
                  </a:txBody>
                  <a:tcPr>
                    <a:solidFill>
                      <a:srgbClr val="2C5F8A"/>
                    </a:solidFill>
                  </a:tcPr>
                </a:tc>
                <a:tc>
                  <a:txBody>
                    <a:bodyPr/>
                    <a:lstStyle/>
                    <a:p>
                      <a:pPr algn="ctr">
                        <a:defRPr sz="1000" b="1">
                          <a:solidFill>
                            <a:srgbClr val="FFFFFF"/>
                          </a:solidFill>
                          <a:latin typeface="Arial"/>
                        </a:defRPr>
                      </a:pPr>
                      <a:r>
                        <a:t>Cb</a:t>
                      </a:r>
                    </a:p>
                  </a:txBody>
                  <a:tcPr>
                    <a:solidFill>
                      <a:srgbClr val="2C5F8A"/>
                    </a:solidFill>
                  </a:tcPr>
                </a:tc>
                <a:tc>
                  <a:txBody>
                    <a:bodyPr/>
                    <a:lstStyle/>
                    <a:p>
                      <a:pPr algn="ctr">
                        <a:defRPr sz="1000" b="1">
                          <a:solidFill>
                            <a:srgbClr val="FFFFFF"/>
                          </a:solidFill>
                          <a:latin typeface="Arial"/>
                        </a:defRPr>
                      </a:pPr>
                      <a:r>
                        <a:t>u</a:t>
                      </a:r>
                    </a:p>
                  </a:txBody>
                  <a:tcPr>
                    <a:solidFill>
                      <a:srgbClr val="2C5F8A"/>
                    </a:solidFill>
                  </a:tcPr>
                </a:tc>
                <a:tc>
                  <a:txBody>
                    <a:bodyPr/>
                    <a:lstStyle/>
                    <a:p>
                      <a:pPr algn="ctr">
                        <a:defRPr sz="1000" b="1">
                          <a:solidFill>
                            <a:srgbClr val="FFFFFF"/>
                          </a:solidFill>
                          <a:latin typeface="Arial"/>
                        </a:defRPr>
                      </a:pPr>
                      <a:r>
                        <a:t>v</a:t>
                      </a:r>
                    </a:p>
                  </a:txBody>
                  <a:tcPr>
                    <a:solidFill>
                      <a:srgbClr val="2C5F8A"/>
                    </a:solidFill>
                  </a:tcPr>
                </a:tc>
                <a:tc>
                  <a:txBody>
                    <a:bodyPr/>
                    <a:lstStyle/>
                    <a:p>
                      <a:pPr algn="ctr">
                        <a:defRPr sz="1000" b="1">
                          <a:solidFill>
                            <a:srgbClr val="FFFFFF"/>
                          </a:solidFill>
                          <a:latin typeface="Arial"/>
                        </a:defRPr>
                      </a:pPr>
                      <a:r>
                        <a:t>Bias</a:t>
                      </a:r>
                    </a:p>
                    <a:p>
                      <a:pPr algn="ctr">
                        <a:defRPr sz="1000" b="1">
                          <a:solidFill>
                            <a:srgbClr val="FFFFFF"/>
                          </a:solidFill>
                          <a:latin typeface="Arial"/>
                        </a:defRPr>
                      </a:pPr>
                      <a:r>
                        <a:t>(mmHg)</a:t>
                      </a:r>
                    </a:p>
                  </a:txBody>
                  <a:tcPr>
                    <a:solidFill>
                      <a:srgbClr val="2C5F8A"/>
                    </a:solidFill>
                  </a:tcPr>
                </a:tc>
                <a:tc>
                  <a:txBody>
                    <a:bodyPr/>
                    <a:lstStyle/>
                    <a:p>
                      <a:pPr algn="ctr">
                        <a:defRPr sz="1000" b="1">
                          <a:solidFill>
                            <a:srgbClr val="FFFFFF"/>
                          </a:solidFill>
                          <a:latin typeface="Arial"/>
                        </a:defRPr>
                      </a:pPr>
                      <a:r>
                        <a:t>LOA low</a:t>
                      </a:r>
                    </a:p>
                    <a:p>
                      <a:pPr algn="ctr">
                        <a:defRPr sz="1000" b="1">
                          <a:solidFill>
                            <a:srgbClr val="FFFFFF"/>
                          </a:solidFill>
                          <a:latin typeface="Arial"/>
                        </a:defRPr>
                      </a:pPr>
                      <a:r>
                        <a:t>(mmHg)</a:t>
                      </a:r>
                    </a:p>
                  </a:txBody>
                  <a:tcPr>
                    <a:solidFill>
                      <a:srgbClr val="2C5F8A"/>
                    </a:solidFill>
                  </a:tcPr>
                </a:tc>
                <a:tc>
                  <a:txBody>
                    <a:bodyPr/>
                    <a:lstStyle/>
                    <a:p>
                      <a:pPr algn="ctr">
                        <a:defRPr sz="1000" b="1">
                          <a:solidFill>
                            <a:srgbClr val="FFFFFF"/>
                          </a:solidFill>
                          <a:latin typeface="Arial"/>
                        </a:defRPr>
                      </a:pPr>
                      <a:r>
                        <a:t>LOA high</a:t>
                      </a:r>
                    </a:p>
                    <a:p>
                      <a:pPr algn="ctr">
                        <a:defRPr sz="1000" b="1">
                          <a:solidFill>
                            <a:srgbClr val="FFFFFF"/>
                          </a:solidFill>
                          <a:latin typeface="Arial"/>
                        </a:defRPr>
                      </a:pPr>
                      <a:r>
                        <a:t>(mmHg)</a:t>
                      </a:r>
                    </a:p>
                  </a:txBody>
                  <a:tcPr>
                    <a:solidFill>
                      <a:srgbClr val="2C5F8A"/>
                    </a:solidFill>
                  </a:tcPr>
                </a:tc>
                <a:tc>
                  <a:txBody>
                    <a:bodyPr/>
                    <a:lstStyle/>
                    <a:p>
                      <a:pPr algn="ctr">
                        <a:defRPr sz="1000" b="1">
                          <a:solidFill>
                            <a:srgbClr val="FFFFFF"/>
                          </a:solidFill>
                          <a:latin typeface="Arial"/>
                        </a:defRPr>
                      </a:pPr>
                      <a:r>
                        <a:t>PE (%)</a:t>
                      </a:r>
                    </a:p>
                  </a:txBody>
                  <a:tcPr>
                    <a:solidFill>
                      <a:srgbClr val="2C5F8A"/>
                    </a:solidFill>
                  </a:tcPr>
                </a:tc>
              </a:tr>
              <a:tr h="365760">
                <a:tc>
                  <a:txBody>
                    <a:bodyPr/>
                    <a:lstStyle/>
                    <a:p>
                      <a:pPr algn="ctr">
                        <a:defRPr sz="1000">
                          <a:solidFill>
                            <a:srgbClr val="1A1A1A"/>
                          </a:solidFill>
                          <a:latin typeface="Arial"/>
                        </a:defRPr>
                      </a:pPr>
                      <a:r>
                        <a:t>A: Before zeroing</a:t>
                      </a:r>
                    </a:p>
                  </a:txBody>
                  <a:tcPr>
                    <a:solidFill>
                      <a:srgbClr val="E8F0FE"/>
                    </a:solidFill>
                  </a:tcPr>
                </a:tc>
                <a:tc>
                  <a:txBody>
                    <a:bodyPr/>
                    <a:lstStyle/>
                    <a:p>
                      <a:pPr algn="ctr">
                        <a:defRPr sz="1000">
                          <a:solidFill>
                            <a:srgbClr val="1A1A1A"/>
                          </a:solidFill>
                          <a:latin typeface="Arial"/>
                        </a:defRPr>
                      </a:pPr>
                      <a:r>
                        <a:t>0.855</a:t>
                      </a:r>
                    </a:p>
                  </a:txBody>
                  <a:tcPr>
                    <a:solidFill>
                      <a:srgbClr val="E8F0FE"/>
                    </a:solidFill>
                  </a:tcPr>
                </a:tc>
                <a:tc>
                  <a:txBody>
                    <a:bodyPr/>
                    <a:lstStyle/>
                    <a:p>
                      <a:pPr algn="ctr">
                        <a:defRPr sz="1000">
                          <a:solidFill>
                            <a:srgbClr val="1A1A1A"/>
                          </a:solidFill>
                          <a:latin typeface="Arial"/>
                        </a:defRPr>
                      </a:pPr>
                      <a:r>
                        <a:t>0.986</a:t>
                      </a:r>
                    </a:p>
                  </a:txBody>
                  <a:tcPr>
                    <a:solidFill>
                      <a:srgbClr val="E8F0FE"/>
                    </a:solidFill>
                  </a:tcPr>
                </a:tc>
                <a:tc>
                  <a:txBody>
                    <a:bodyPr/>
                    <a:lstStyle/>
                    <a:p>
                      <a:pPr algn="ctr">
                        <a:defRPr sz="1000">
                          <a:solidFill>
                            <a:srgbClr val="1A1A1A"/>
                          </a:solidFill>
                          <a:latin typeface="Arial"/>
                        </a:defRPr>
                      </a:pPr>
                      <a:r>
                        <a:t>0.867</a:t>
                      </a:r>
                    </a:p>
                  </a:txBody>
                  <a:tcPr>
                    <a:solidFill>
                      <a:srgbClr val="E8F0FE"/>
                    </a:solidFill>
                  </a:tcPr>
                </a:tc>
                <a:tc>
                  <a:txBody>
                    <a:bodyPr/>
                    <a:lstStyle/>
                    <a:p>
                      <a:pPr algn="ctr">
                        <a:defRPr sz="1000">
                          <a:solidFill>
                            <a:srgbClr val="1A1A1A"/>
                          </a:solidFill>
                          <a:latin typeface="Arial"/>
                        </a:defRPr>
                      </a:pPr>
                      <a:r>
                        <a:t>−0.55</a:t>
                      </a:r>
                    </a:p>
                  </a:txBody>
                  <a:tcPr>
                    <a:solidFill>
                      <a:srgbClr val="E8F0FE"/>
                    </a:solidFill>
                  </a:tcPr>
                </a:tc>
                <a:tc>
                  <a:txBody>
                    <a:bodyPr/>
                    <a:lstStyle/>
                    <a:p>
                      <a:pPr algn="ctr">
                        <a:defRPr sz="1000">
                          <a:solidFill>
                            <a:srgbClr val="1A1A1A"/>
                          </a:solidFill>
                          <a:latin typeface="Arial"/>
                        </a:defRPr>
                      </a:pPr>
                      <a:r>
                        <a:t>0.99</a:t>
                      </a:r>
                    </a:p>
                  </a:txBody>
                  <a:tcPr>
                    <a:solidFill>
                      <a:srgbClr val="E8F0FE"/>
                    </a:solidFill>
                  </a:tcPr>
                </a:tc>
                <a:tc>
                  <a:txBody>
                    <a:bodyPr/>
                    <a:lstStyle/>
                    <a:p>
                      <a:pPr algn="ctr">
                        <a:defRPr sz="1000">
                          <a:solidFill>
                            <a:srgbClr val="1A1A1A"/>
                          </a:solidFill>
                          <a:latin typeface="Arial"/>
                        </a:defRPr>
                      </a:pPr>
                      <a:r>
                        <a:t>11.9</a:t>
                      </a:r>
                    </a:p>
                  </a:txBody>
                  <a:tcPr>
                    <a:solidFill>
                      <a:srgbClr val="E8F0FE"/>
                    </a:solidFill>
                  </a:tcPr>
                </a:tc>
                <a:tc>
                  <a:txBody>
                    <a:bodyPr/>
                    <a:lstStyle/>
                    <a:p>
                      <a:pPr algn="ctr">
                        <a:defRPr sz="1000">
                          <a:solidFill>
                            <a:srgbClr val="1A1A1A"/>
                          </a:solidFill>
                          <a:latin typeface="Arial"/>
                        </a:defRPr>
                      </a:pPr>
                      <a:r>
                        <a:t>4.8</a:t>
                      </a:r>
                    </a:p>
                  </a:txBody>
                  <a:tcPr>
                    <a:solidFill>
                      <a:srgbClr val="E8F0FE"/>
                    </a:solidFill>
                  </a:tcPr>
                </a:tc>
                <a:tc>
                  <a:txBody>
                    <a:bodyPr/>
                    <a:lstStyle/>
                    <a:p>
                      <a:pPr algn="ctr">
                        <a:defRPr sz="1000">
                          <a:solidFill>
                            <a:srgbClr val="1A1A1A"/>
                          </a:solidFill>
                          <a:latin typeface="Arial"/>
                        </a:defRPr>
                      </a:pPr>
                      <a:r>
                        <a:t>19.0</a:t>
                      </a:r>
                    </a:p>
                  </a:txBody>
                  <a:tcPr>
                    <a:solidFill>
                      <a:srgbClr val="E8F0FE"/>
                    </a:solidFill>
                  </a:tcPr>
                </a:tc>
                <a:tc>
                  <a:txBody>
                    <a:bodyPr/>
                    <a:lstStyle/>
                    <a:p>
                      <a:pPr algn="ctr">
                        <a:defRPr sz="1000">
                          <a:solidFill>
                            <a:srgbClr val="1A1A1A"/>
                          </a:solidFill>
                          <a:latin typeface="Arial"/>
                        </a:defRPr>
                      </a:pPr>
                      <a:r>
                        <a:t>7.2</a:t>
                      </a:r>
                    </a:p>
                  </a:txBody>
                  <a:tcPr>
                    <a:solidFill>
                      <a:srgbClr val="E8F0FE"/>
                    </a:solidFill>
                  </a:tcPr>
                </a:tc>
              </a:tr>
              <a:tr h="365760">
                <a:tc>
                  <a:txBody>
                    <a:bodyPr/>
                    <a:lstStyle/>
                    <a:p>
                      <a:pPr algn="ctr">
                        <a:defRPr sz="1000">
                          <a:solidFill>
                            <a:srgbClr val="1A1A1A"/>
                          </a:solidFill>
                          <a:latin typeface="Arial"/>
                        </a:defRPr>
                      </a:pPr>
                      <a:r>
                        <a:t>B: After zeroing</a:t>
                      </a:r>
                    </a:p>
                  </a:txBody>
                  <a:tcPr>
                    <a:solidFill>
                      <a:srgbClr val="FFFFFF"/>
                    </a:solidFill>
                  </a:tcPr>
                </a:tc>
                <a:tc>
                  <a:txBody>
                    <a:bodyPr/>
                    <a:lstStyle/>
                    <a:p>
                      <a:pPr algn="ctr">
                        <a:defRPr sz="1000">
                          <a:solidFill>
                            <a:srgbClr val="1A1A1A"/>
                          </a:solidFill>
                          <a:latin typeface="Arial"/>
                        </a:defRPr>
                      </a:pPr>
                      <a:r>
                        <a:t>0.986</a:t>
                      </a:r>
                    </a:p>
                  </a:txBody>
                  <a:tcPr>
                    <a:solidFill>
                      <a:srgbClr val="FFFFFF"/>
                    </a:solidFill>
                  </a:tcPr>
                </a:tc>
                <a:tc>
                  <a:txBody>
                    <a:bodyPr/>
                    <a:lstStyle/>
                    <a:p>
                      <a:pPr algn="ctr">
                        <a:defRPr sz="1000">
                          <a:solidFill>
                            <a:srgbClr val="1A1A1A"/>
                          </a:solidFill>
                          <a:latin typeface="Arial"/>
                        </a:defRPr>
                      </a:pPr>
                      <a:r>
                        <a:t>0.986</a:t>
                      </a:r>
                    </a:p>
                  </a:txBody>
                  <a:tcPr>
                    <a:solidFill>
                      <a:srgbClr val="FFFFFF"/>
                    </a:solidFill>
                  </a:tcPr>
                </a:tc>
                <a:tc>
                  <a:txBody>
                    <a:bodyPr/>
                    <a:lstStyle/>
                    <a:p>
                      <a:pPr algn="ctr">
                        <a:defRPr sz="1000">
                          <a:solidFill>
                            <a:srgbClr val="1A1A1A"/>
                          </a:solidFill>
                          <a:latin typeface="Arial"/>
                        </a:defRPr>
                      </a:pPr>
                      <a:r>
                        <a:t>1.000</a:t>
                      </a:r>
                    </a:p>
                  </a:txBody>
                  <a:tcPr>
                    <a:solidFill>
                      <a:srgbClr val="FFFFFF"/>
                    </a:solidFill>
                  </a:tcPr>
                </a:tc>
                <a:tc>
                  <a:txBody>
                    <a:bodyPr/>
                    <a:lstStyle/>
                    <a:p>
                      <a:pPr algn="ctr">
                        <a:defRPr sz="1000">
                          <a:solidFill>
                            <a:srgbClr val="1A1A1A"/>
                          </a:solidFill>
                          <a:latin typeface="Arial"/>
                        </a:defRPr>
                      </a:pPr>
                      <a:r>
                        <a:t>0.01</a:t>
                      </a:r>
                    </a:p>
                  </a:txBody>
                  <a:tcPr>
                    <a:solidFill>
                      <a:srgbClr val="FFFFFF"/>
                    </a:solidFill>
                  </a:tcPr>
                </a:tc>
                <a:tc>
                  <a:txBody>
                    <a:bodyPr/>
                    <a:lstStyle/>
                    <a:p>
                      <a:pPr algn="ctr">
                        <a:defRPr sz="1000">
                          <a:solidFill>
                            <a:srgbClr val="1A1A1A"/>
                          </a:solidFill>
                          <a:latin typeface="Arial"/>
                        </a:defRPr>
                      </a:pPr>
                      <a:r>
                        <a:t>0.99</a:t>
                      </a:r>
                    </a:p>
                  </a:txBody>
                  <a:tcPr>
                    <a:solidFill>
                      <a:srgbClr val="FFFFFF"/>
                    </a:solidFill>
                  </a:tcPr>
                </a:tc>
                <a:tc>
                  <a:txBody>
                    <a:bodyPr/>
                    <a:lstStyle/>
                    <a:p>
                      <a:pPr algn="ctr">
                        <a:defRPr sz="1000">
                          <a:solidFill>
                            <a:srgbClr val="1A1A1A"/>
                          </a:solidFill>
                          <a:latin typeface="Arial"/>
                        </a:defRPr>
                      </a:pPr>
                      <a:r>
                        <a:t>−0.1</a:t>
                      </a:r>
                    </a:p>
                  </a:txBody>
                  <a:tcPr>
                    <a:solidFill>
                      <a:srgbClr val="FFFFFF"/>
                    </a:solidFill>
                  </a:tcPr>
                </a:tc>
                <a:tc>
                  <a:txBody>
                    <a:bodyPr/>
                    <a:lstStyle/>
                    <a:p>
                      <a:pPr algn="ctr">
                        <a:defRPr sz="1000">
                          <a:solidFill>
                            <a:srgbClr val="1A1A1A"/>
                          </a:solidFill>
                          <a:latin typeface="Arial"/>
                        </a:defRPr>
                      </a:pPr>
                      <a:r>
                        <a:t>−7.2</a:t>
                      </a:r>
                    </a:p>
                  </a:txBody>
                  <a:tcPr>
                    <a:solidFill>
                      <a:srgbClr val="FFFFFF"/>
                    </a:solidFill>
                  </a:tcPr>
                </a:tc>
                <a:tc>
                  <a:txBody>
                    <a:bodyPr/>
                    <a:lstStyle/>
                    <a:p>
                      <a:pPr algn="ctr">
                        <a:defRPr sz="1000">
                          <a:solidFill>
                            <a:srgbClr val="1A1A1A"/>
                          </a:solidFill>
                          <a:latin typeface="Arial"/>
                        </a:defRPr>
                      </a:pPr>
                      <a:r>
                        <a:t>7.0</a:t>
                      </a:r>
                    </a:p>
                  </a:txBody>
                  <a:tcPr>
                    <a:solidFill>
                      <a:srgbClr val="FFFFFF"/>
                    </a:solidFill>
                  </a:tcPr>
                </a:tc>
                <a:tc>
                  <a:txBody>
                    <a:bodyPr/>
                    <a:lstStyle/>
                    <a:p>
                      <a:pPr algn="ctr">
                        <a:defRPr sz="1000">
                          <a:solidFill>
                            <a:srgbClr val="1A1A1A"/>
                          </a:solidFill>
                          <a:latin typeface="Arial"/>
                        </a:defRPr>
                      </a:pPr>
                      <a:r>
                        <a:t>7.2</a:t>
                      </a:r>
                    </a:p>
                  </a:txBody>
                  <a:tcPr>
                    <a:solidFill>
                      <a:srgbClr val="FFFFFF"/>
                    </a:solidFill>
                  </a:tcPr>
                </a:tc>
              </a:tr>
              <a:tr h="365760">
                <a:tc>
                  <a:txBody>
                    <a:bodyPr/>
                    <a:lstStyle/>
                    <a:p>
                      <a:pPr algn="ctr">
                        <a:defRPr sz="1000">
                          <a:solidFill>
                            <a:srgbClr val="1A1A1A"/>
                          </a:solidFill>
                          <a:latin typeface="Arial"/>
                        </a:defRPr>
                      </a:pPr>
                      <a:r>
                        <a:t>C: Gain error</a:t>
                      </a:r>
                    </a:p>
                  </a:txBody>
                  <a:tcPr>
                    <a:solidFill>
                      <a:srgbClr val="E8F0FE"/>
                    </a:solidFill>
                  </a:tcPr>
                </a:tc>
                <a:tc>
                  <a:txBody>
                    <a:bodyPr/>
                    <a:lstStyle/>
                    <a:p>
                      <a:pPr algn="ctr">
                        <a:defRPr sz="1000">
                          <a:solidFill>
                            <a:srgbClr val="1A1A1A"/>
                          </a:solidFill>
                          <a:latin typeface="Arial"/>
                        </a:defRPr>
                      </a:pPr>
                      <a:r>
                        <a:t>0.855</a:t>
                      </a:r>
                    </a:p>
                  </a:txBody>
                  <a:tcPr>
                    <a:solidFill>
                      <a:srgbClr val="E8F0FE"/>
                    </a:solidFill>
                  </a:tcPr>
                </a:tc>
                <a:tc>
                  <a:txBody>
                    <a:bodyPr/>
                    <a:lstStyle/>
                    <a:p>
                      <a:pPr algn="ctr">
                        <a:defRPr sz="1000">
                          <a:solidFill>
                            <a:srgbClr val="1A1A1A"/>
                          </a:solidFill>
                          <a:latin typeface="Arial"/>
                        </a:defRPr>
                      </a:pPr>
                      <a:r>
                        <a:t>0.982</a:t>
                      </a:r>
                    </a:p>
                  </a:txBody>
                  <a:tcPr>
                    <a:solidFill>
                      <a:srgbClr val="E8F0FE"/>
                    </a:solidFill>
                  </a:tcPr>
                </a:tc>
                <a:tc>
                  <a:txBody>
                    <a:bodyPr/>
                    <a:lstStyle/>
                    <a:p>
                      <a:pPr algn="ctr">
                        <a:defRPr sz="1000">
                          <a:solidFill>
                            <a:srgbClr val="1A1A1A"/>
                          </a:solidFill>
                          <a:latin typeface="Arial"/>
                        </a:defRPr>
                      </a:pPr>
                      <a:r>
                        <a:t>0.870</a:t>
                      </a:r>
                    </a:p>
                  </a:txBody>
                  <a:tcPr>
                    <a:solidFill>
                      <a:srgbClr val="E8F0FE"/>
                    </a:solidFill>
                  </a:tcPr>
                </a:tc>
                <a:tc>
                  <a:txBody>
                    <a:bodyPr/>
                    <a:lstStyle/>
                    <a:p>
                      <a:pPr algn="ctr">
                        <a:defRPr sz="1000">
                          <a:solidFill>
                            <a:srgbClr val="1A1A1A"/>
                          </a:solidFill>
                          <a:latin typeface="Arial"/>
                        </a:defRPr>
                      </a:pPr>
                      <a:r>
                        <a:t>0.54</a:t>
                      </a:r>
                    </a:p>
                  </a:txBody>
                  <a:tcPr>
                    <a:solidFill>
                      <a:srgbClr val="E8F0FE"/>
                    </a:solidFill>
                  </a:tcPr>
                </a:tc>
                <a:tc>
                  <a:txBody>
                    <a:bodyPr/>
                    <a:lstStyle/>
                    <a:p>
                      <a:pPr algn="ctr">
                        <a:defRPr sz="1000">
                          <a:solidFill>
                            <a:srgbClr val="1A1A1A"/>
                          </a:solidFill>
                          <a:latin typeface="Arial"/>
                        </a:defRPr>
                      </a:pPr>
                      <a:r>
                        <a:t>1.11</a:t>
                      </a:r>
                    </a:p>
                  </a:txBody>
                  <a:tcPr>
                    <a:solidFill>
                      <a:srgbClr val="E8F0FE"/>
                    </a:solidFill>
                  </a:tcPr>
                </a:tc>
                <a:tc>
                  <a:txBody>
                    <a:bodyPr/>
                    <a:lstStyle/>
                    <a:p>
                      <a:pPr algn="ctr">
                        <a:defRPr sz="1000">
                          <a:solidFill>
                            <a:srgbClr val="1A1A1A"/>
                          </a:solidFill>
                          <a:latin typeface="Arial"/>
                        </a:defRPr>
                      </a:pPr>
                      <a:r>
                        <a:t>−10.9</a:t>
                      </a:r>
                    </a:p>
                  </a:txBody>
                  <a:tcPr>
                    <a:solidFill>
                      <a:srgbClr val="E8F0FE"/>
                    </a:solidFill>
                  </a:tcPr>
                </a:tc>
                <a:tc>
                  <a:txBody>
                    <a:bodyPr/>
                    <a:lstStyle/>
                    <a:p>
                      <a:pPr algn="ctr">
                        <a:defRPr sz="1000">
                          <a:solidFill>
                            <a:srgbClr val="1A1A1A"/>
                          </a:solidFill>
                          <a:latin typeface="Arial"/>
                        </a:defRPr>
                      </a:pPr>
                      <a:r>
                        <a:t>−19.4</a:t>
                      </a:r>
                    </a:p>
                  </a:txBody>
                  <a:tcPr>
                    <a:solidFill>
                      <a:srgbClr val="E8F0FE"/>
                    </a:solidFill>
                  </a:tcPr>
                </a:tc>
                <a:tc>
                  <a:txBody>
                    <a:bodyPr/>
                    <a:lstStyle/>
                    <a:p>
                      <a:pPr algn="ctr">
                        <a:defRPr sz="1000">
                          <a:solidFill>
                            <a:srgbClr val="1A1A1A"/>
                          </a:solidFill>
                          <a:latin typeface="Arial"/>
                        </a:defRPr>
                      </a:pPr>
                      <a:r>
                        <a:t>−2.4</a:t>
                      </a:r>
                    </a:p>
                  </a:txBody>
                  <a:tcPr>
                    <a:solidFill>
                      <a:srgbClr val="E8F0FE"/>
                    </a:solidFill>
                  </a:tcPr>
                </a:tc>
                <a:tc>
                  <a:txBody>
                    <a:bodyPr/>
                    <a:lstStyle/>
                    <a:p>
                      <a:pPr algn="ctr">
                        <a:defRPr sz="1000">
                          <a:solidFill>
                            <a:srgbClr val="1A1A1A"/>
                          </a:solidFill>
                          <a:latin typeface="Arial"/>
                        </a:defRPr>
                      </a:pPr>
                      <a:r>
                        <a:t>8.7</a:t>
                      </a:r>
                    </a:p>
                  </a:txBody>
                  <a:tcPr>
                    <a:solidFill>
                      <a:srgbClr val="E8F0FE"/>
                    </a:solidFill>
                  </a:tcPr>
                </a:tc>
              </a:tr>
              <a:tr h="365760">
                <a:tc>
                  <a:txBody>
                    <a:bodyPr/>
                    <a:lstStyle/>
                    <a:p>
                      <a:pPr algn="ctr">
                        <a:defRPr sz="1000">
                          <a:solidFill>
                            <a:srgbClr val="1A1A1A"/>
                          </a:solidFill>
                          <a:latin typeface="Arial"/>
                        </a:defRPr>
                      </a:pPr>
                      <a:r>
                        <a:t>D: Gain + offset</a:t>
                      </a:r>
                    </a:p>
                  </a:txBody>
                  <a:tcPr>
                    <a:solidFill>
                      <a:srgbClr val="FFFFFF"/>
                    </a:solidFill>
                  </a:tcPr>
                </a:tc>
                <a:tc>
                  <a:txBody>
                    <a:bodyPr/>
                    <a:lstStyle/>
                    <a:p>
                      <a:pPr algn="ctr">
                        <a:defRPr sz="1000">
                          <a:solidFill>
                            <a:srgbClr val="1A1A1A"/>
                          </a:solidFill>
                          <a:latin typeface="Arial"/>
                        </a:defRPr>
                      </a:pPr>
                      <a:r>
                        <a:t>0.976</a:t>
                      </a:r>
                    </a:p>
                  </a:txBody>
                  <a:tcPr>
                    <a:solidFill>
                      <a:srgbClr val="FFFFFF"/>
                    </a:solidFill>
                  </a:tcPr>
                </a:tc>
                <a:tc>
                  <a:txBody>
                    <a:bodyPr/>
                    <a:lstStyle/>
                    <a:p>
                      <a:pPr algn="ctr">
                        <a:defRPr sz="1000">
                          <a:solidFill>
                            <a:srgbClr val="1A1A1A"/>
                          </a:solidFill>
                          <a:latin typeface="Arial"/>
                        </a:defRPr>
                      </a:pPr>
                      <a:r>
                        <a:t>0.982</a:t>
                      </a:r>
                    </a:p>
                  </a:txBody>
                  <a:tcPr>
                    <a:solidFill>
                      <a:srgbClr val="FFFFFF"/>
                    </a:solidFill>
                  </a:tcPr>
                </a:tc>
                <a:tc>
                  <a:txBody>
                    <a:bodyPr/>
                    <a:lstStyle/>
                    <a:p>
                      <a:pPr algn="ctr">
                        <a:defRPr sz="1000">
                          <a:solidFill>
                            <a:srgbClr val="1A1A1A"/>
                          </a:solidFill>
                          <a:latin typeface="Arial"/>
                        </a:defRPr>
                      </a:pPr>
                      <a:r>
                        <a:t>0.993</a:t>
                      </a:r>
                    </a:p>
                  </a:txBody>
                  <a:tcPr>
                    <a:solidFill>
                      <a:srgbClr val="FFFFFF"/>
                    </a:solidFill>
                  </a:tcPr>
                </a:tc>
                <a:tc>
                  <a:txBody>
                    <a:bodyPr/>
                    <a:lstStyle/>
                    <a:p>
                      <a:pPr algn="ctr">
                        <a:defRPr sz="1000">
                          <a:solidFill>
                            <a:srgbClr val="1A1A1A"/>
                          </a:solidFill>
                          <a:latin typeface="Arial"/>
                        </a:defRPr>
                      </a:pPr>
                      <a:r>
                        <a:t>−0.05</a:t>
                      </a:r>
                    </a:p>
                  </a:txBody>
                  <a:tcPr>
                    <a:solidFill>
                      <a:srgbClr val="FFFFFF"/>
                    </a:solidFill>
                  </a:tcPr>
                </a:tc>
                <a:tc>
                  <a:txBody>
                    <a:bodyPr/>
                    <a:lstStyle/>
                    <a:p>
                      <a:pPr algn="ctr">
                        <a:defRPr sz="1000">
                          <a:solidFill>
                            <a:srgbClr val="1A1A1A"/>
                          </a:solidFill>
                          <a:latin typeface="Arial"/>
                        </a:defRPr>
                      </a:pPr>
                      <a:r>
                        <a:t>1.11</a:t>
                      </a:r>
                    </a:p>
                  </a:txBody>
                  <a:tcPr>
                    <a:solidFill>
                      <a:srgbClr val="FFFFFF"/>
                    </a:solidFill>
                  </a:tcPr>
                </a:tc>
                <a:tc>
                  <a:txBody>
                    <a:bodyPr/>
                    <a:lstStyle/>
                    <a:p>
                      <a:pPr algn="ctr">
                        <a:defRPr sz="1000">
                          <a:solidFill>
                            <a:srgbClr val="1A1A1A"/>
                          </a:solidFill>
                          <a:latin typeface="Arial"/>
                        </a:defRPr>
                      </a:pPr>
                      <a:r>
                        <a:t>1.1</a:t>
                      </a:r>
                    </a:p>
                  </a:txBody>
                  <a:tcPr>
                    <a:solidFill>
                      <a:srgbClr val="FFFFFF"/>
                    </a:solidFill>
                  </a:tcPr>
                </a:tc>
                <a:tc>
                  <a:txBody>
                    <a:bodyPr/>
                    <a:lstStyle/>
                    <a:p>
                      <a:pPr algn="ctr">
                        <a:defRPr sz="1000">
                          <a:solidFill>
                            <a:srgbClr val="1A1A1A"/>
                          </a:solidFill>
                          <a:latin typeface="Arial"/>
                        </a:defRPr>
                      </a:pPr>
                      <a:r>
                        <a:t>−7.4</a:t>
                      </a:r>
                    </a:p>
                  </a:txBody>
                  <a:tcPr>
                    <a:solidFill>
                      <a:srgbClr val="FFFFFF"/>
                    </a:solidFill>
                  </a:tcPr>
                </a:tc>
                <a:tc>
                  <a:txBody>
                    <a:bodyPr/>
                    <a:lstStyle/>
                    <a:p>
                      <a:pPr algn="ctr">
                        <a:defRPr sz="1000">
                          <a:solidFill>
                            <a:srgbClr val="1A1A1A"/>
                          </a:solidFill>
                          <a:latin typeface="Arial"/>
                        </a:defRPr>
                      </a:pPr>
                      <a:r>
                        <a:t>9.6</a:t>
                      </a:r>
                    </a:p>
                  </a:txBody>
                  <a:tcPr>
                    <a:solidFill>
                      <a:srgbClr val="FFFFFF"/>
                    </a:solidFill>
                  </a:tcPr>
                </a:tc>
                <a:tc>
                  <a:txBody>
                    <a:bodyPr/>
                    <a:lstStyle/>
                    <a:p>
                      <a:pPr algn="ctr">
                        <a:defRPr sz="1000">
                          <a:solidFill>
                            <a:srgbClr val="1A1A1A"/>
                          </a:solidFill>
                          <a:latin typeface="Arial"/>
                        </a:defRPr>
                      </a:pPr>
                      <a:r>
                        <a:t>8.7</a:t>
                      </a:r>
                    </a:p>
                  </a:txBody>
                  <a:tcPr>
                    <a:solidFill>
                      <a:srgbClr val="FFFFFF"/>
                    </a:solidFill>
                  </a:tcPr>
                </a:tc>
              </a:tr>
            </a:tbl>
          </a:graphicData>
        </a:graphic>
      </p:graphicFrame>
      <p:sp>
        <p:nvSpPr>
          <p:cNvPr id="4" name="TextBox 3"/>
          <p:cNvSpPr txBox="1"/>
          <p:nvPr/>
        </p:nvSpPr>
        <p:spPr>
          <a:xfrm>
            <a:off x="457200" y="3200400"/>
            <a:ext cx="11247120" cy="731520"/>
          </a:xfrm>
          <a:prstGeom prst="rect">
            <a:avLst/>
          </a:prstGeom>
          <a:noFill/>
        </p:spPr>
        <p:txBody>
          <a:bodyPr wrap="square">
            <a:spAutoFit/>
          </a:bodyPr>
          <a:lstStyle/>
          <a:p>
            <a:pPr>
              <a:defRPr sz="1000" i="1">
                <a:solidFill>
                  <a:srgbClr val="333333"/>
                </a:solidFill>
                <a:latin typeface="Arial"/>
              </a:defRPr>
            </a:pPr>
            <a:r>
              <a:t>Table 2. CCC = Lin's concordance correlation coefficient; r = Pearson correlation (precision); Cb = bias correction factor (accuracy); u = location shift; v = scale shift; LOA = limits of agreement; PE = percentage error. Scenarios B and C have similar bias (≈0) but very different Cb (1.000 vs. 0.870), demonstrating that BA analysis alone cannot detect gain error.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