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1. In-sample 1-year GDP growth RMSE across M0-M4 for 39 countries (lower is better).</a:t>
            </a:r>
          </a:p>
        </p:txBody>
      </p:sp>
      <p:pic>
        <p:nvPicPr>
          <p:cNvPr id="3" name="Picture 2" descr="fig1_m_ranking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In-sample 1-year GDP growth RMSE across M0-M4 for 39 countries (lower is better).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2. Out-of-sample MAPE on 2015-19 held-out window; M2 achieves 13% relative improvement vs M0.</a:t>
            </a:r>
          </a:p>
        </p:txBody>
      </p:sp>
      <p:pic>
        <p:nvPicPr>
          <p:cNvPr id="3" name="Picture 2" descr="fig2_oo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Out-of-sample MAPE on 2015-19 held-out window; M2 achieves 13% relative improvement vs M0.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3. PIM stock K_tang+betaK_I versus CWON PCA (within-country demeaned log).</a:t>
            </a:r>
          </a:p>
        </p:txBody>
      </p:sp>
      <p:pic>
        <p:nvPicPr>
          <p:cNvPr id="3" name="Picture 2" descr="fig3_trajectorie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PIM stock K_tang+betaK_I versus CWON PCA (within-country demeaned log).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4. gamma_price sensitivity of PIM/CWON log-ratio; Japan gap closes around gamma=+0.02.</a:t>
            </a:r>
          </a:p>
        </p:txBody>
      </p:sp>
      <p:pic>
        <p:nvPicPr>
          <p:cNvPr id="3" name="Picture 2" descr="fig4_gamma_pric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gamma_price sensitivity of PIM/CWON log-ratio; Japan gap closes around gamma=+0.02.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5. Conceptual diagram of the population-capital tempo correspondence.</a:t>
            </a:r>
          </a:p>
        </p:txBody>
      </p:sp>
      <p:pic>
        <p:nvPicPr>
          <p:cNvPr id="3" name="Picture 2" descr="fig5_concep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Conceptual diagram of the population-capital tempo correspondence.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6. Relational PIM diagnostics: rho_2 across 39 countries under M0 vs M4.</a:t>
            </a:r>
          </a:p>
        </p:txBody>
      </p:sp>
      <p:pic>
        <p:nvPicPr>
          <p:cNvPr id="3" name="Picture 2" descr="fig6_rpim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Relational PIM diagnostics: rho_2 across 39 countries under M0 vs M4.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7. Delta-mu sensitivity: mu_hat under +/-20% depreciation perturbation.</a:t>
            </a:r>
          </a:p>
        </p:txBody>
      </p:sp>
      <p:pic>
        <p:nvPicPr>
          <p:cNvPr id="3" name="Picture 2" descr="fig7_delta_sensitivity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Delta-mu sensitivity: mu_hat under +/-20% depreciation perturbation.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8. Conditional OOS evaluation: interior-solution vs boundary countries.</a:t>
            </a:r>
          </a:p>
        </p:txBody>
      </p:sp>
      <p:pic>
        <p:nvPicPr>
          <p:cNvPr id="3" name="Picture 2" descr="fig8_conditional_oo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Conditional OOS evaluation: interior-solution vs boundary countries.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9. Cross-sectional regression of rho_2 on R&amp;D intensity.</a:t>
            </a:r>
          </a:p>
        </p:txBody>
      </p:sp>
      <p:pic>
        <p:nvPicPr>
          <p:cNvPr id="3" name="Picture 2" descr="fig9_rho2_regression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Cross-sectional regression of rho_2 on R&amp;D intensity.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10. Solow-residual decomposition: M0 vs tempo-adjusted (M2) vs joint (M4) for six representative countries.</a:t>
            </a:r>
          </a:p>
        </p:txBody>
      </p:sp>
      <p:pic>
        <p:nvPicPr>
          <p:cNvPr id="3" name="Picture 2" descr="fig10_solow_decomp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Solow-residual decomposition: M0 vs tempo-adjusted (M2) vs joint (M4) for six representative countries.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11. National wealth: CWON official vs intangible-adjusted produced capital (2019).</a:t>
            </a:r>
          </a:p>
        </p:txBody>
      </p:sp>
      <p:pic>
        <p:nvPicPr>
          <p:cNvPr id="3" name="Picture 2" descr="fig11_counterfactual_wealth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National wealth: CWON official vs intangible-adjusted produced capital (2019).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