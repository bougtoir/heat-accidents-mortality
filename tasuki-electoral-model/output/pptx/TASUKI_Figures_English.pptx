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Arrow 1"/>
          <p:cNvSpPr/>
          <p:nvPr/>
        </p:nvSpPr>
        <p:spPr>
          <a:xfrm>
            <a:off x="2788920" y="1440180"/>
            <a:ext cx="365760" cy="182880"/>
          </a:xfrm>
          <a:prstGeom prst="rightArrow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Arrow 2"/>
          <p:cNvSpPr/>
          <p:nvPr/>
        </p:nvSpPr>
        <p:spPr>
          <a:xfrm>
            <a:off x="5623560" y="1440180"/>
            <a:ext cx="365760" cy="182880"/>
          </a:xfrm>
          <a:prstGeom prst="rightArrow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wn Arrow 3"/>
          <p:cNvSpPr/>
          <p:nvPr/>
        </p:nvSpPr>
        <p:spPr>
          <a:xfrm>
            <a:off x="7132320" y="2011680"/>
            <a:ext cx="182880" cy="685800"/>
          </a:xfrm>
          <a:prstGeom prst="downArrow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eft Arrow 4"/>
          <p:cNvSpPr/>
          <p:nvPr/>
        </p:nvSpPr>
        <p:spPr>
          <a:xfrm>
            <a:off x="5623560" y="3086100"/>
            <a:ext cx="365760" cy="182880"/>
          </a:xfrm>
          <a:prstGeom prst="leftArrow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ft Arrow 5"/>
          <p:cNvSpPr/>
          <p:nvPr/>
        </p:nvSpPr>
        <p:spPr>
          <a:xfrm>
            <a:off x="2788920" y="3086100"/>
            <a:ext cx="365760" cy="182880"/>
          </a:xfrm>
          <a:prstGeom prst="leftArrow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Up Arrow 6"/>
          <p:cNvSpPr/>
          <p:nvPr/>
        </p:nvSpPr>
        <p:spPr>
          <a:xfrm>
            <a:off x="1444752" y="2011680"/>
            <a:ext cx="219456" cy="685800"/>
          </a:xfrm>
          <a:prstGeom prst="upArrow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097280"/>
            <a:ext cx="2377440" cy="868680"/>
          </a:xfrm>
          <a:prstGeom prst="roundRect">
            <a:avLst/>
          </a:prstGeom>
          <a:solidFill>
            <a:srgbClr val="2196F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1">
                <a:solidFill>
                  <a:srgbClr val="FFFFFF"/>
                </a:solidFill>
              </a:rPr>
              <a:t>Phase 1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Pledge Declaration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w₁, w₂, …, wₖ (Σ=1)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097280"/>
            <a:ext cx="2377440" cy="868680"/>
          </a:xfrm>
          <a:prstGeom prst="roundRect">
            <a:avLst/>
          </a:prstGeom>
          <a:solidFill>
            <a:srgbClr val="4CAF5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1">
                <a:solidFill>
                  <a:srgbClr val="FFFFFF"/>
                </a:solidFill>
              </a:rPr>
              <a:t>Phase 2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Election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(weighted ballots)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097280"/>
            <a:ext cx="2377440" cy="868680"/>
          </a:xfrm>
          <a:prstGeom prst="roundRect">
            <a:avLst/>
          </a:prstGeom>
          <a:solidFill>
            <a:srgbClr val="FF98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1">
                <a:solidFill>
                  <a:srgbClr val="FFFFFF"/>
                </a:solidFill>
              </a:rPr>
              <a:t>Phase 3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Term in Office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(interim eval: O/P/E)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743200"/>
            <a:ext cx="2377440" cy="868680"/>
          </a:xfrm>
          <a:prstGeom prst="roundRect">
            <a:avLst/>
          </a:prstGeom>
          <a:solidFill>
            <a:srgbClr val="607D8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1">
                <a:solidFill>
                  <a:srgbClr val="FFFFFF"/>
                </a:solidFill>
              </a:rPr>
              <a:t>Phase 6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Trust Update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τ(S) → next election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2743200"/>
            <a:ext cx="2377440" cy="868680"/>
          </a:xfrm>
          <a:prstGeom prst="roundRect">
            <a:avLst/>
          </a:prstGeom>
          <a:solidFill>
            <a:srgbClr val="9C27B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1">
                <a:solidFill>
                  <a:srgbClr val="FFFFFF"/>
                </a:solidFill>
              </a:rPr>
              <a:t>Phase 5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Accountability Score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S = Σ wⱼ·fⱼ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743200"/>
            <a:ext cx="2377440" cy="868680"/>
          </a:xfrm>
          <a:prstGeom prst="roundRect">
            <a:avLst/>
          </a:prstGeom>
          <a:solidFill>
            <a:srgbClr val="E91E6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</a:pPr>
            <a:r>
              <a:rPr sz="1000" b="1">
                <a:solidFill>
                  <a:srgbClr val="FFFFFF"/>
                </a:solidFill>
              </a:rPr>
              <a:t>Phase 4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Fulfillment Eval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fⱼ ∈ [0,1] per pledge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1A2E"/>
                </a:solidFill>
              </a:rPr>
              <a:t>Figure 1. TASUKI Conceptual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999999"/>
                </a:solidFill>
              </a:rPr>
              <a:t>Trust-Adjusted Scoring with Unified Knowledge Integration (襟) — 6-Phase Cycle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19202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91E63"/>
                </a:solidFill>
              </a:rPr>
              <a:t>Next
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Core Equations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A1A2E"/>
                </a:solidFill>
              </a:rPr>
              <a:t>Accountability Score:  Sᶜ = Σ wⱼ · fⱼ  where Σwⱼ =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A1A2E"/>
                </a:solidFill>
              </a:rPr>
              <a:t>Candidate Trust:  τᶜ⁽ᵗ⁺¹⁾ = ω(Sᶜ⁽ᵗ⁾)  where ω: [0,1] → [τₘᵢₙ, τₘₐₓ]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377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1A1A2E"/>
                </a:solidFill>
              </a:rPr>
              <a:t>Effective Vote:  V_eff(c) = τᶜ · nᶜ  (raw votes for candidate c)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</a:rPr>
              <a:t>Figure 1. Conceptual overview of the TASUKI mechanism showing the six phases of each electoral cycle: pledge declaration, election, term in office, fulfillment evaluation, accountability score computation, and trust coefficient update.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Figure 2. Influence Function Family ω(S)</a:t>
            </a:r>
          </a:p>
        </p:txBody>
      </p:sp>
      <p:pic>
        <p:nvPicPr>
          <p:cNvPr id="3" name="Picture 2" descr="fig2_influence_fun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8412480" cy="34938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225394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</a:rPr>
              <a:t>Figure 2. (a) Different influence function specifications mapping accountability score S to trust coefficient τ. (b) Parameter sensitivity for the concave specification across different [τ_min, τ_max] ranges.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Figure 3. Baseline Simulation Results</a:t>
            </a:r>
          </a:p>
        </p:txBody>
      </p:sp>
      <p:pic>
        <p:nvPicPr>
          <p:cNvPr id="3" name="Picture 2" descr="fig3_simulation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375" y="640080"/>
            <a:ext cx="695525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94360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</a:rPr>
              <a:t>Figure 3. (a) Mean accountability score trajectory. (b) Evolutionary dynamics of candidate types. (c) Trust coefficient distribution shift. (d) Voter welfare comparison across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Figure 4. Adversarial Robustness Analysis</a:t>
            </a:r>
          </a:p>
        </p:txBody>
      </p:sp>
      <p:pic>
        <p:nvPicPr>
          <p:cNvPr id="3" name="Picture 2" descr="fig4_adversar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8412480" cy="349290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224421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</a:rPr>
              <a:t>Figure 4. (a) Exploitability index by strategy type and influence function. (b) Genetic algorithm convergence for adversarial strategy search.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Figure 5. Sensitivity Analysis</a:t>
            </a:r>
          </a:p>
        </p:txBody>
      </p:sp>
      <p:pic>
        <p:nvPicPr>
          <p:cNvPr id="3" name="Picture 2" descr="fig5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8412480" cy="34938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225394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</a:rPr>
              <a:t>Figure 5. (a) Heatmap of equilibrium accountability score as a function of τ_min and τ_max. (b) Scalability analysis across candidate pool sizes.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731520"/>
            <a:ext cx="7772400" cy="530352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822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99"/>
                </a:solidFill>
              </a:rPr>
              <a:t>Traditional
Democracy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8229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99"/>
                </a:solidFill>
              </a:rPr>
              <a:t>Radical
Reform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486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99"/>
                </a:solidFill>
              </a:rPr>
              <a:t>Accountability
Focused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5486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99"/>
                </a:solidFill>
              </a:rPr>
              <a:t>Mechanism
Design</a:t>
            </a:r>
          </a:p>
        </p:txBody>
      </p:sp>
      <p:sp>
        <p:nvSpPr>
          <p:cNvPr id="7" name="Oval 6"/>
          <p:cNvSpPr/>
          <p:nvPr/>
        </p:nvSpPr>
        <p:spPr>
          <a:xfrm>
            <a:off x="1284732" y="2111912"/>
            <a:ext cx="502920" cy="502920"/>
          </a:xfrm>
          <a:prstGeom prst="ellipse">
            <a:avLst/>
          </a:prstGeom>
          <a:solidFill>
            <a:srgbClr val="607D8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07592" y="4337772"/>
            <a:ext cx="457200" cy="457200"/>
          </a:xfrm>
          <a:prstGeom prst="ellipse">
            <a:avLst/>
          </a:prstGeom>
          <a:solidFill>
            <a:srgbClr val="795548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551176" y="3521846"/>
            <a:ext cx="457200" cy="457200"/>
          </a:xfrm>
          <a:prstGeom prst="ellipse">
            <a:avLst/>
          </a:prstGeom>
          <a:solidFill>
            <a:srgbClr val="4CAF5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927348" y="2111912"/>
            <a:ext cx="502920" cy="502920"/>
          </a:xfrm>
          <a:prstGeom prst="ellipse">
            <a:avLst/>
          </a:prstGeom>
          <a:solidFill>
            <a:srgbClr val="2196F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193792" y="2134772"/>
            <a:ext cx="457200" cy="457200"/>
          </a:xfrm>
          <a:prstGeom prst="ellipse">
            <a:avLst/>
          </a:prstGeom>
          <a:solidFill>
            <a:srgbClr val="00BCD4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14516" y="2111912"/>
            <a:ext cx="502920" cy="502920"/>
          </a:xfrm>
          <a:prstGeom prst="ellipse">
            <a:avLst/>
          </a:prstGeom>
          <a:solidFill>
            <a:srgbClr val="9C27B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292340" y="1318846"/>
            <a:ext cx="457200" cy="457200"/>
          </a:xfrm>
          <a:prstGeom prst="ellipse">
            <a:avLst/>
          </a:prstGeom>
          <a:solidFill>
            <a:srgbClr val="FF98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57700" y="4876213"/>
            <a:ext cx="685800" cy="685800"/>
          </a:xfrm>
          <a:prstGeom prst="ellipse">
            <a:avLst/>
          </a:prstGeom>
          <a:solidFill>
            <a:srgbClr val="E91E6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66055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7D8B"/>
                </a:solidFill>
              </a:rPr>
              <a:t>Standard
Election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84069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95548"/>
                </a:solidFill>
              </a:rPr>
              <a:t>Retrospective
Voting (Fiorina)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48256" y="402476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CAF50"/>
                </a:solidFill>
              </a:rPr>
              <a:t>Barro-Ferejohn
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7288" y="266055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196F3"/>
                </a:solidFill>
              </a:rPr>
              <a:t>Liquid
Democracy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0872" y="263769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CD4"/>
                </a:solidFill>
              </a:rPr>
              <a:t>Weighted
Voting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34456" y="266055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C27B0"/>
                </a:solidFill>
              </a:rPr>
              <a:t>Quadratic
Voting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9420" y="182176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9800"/>
                </a:solidFill>
              </a:rPr>
              <a:t>Futarchy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4556173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91E63"/>
                </a:solidFill>
              </a:rPr>
              <a:t>TASUKI
(This Paper)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Figure 6. Theoretical Positioning of TASUKI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2636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A1A2E"/>
                </a:solidFill>
              </a:rPr>
              <a:t>Degree of Departure from One-Person-One-Vote  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8229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A1A2E"/>
                </a:solidFill>
              </a:rPr>
              <a:t>←
Retro.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0" y="52120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A1A2E"/>
                </a:solidFill>
              </a:rPr>
              <a:t>Prosp.
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4465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999999"/>
                </a:solidFill>
              </a:rPr>
              <a:t>Figure 6. Positioning of TASUKI relative to existing electoral reform approaches. Horizontal axis: departure from OPOV. Vertical axis: temporal orientation (retrospective to prospective).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