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Arrow 1"/>
          <p:cNvSpPr/>
          <p:nvPr/>
        </p:nvSpPr>
        <p:spPr>
          <a:xfrm>
            <a:off x="2788920" y="1440180"/>
            <a:ext cx="365760" cy="182880"/>
          </a:xfrm>
          <a:prstGeom prst="righ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5623560" y="1440180"/>
            <a:ext cx="365760" cy="182880"/>
          </a:xfrm>
          <a:prstGeom prst="righ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wn Arrow 3"/>
          <p:cNvSpPr/>
          <p:nvPr/>
        </p:nvSpPr>
        <p:spPr>
          <a:xfrm>
            <a:off x="7132320" y="2011680"/>
            <a:ext cx="182880" cy="685800"/>
          </a:xfrm>
          <a:prstGeom prst="down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 Arrow 4"/>
          <p:cNvSpPr/>
          <p:nvPr/>
        </p:nvSpPr>
        <p:spPr>
          <a:xfrm>
            <a:off x="5623560" y="3086100"/>
            <a:ext cx="365760" cy="182880"/>
          </a:xfrm>
          <a:prstGeom prst="lef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ft Arrow 5"/>
          <p:cNvSpPr/>
          <p:nvPr/>
        </p:nvSpPr>
        <p:spPr>
          <a:xfrm>
            <a:off x="2788920" y="3086100"/>
            <a:ext cx="365760" cy="182880"/>
          </a:xfrm>
          <a:prstGeom prst="lef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p Arrow 6"/>
          <p:cNvSpPr/>
          <p:nvPr/>
        </p:nvSpPr>
        <p:spPr>
          <a:xfrm>
            <a:off x="1444752" y="2011680"/>
            <a:ext cx="219456" cy="685800"/>
          </a:xfrm>
          <a:prstGeom prst="up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2377440" cy="86868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1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Pledge Declaration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w₁, w₂, …, wₖ (Σ=1)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097280"/>
            <a:ext cx="2377440" cy="86868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2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Election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(weighted ballots)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097280"/>
            <a:ext cx="2377440" cy="86868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3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Term in Office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(interim eval: O/P/E)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743200"/>
            <a:ext cx="2377440" cy="868680"/>
          </a:xfrm>
          <a:prstGeom prst="roundRect">
            <a:avLst/>
          </a:prstGeom>
          <a:solidFill>
            <a:srgbClr val="607D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6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Trust Update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τ(S) → next 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743200"/>
            <a:ext cx="2377440" cy="868680"/>
          </a:xfrm>
          <a:prstGeom prst="roundRect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5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Accountability Score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S = Σ wⱼ·fⱼ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743200"/>
            <a:ext cx="2377440" cy="868680"/>
          </a:xfrm>
          <a:prstGeom prst="roundRect">
            <a:avLst/>
          </a:prstGeom>
          <a:solidFill>
            <a:srgbClr val="E91E6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4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Fulfillment Eval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fⱼ ∈ [0,1] per pledge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Figure 1. TATSUKI Conceptual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99999"/>
                </a:solidFill>
              </a:rPr>
              <a:t>Trust-Adjusted Scoring with Unified Knowledge Integration (襟) — 6-Phase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1920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91E63"/>
                </a:solidFill>
              </a:rPr>
              <a:t>Next
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Core Equations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Accountability Score:  Sᶜ = Σ wⱼ · fⱼ  where Σwⱼ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Candidate Trust:  τᶜ⁽ᵗ⁺¹⁾ = ω(Sᶜ⁽ᵗ⁾)  where ω: [0,1] → [τₘᵢₙ, τₘₐₓ]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Effective Vote:  V_eff(c) = τᶜ · nᶜ  (raw votes for candidate 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1. Conceptual overview of the TATSUKI mechanism showing the six phases of each electoral cycle: pledge declaration, election, term in office, fulfillment evaluation, accountability score computation, and trust coefficient update.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2. Influence Function Family ω(S)</a:t>
            </a:r>
          </a:p>
        </p:txBody>
      </p:sp>
      <p:pic>
        <p:nvPicPr>
          <p:cNvPr id="3" name="Picture 2" descr="fig2_influence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3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539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2. (a) Different influence function specifications mapping accountability score S to trust coefficient τ. (b) Parameter sensitivity for the concave specification across different [τ_min, τ_max] ranges.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3. Baseline Simulation Results</a:t>
            </a:r>
          </a:p>
        </p:txBody>
      </p:sp>
      <p:pic>
        <p:nvPicPr>
          <p:cNvPr id="3" name="Picture 2" descr="fig3_simul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75" y="640080"/>
            <a:ext cx="695525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3. (a) Mean accountability score trajectory. (b) Evolutionary dynamics of candidate types. (c) Trust coefficient distribution shift. (d) Voter welfare comparison across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4. Adversarial Robustness Analysis</a:t>
            </a:r>
          </a:p>
        </p:txBody>
      </p:sp>
      <p:pic>
        <p:nvPicPr>
          <p:cNvPr id="3" name="Picture 2" descr="fig4_adversa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2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4421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4. (a) Exploitability index by strategy type and influence function. (b) Genetic algorithm convergence for adversarial strategy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5. Sensitivity Analysis</a:t>
            </a:r>
          </a:p>
        </p:txBody>
      </p:sp>
      <p:pic>
        <p:nvPicPr>
          <p:cNvPr id="3" name="Picture 2" descr="fig5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3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539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5. (a) Heatmap of equilibrium accountability score as a function of τ_min and τ_max. (b) Scalability analysis across candidate pool sizes.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772400" cy="53035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Traditional
Democracy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822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Radical
Reform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Accountability
Focused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Mechanism
Design</a:t>
            </a:r>
          </a:p>
        </p:txBody>
      </p:sp>
      <p:sp>
        <p:nvSpPr>
          <p:cNvPr id="7" name="Oval 6"/>
          <p:cNvSpPr/>
          <p:nvPr/>
        </p:nvSpPr>
        <p:spPr>
          <a:xfrm>
            <a:off x="1284732" y="2111912"/>
            <a:ext cx="502920" cy="502920"/>
          </a:xfrm>
          <a:prstGeom prst="ellipse">
            <a:avLst/>
          </a:prstGeom>
          <a:solidFill>
            <a:srgbClr val="607D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07592" y="4337772"/>
            <a:ext cx="457200" cy="457200"/>
          </a:xfrm>
          <a:prstGeom prst="ellipse">
            <a:avLst/>
          </a:prstGeom>
          <a:solidFill>
            <a:srgbClr val="79554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51176" y="3521846"/>
            <a:ext cx="4572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27348" y="2111912"/>
            <a:ext cx="502920" cy="502920"/>
          </a:xfrm>
          <a:prstGeom prst="ellipse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2" y="2134772"/>
            <a:ext cx="457200" cy="457200"/>
          </a:xfrm>
          <a:prstGeom prst="ellipse">
            <a:avLst/>
          </a:prstGeom>
          <a:solidFill>
            <a:srgbClr val="00BCD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4516" y="2111912"/>
            <a:ext cx="502920" cy="502920"/>
          </a:xfrm>
          <a:prstGeom prst="ellipse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92340" y="1318846"/>
            <a:ext cx="457200" cy="457200"/>
          </a:xfrm>
          <a:prstGeom prst="ellipse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7700" y="4876213"/>
            <a:ext cx="685800" cy="685800"/>
          </a:xfrm>
          <a:prstGeom prst="ellipse">
            <a:avLst/>
          </a:prstGeom>
          <a:solidFill>
            <a:srgbClr val="E91E6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7D8B"/>
                </a:solidFill>
              </a:rPr>
              <a:t>Standard
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8406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95548"/>
                </a:solidFill>
              </a:rPr>
              <a:t>Retrospective
Voting (Fiorina)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402476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</a:rPr>
              <a:t>Barro-Ferejohn
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96F3"/>
                </a:solidFill>
              </a:rPr>
              <a:t>Liquid
Democracy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6376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CD4"/>
                </a:solidFill>
              </a:rPr>
              <a:t>Weighted
Voting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27B0"/>
                </a:solidFill>
              </a:rPr>
              <a:t>Quadratic
Voting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182176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9800"/>
                </a:solidFill>
              </a:rPr>
              <a:t>Futarchy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556173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91E63"/>
                </a:solidFill>
              </a:rPr>
              <a:t>TATSUKI
(This Paper)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6. Theoretical Positioning of TATSUKI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2636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</a:rPr>
              <a:t>Degree of Departure from One-Person-One-Vote 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822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</a:rPr>
              <a:t>←
Retro.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212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</a:rPr>
              <a:t>Prosp.
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6. Positioning of TATSUKI relative to existing electoral reform approaches. Horizontal axis: departure from OPOV. Vertical axis: temporal orientation (retrospective to prospective).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7. Empirical Calibration &amp; Counterfactual Analysis</a:t>
            </a:r>
          </a:p>
        </p:txBody>
      </p:sp>
      <p:pic>
        <p:nvPicPr>
          <p:cNvPr id="3" name="Picture 2" descr="fig7_empirical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75" y="640080"/>
            <a:ext cx="695525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7. (a) Empirical pledge fulfillment distribution from Polimeter (N=1,050). (b) Cross-national comparison of mean fulfillment rates. (c) Counterfactual TATSUKI trust trajectory for Trudeau. (d) Original vs empirically calibrated Beta distributions.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