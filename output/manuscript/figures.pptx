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</a:t>
            </a:r>
          </a:p>
        </p:txBody>
      </p:sp>
      <p:pic>
        <p:nvPicPr>
          <p:cNvPr id="3" name="Picture 2" descr="fig1_absolute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679084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absolute-temperature exposure-response for daily traffic-crash deaths (cumulative over lag 0-10 days), relative to the minimum-mortality temperature. The curve peaks at mild temperatures and declines at extreme heat, reflecting the seasonal driving-exposure envelope rather than an acute heat effect.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2</a:t>
            </a:r>
          </a:p>
        </p:txBody>
      </p:sp>
      <p:pic>
        <p:nvPicPr>
          <p:cNvPr id="3" name="Picture 2" descr="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74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temperature-anomaly exposure-response (primary analysis): cumulative rate ratio of crash deaths versus the local day-of-year seasonal norm. Days hotter than normal carry higher crash mortality.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3</a:t>
            </a:r>
          </a:p>
        </p:txBody>
      </p:sp>
      <p:pic>
        <p:nvPicPr>
          <p:cNvPr id="3" name="Picture 2" descr="fig3_lag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738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lag structure of the crash-death response to a +9 °C anomaly: an acute same-day excess followed by a 1-3 day deficit consistent with short-term displacement (harvesting) rather than a net addition of deaths.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4</a:t>
            </a:r>
          </a:p>
        </p:txBody>
      </p:sp>
      <p:pic>
        <p:nvPicPr>
          <p:cNvPr id="3" name="Picture 2" descr="fig_us_road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74999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road-user type. Open-air users (motorcyclists, pedestrians, cyclists) show much larger heat effects than enclosed, often air-conditioned, vehicle occupants—a gradient consistent with greater direct heat exposure, although mode-specific activity changes on hot days cannot be excluded. This subgroup analysis is exploratory and is not adjusted for multiple comparisons.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5</a:t>
            </a:r>
          </a:p>
        </p:txBody>
      </p:sp>
      <p:pic>
        <p:nvPicPr>
          <p:cNvPr id="3" name="Picture 2" descr="fig_us_timeof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0077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crash hour of day. The excess is largest for crashes in the hottest part of the day (12-17 h) and weakest in the cool morning (06-11 h). This subgroup analysis is exploratory and is not adjusted for multiple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6</a:t>
            </a:r>
          </a:p>
        </p:txBody>
      </p:sp>
      <p:pic>
        <p:nvPicPr>
          <p:cNvPr id="3" name="Picture 2" descr="fig4_attributabl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3587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estimated net heat-attributable crash deaths per year, 2016-2022.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7</a:t>
            </a:r>
          </a:p>
        </p:txBody>
      </p:sp>
      <p:pic>
        <p:nvPicPr>
          <p:cNvPr id="3" name="Picture 2" descr="fig5_hidden_vs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78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comparison of estimated net heat-attributable crash deaths per year with officially recorded direct-heat deaths (ICD-10 X30) from CDC WONDER.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8</a:t>
            </a:r>
          </a:p>
        </p:txBody>
      </p:sp>
      <p:pic>
        <p:nvPicPr>
          <p:cNvPr id="3" name="Picture 2" descr="fig_us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3323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projected additional traffic-crash deaths per year under uniform warming of the daily temperature distribution by +1, +2 and +3 °C, holding driving activity and baseline rates constant. Bars show the point estimate with 95% Monte Carlo confidence intervals; this is a scenario projection, not an observed quantity.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9</a:t>
            </a:r>
          </a:p>
        </p:txBody>
      </p:sp>
      <p:pic>
        <p:nvPicPr>
          <p:cNvPr id="3" name="Picture 2" descr="fig_us_crash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076634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crash circumstances: manner of collision, weather condition, rural/urban land use and police-reported driver drinking. The excess is present for clear or cloudy days, is larger for single-vehicle (not a collision with a motor vehicle in transport) than multi-vehicle crashes, and is similar regardless of reported driver drinking—patterns consistent with a direct heat contribution rather than adverse-weather surface conditions or a purely behavioural pathway. These subgroup analyses are exploratory and are not adjusted for multiple comparisons.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10</a:t>
            </a:r>
          </a:p>
        </p:txBody>
      </p:sp>
      <p:pic>
        <p:nvPicPr>
          <p:cNvPr id="3" name="Picture 2" descr="jp_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3964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Japan temperature-anomaly exposure-response (2019-2024). The estimate is imprecise: the confidence band is wide and includes the null throughout.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11</a:t>
            </a:r>
          </a:p>
        </p:txBody>
      </p:sp>
      <p:pic>
        <p:nvPicPr>
          <p:cNvPr id="3" name="Picture 2" descr="cross_fig_us_vs_japan_same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431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Same-day rate ratio of traffic-crash deaths for a +9 °C anomaly, United States versus Japan. The US shows a precise acute effect; the Japanese estimate is underpowered. This comparison is exploratory and is not adjusted for multiple comparisons.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12</a:t>
            </a:r>
          </a:p>
        </p:txBody>
      </p:sp>
      <p:pic>
        <p:nvPicPr>
          <p:cNvPr id="3" name="Picture 2" descr="fig_jp_str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58120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Japan same-day rate ratio of crash death for a +9 °C anomaly by accident type (single-vehicle, vehicle-vehicle, vehicle-pedestrian) and by prefecture population density (a proxy for public-transport availability, split at the median). All confidence intervals are wide and include the null; these stratified analyses are exploratory and are not adjusted for multiple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