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Sustaining Heterogeneity through Interventions in Global AI/ML Researcher Mobility: A Transition-Rate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Data-driven manuscript figures and 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1: Equilibrium T vs minimum viable threshold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1_equilibrium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Blue bars: equilibrium T; orange bars: threshold M. All groups remain above the threshold, but margins vary widely.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2: Closest point-of-no-return proximity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2_pnr_proxim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Smaller values mean a smaller proportional change in the listed rate is required to reach the threshold for the stated target pool.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3: Historical counterfactual margin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3_historical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Positive values mean the late-window rates would produce a larger safety margin than the early-window rates if they persisted; negative values mean the margin would shrink. The comparison is across point estimates; uncertainty is substantial.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4: Bootstrap 95% CI for equilibrium 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4_bootstrap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10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Intervals are asymmetric and wide, reflecting model uncertainty.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1: Descriptive cohort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9509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career_start_mean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abroad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64122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700342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16233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168911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1766329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74004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90322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26060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225684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4289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387001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8131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293437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4417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371952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9136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1414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190051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1589023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103673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140701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23956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134807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1298250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58969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74972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27420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2: Equilibrium and inflow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1099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T_eq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r_obs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r_crit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64348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1885.94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0.12652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21.21312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195095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191172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4967.97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0.11899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49.72481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23.76054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86267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1501.26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39.26079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1134.41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0.10154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16.36230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59355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1477.65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0.13240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28.68812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129.32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3.01286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300805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5589.74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0.07946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97.12154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147067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145223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3964.91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0.12404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79.75137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3: Top transition-rate elasticities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961119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65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0.341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0.355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0.212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0.274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0.314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0.352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0.357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4: Closest point of no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98755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Crit.factor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Proximity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129.3235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0.668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1134.4064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0.939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1885.9412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0.953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825.5588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0.958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1477.6471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0.965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1501.2647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4967.9706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3964.9118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5589.7353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5: Saturating inflow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7315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Linear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Saturating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ε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195095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195095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59355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59355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147067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147067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6: Historical counterfactual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5361919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7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ΔT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M_early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M_late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Margin 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Margin 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Δ margin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64779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75245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10466.24081387803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3183.492021276596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3183.492021276596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72062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10466.2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60776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177460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231958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54498.35893829615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3923.499485066941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3923.499485066941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173536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228035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54498.4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110377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86979.76895846531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2248.8695652173915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2248.8695652173915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86979.8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33199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186245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148346.09206152224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2254.7179487179487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2254.7179487179487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183990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148346.1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-6729.546240558848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1792.6470588235293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1792.6470588235293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-6729.5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49049.28906658018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2068.969696969697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2068.969696969697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89861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49049.3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1280.2210739433294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1601.2173913043478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1601.2173913043478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1280.2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122490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278159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360991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82831.4132198458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3129.4270557029176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3129.4270557029176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275030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357861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82831.4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139401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169788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30386.48166319204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1844.0637813211845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1844.0637813211845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137557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167943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30386.5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7: Top policy intervention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0972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Margin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Gain per 10%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7659.7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22093.1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6184.2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10238.9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3193.8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6723.1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567.3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34739.2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16560.4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9: Transition levers, policy instruments, and management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60350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548639">
                <a:tc>
                  <a:txBody>
                    <a:bodyPr/>
                    <a:lstStyle/>
                    <a:p>
                      <a:r>
                        <a:t>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Policy instrument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Management action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Dropout 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Early-career fellowships, childcare and dual-career support, stable non-tenure tracks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Retain researchers in the domestic pipeline beyond the first career years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Exogenous entry (I0)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Research-master and undergraduate pipelines, doctoral fellowships, recruitment visas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Widen the base of incoming researchers before they select a field or location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Return from abroad (β)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Return grants, diaspora networks, dual appointments, overseas-experience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Encourage mobile researchers to re-establish domestic research groups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 hit generation (h_D)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Independent-lab programmes (e.g. SPREAD-style), doctoral/postdoctoral training, compute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Translate junior capacity into visible, high-impact work and independent research lines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PI promotion (p_D)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Tenure-track conversion, startup packages, project-based PI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Create durable principal-investigator positions that train the next cohort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8: Bootstrap 95%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00584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P_D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P_D 95% CI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[66728, 68334]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[29158, 30486]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195077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[193718, 196316]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83476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[82421, 84527]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[52402, 54515]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[29348, 31258]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[87356, 89880]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47264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[46155, 48511]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[28932, 29757]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[7128, 7662]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59396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[58590, 60178]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[21715, 22975]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[4602, 5077]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[1981, 2370]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[301809, 305720]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133015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[131418, 134567]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146991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[145947, 148235]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63906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[62994, 64906]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5: Observed and projected transition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annual_rates_by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79190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Solid lines mark observed 2000-2016 rates; dashed lines mark projected 2017-2026 rates.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6: Cross-civilisation abroad author-years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annual_interciv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74332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Rows are origin civilisations; columns are destination civilisations approximated by recent_group. Same-civilisation cells and Unknown destinations are excluded.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7: Observed vs projected compartment 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annual_projection_vs_obse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8321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Solid lines are observed counts; dashed lines are 2017-2026 projections. The vertical dotted line is 2016.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8: Japan compartment model and cross-civilisation transition-rate ladders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8_japan_compartm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43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Left: Japan's six compartments; right: Japan highlighted against other civilisations on each transition rate.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9: T/M safety margin versus closest PNR proximity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g9_tm_pn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711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Lower-left points are the most fragile. Japan is highlighted in red.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Table 3: Mean observed annual transition rates, 2000-2016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961119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65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I_total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0.01153982905868697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0.03392610062985291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0.046100674305792344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0.08726928947875359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0.0456012888273175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3771.8823529411766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0.006729238959531435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0.035675615265306694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0.05092163895711743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0.09421365429270316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0.0458472850546197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9935.941176470587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0.008226712242474519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0.030279250458970227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0.026557199723339326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0.08171692434949991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0.0277057844536427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1651.1176470588234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0.012389331071774071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0.03689413571699145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0.025186713119533095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0.09451679349006414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0.0300792155414555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3002.529411764706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0.006813925283901347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0.03707504315767071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0.023589752718372055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0.06939410367989353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0.0552190245713187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1882.764705882353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0.009056448138388542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0.034508343392236136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0.02568915937776914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0.07757096199241675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0.0418088008437154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2955.294117647059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0.013521943556706347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0.031869406157243534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0.058099157893367795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0.0671873401266947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0.0442928225810436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258.6470588235294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0.006891999181649188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0.026959051414237076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0.025929464772427302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0.09080689682278584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0.0336695344484046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11179.470588235294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0.008485370848193771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0.03323197711785264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0.046601807299749005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0.08643858355385259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0.0459350067675392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7929.823529411765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Table 4: Top origin-destination abroad author-year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548640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Author-years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52689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21968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20534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18505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18156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17719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15459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15003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14422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Table 1: Projection accuracy by civilisation, 2017-2023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20116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  <a:gridCol w="2011680"/>
                <a:gridCol w="2011680"/>
                <a:gridCol w="2011680"/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direction_agreement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threshold_alarm_accuracy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threshold_alarm_sensitivity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threshold_alarm_specificity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threshold_alarm_precision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threshold_alarms_obs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threshold_alarms_proj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3545.91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0.1944444444444444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11675.98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0.1944444444444444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7893.85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0.1666666666666666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16747.65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0.2222222222222222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1677.51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0.2777777777777778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6151.05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0.1666666666666666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259.88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0.2857142857142857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18773.11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0.2222222222222222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7014.93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Table 2: Projection accuracy by compartment, 2017-2023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046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r>
                        <a:t>Compartment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direction_agreement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860.78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0.0925925925925925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19772.90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0.0185185185185185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406.05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0.3888888888888889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8086.06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0.0925925925925925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1738.38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0.2592592592592592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12744.52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0.4444444444444444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