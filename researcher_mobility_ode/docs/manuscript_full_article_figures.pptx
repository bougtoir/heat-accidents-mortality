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Sustaining Heterogeneity through Interventions in Global AI/ML Researcher Mobility: A Transition-Rate Framework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Data-driven manuscript figures and tables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Figure 1: Equilibrium T vs minimum viable threshold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pic>
        <p:nvPicPr>
          <p:cNvPr id="5" name="Picture 4" descr="fig1_equilibrium_mar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144000" cy="5029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600" y="54864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Blue bars: equilibrium T; orange bars: threshold M. All groups remain above the threshold, but margins vary widely.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Figure 2: Closest point-of-no-return proximity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pic>
        <p:nvPicPr>
          <p:cNvPr id="5" name="Picture 4" descr="fig2_pnr_proxim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144000" cy="508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600" y="54864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Smaller values mean a smaller proportional change in the listed rate is required to reach the threshold for the stated target pool.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Figure 3: Historical counterfactual margin change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pic>
        <p:nvPicPr>
          <p:cNvPr id="5" name="Picture 4" descr="fig3_historical_mar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144000" cy="508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600" y="54864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Positive values mean the late-window rates would produce a larger safety margin than the early-window rates if they persisted; negative values mean the margin would shrink. The comparison is across point estimates; uncertainty is substantial.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Figure 4: Bootstrap 95% CI for equilibrium 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pic>
        <p:nvPicPr>
          <p:cNvPr id="5" name="Picture 4" descr="fig4_bootstrap_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144000" cy="501036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600" y="54864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Intervals are asymmetric and wide, reflecting model uncertainty.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1: Descriptive cohort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950976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1188720"/>
                <a:gridCol w="1188720"/>
                <a:gridCol w="1188720"/>
                <a:gridCol w="1188720"/>
                <a:gridCol w="1188720"/>
                <a:gridCol w="1188720"/>
                <a:gridCol w="1188720"/>
              </a:tblGrid>
              <a:tr h="54864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works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hits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career_start_mean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abroad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66786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717056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29593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30564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45327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2007.4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18897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170956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1778463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75060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76221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112743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2008.0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28105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28534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228331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17334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9601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19493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2011.2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4754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51083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386243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29690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16188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35559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2011.3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8171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32713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297708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12169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8367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18959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2006.8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5123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48721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363671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22923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13416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31508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2009.3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7617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4386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49689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1975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2162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2839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2007.4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1403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188670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1580382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102866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51051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139861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2008.7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22575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131798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1280223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57502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61243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89118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2007.2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24411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2: Equilibrium and inflow parameters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1110996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1234440"/>
                <a:gridCol w="1234440"/>
                <a:gridCol w="1234440"/>
                <a:gridCol w="1234440"/>
                <a:gridCol w="1234440"/>
                <a:gridCol w="1234440"/>
                <a:gridCol w="1234440"/>
                <a:gridCol w="1234440"/>
              </a:tblGrid>
              <a:tr h="54864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T_eq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Margin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T/M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r_obs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r_crit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66417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3183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63233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1964.29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0.08667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0.15636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20.86291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192571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3923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188648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5028.12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0.08920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0.14206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49.08147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52510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2249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50261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839.24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0.08611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0.06448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23.34940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86077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2255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83822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1502.44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0.08450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0.07542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38.17630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29041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1793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27249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1329.31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0.10150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0.32826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16.20033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57783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55714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1432.97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0.09096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0.16266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27.92828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4640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1601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3039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129.00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0.09088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0.14957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2.89793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299807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3129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296677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5549.12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0.07935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0.09732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95.80246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141887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1844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140043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3876.41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0.08700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0.14858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76.94239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3: Top transition-rate elasticities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8961119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59"/>
                <a:gridCol w="1280159"/>
                <a:gridCol w="1280159"/>
                <a:gridCol w="1280159"/>
                <a:gridCol w="1280159"/>
                <a:gridCol w="1280159"/>
                <a:gridCol w="1280165"/>
              </a:tblGrid>
              <a:tr h="54864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el1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el2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el3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-2.793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0.517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0.372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-2.781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0.443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0.390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-2.654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0.383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0.242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-2.687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0.416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0.250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-1.898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0.296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0.203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-2.898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0.505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0.359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-2.877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0.394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0.392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-2.771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0.424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0.287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-2.763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0.481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0.397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4: Closest point of no return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987552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  <a:gridCol w="1645920"/>
                <a:gridCol w="1645920"/>
              </a:tblGrid>
              <a:tr h="54864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Target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Current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Crit.factor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Proximity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129.0000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0.345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0.655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1329.3102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0.938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1964.2941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0.952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839.2353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0.957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1432.9706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0.964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1502.4412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0.974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5028.1176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0.980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3876.4118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0.987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5549.1176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0.990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5: Saturating inflow extension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731520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  <a:gridCol w="1828800"/>
              </a:tblGrid>
              <a:tr h="54864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Linear 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Saturating 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ε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66417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66417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0.00000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192571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192571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0.00000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52510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52510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0.00001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86077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86077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0.00001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29041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29041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0.00001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57783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57783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0.00001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4640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4640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0.00007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299807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299807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0.00000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141887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141887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0.00000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6: Historical counterfactual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15361919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59"/>
                <a:gridCol w="1280159"/>
                <a:gridCol w="1280159"/>
                <a:gridCol w="1280159"/>
                <a:gridCol w="1280159"/>
                <a:gridCol w="1280159"/>
                <a:gridCol w="1280159"/>
                <a:gridCol w="1280159"/>
                <a:gridCol w="1280159"/>
                <a:gridCol w="1280159"/>
                <a:gridCol w="1280159"/>
                <a:gridCol w="1280170"/>
              </a:tblGrid>
              <a:tr h="54864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n_early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n_late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 early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 late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delta_T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ΔT (%)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M_early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M_late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Margin early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Margin late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Δ margin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45353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21433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62958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75969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13011.38419568265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3183.492021276596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3183.492021276596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59774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72786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13011.4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109363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61593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174717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230121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55403.87108941056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31.7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3923.499485066941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3923.499485066941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170793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226197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55403.9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9801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18733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22742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109140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86397.65783964691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379.9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2248.8695652173915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2248.8695652173915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20493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106891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86397.7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17887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33196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36713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181518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144804.5446645081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394.4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2254.7179487179487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2254.7179487179487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34458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179263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144804.5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23925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8788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31390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24995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-6395.943815151841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-20.4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1792.6470588235293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1792.6470588235293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29598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23202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-6395.9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26028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22693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41910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88913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47002.71749572696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112.2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2068.969696969697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2068.969696969697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39841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86844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47002.7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2923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4250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5585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1334.9467088192175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31.4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1601.2173913043478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1601.2173913043478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2649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3984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1334.9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121780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66890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274801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355183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80382.25213239406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29.3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3129.4270557029176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3129.4270557029176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271671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352053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80382.3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90764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41034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134387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164335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29947.976555664907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22.3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1844.0637813211845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1844.0637813211845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132543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162491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29948.0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7: Top policy intervention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1097280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  <a:gridCol w="1828800"/>
                <a:gridCol w="1828800"/>
                <a:gridCol w="1828800"/>
              </a:tblGrid>
              <a:tr h="54864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Lever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Direction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Change (%)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Margin gain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Gain per 10%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decrease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7502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7501.8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decrease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21754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21754.1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decrease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6115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6115.1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decrease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9953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9953.2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decrease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3119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3118.7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decrease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6474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6473.7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decrease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545.7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decrease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34171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34170.9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decrease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15851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15851.0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8: Bootstrap 95% CI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1005840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011680"/>
                <a:gridCol w="2011680"/>
                <a:gridCol w="2011680"/>
                <a:gridCol w="2011680"/>
              </a:tblGrid>
              <a:tr h="54864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 median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 95% CI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P_D 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P_D 95% CI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66439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[65715, 67273]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25139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[24595, 25743]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192637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[191404, 193950]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70827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[69904, 71930]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52473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[51357, 53752]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26009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[25063, 27159]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86071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[84779, 87255]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39817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[38761, 41019]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29021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[28615, 29417]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5852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[5578, 6085]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57774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[57014, 58602]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17617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[17091, 18171]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4642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[4409, 4823]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1722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[1561, 1883]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299740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[297198, 301809]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113966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[112222, 115539]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141965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[140945, 143130]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52253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[51448, 53182]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Figure 5: Observed and projected transition rates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pic>
        <p:nvPicPr>
          <p:cNvPr id="5" name="Picture 4" descr="annual_rates_by_gro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144000" cy="791904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600" y="54864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Solid lines mark observed 2000-2016 rates; dashed lines mark projected 2017-2026 rates.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Figure 6: Inter-civilisation abroad author-years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pic>
        <p:nvPicPr>
          <p:cNvPr id="5" name="Picture 4" descr="annual_interciv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144000" cy="736746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600" y="54864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Rows are origin civilisations; columns are destination civilisations approximated by recent_group.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Figure 7: Observed vs projected compartment counts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pic>
        <p:nvPicPr>
          <p:cNvPr id="5" name="Picture 4" descr="annual_projection_vs_observ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144000" cy="583215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600" y="54864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Solid lines are observed counts; dashed lines are 2017-2026 projections. The vertical dotted line is 2016.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Figure 8: Japan compartment model and cross-civilisation transition-rate ladders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pic>
        <p:nvPicPr>
          <p:cNvPr id="5" name="Picture 4" descr="fig8_japan_compartment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144000" cy="504367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600" y="54864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Left: Japan's six compartments; right: Japan highlighted against other civilisations on each transition rate.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Figure 9: T/M safety margin versus closest PNR proximity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pic>
        <p:nvPicPr>
          <p:cNvPr id="5" name="Picture 4" descr="fig9_tm_pnr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144000" cy="711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600" y="54864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Lower-left points are the most fragile. Japan is highlighted in red.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9: Mean observed annual transition rates, 2000-2016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8961119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59"/>
                <a:gridCol w="1280159"/>
                <a:gridCol w="1280159"/>
                <a:gridCol w="1280159"/>
                <a:gridCol w="1280159"/>
                <a:gridCol w="1280159"/>
                <a:gridCol w="1280165"/>
              </a:tblGrid>
              <a:tr h="54864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I_total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0.011755417265563547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0.03494611726027467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0.04602749291502423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0.08708284207543553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2.322512121298959e-05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3928.5882352941176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0.006756698480500271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0.035836775046026864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0.050897451073049604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0.09414601364201189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1.0115241785401197e-05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10056.235294117647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0.008294213618805741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0.029698103334922385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0.026533879730520616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0.08167363874355524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0.00017307186499565793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1678.4705882352941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0.012349253422223564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0.039412661545507044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0.02518653142847419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0.09448185484638778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0.00012687653884829476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3004.8823529411766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0.006869571988897564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0.038260512725451314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0.02355973498228018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0.06928439337823725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4.5798900020868764e-05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1924.2941176470588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0.008873279338797328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0.03346525010568374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0.025695865697555265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0.07775919071234212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5.0098653419686136e-05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2865.9411764705883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0.013390799266696377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0.032227454827598395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0.058089092479174265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0.06720114212220972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0.00034191377559105883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258.0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0.006869975816117264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0.025802243841556067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0.02594278372232615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0.0908589766667326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1.9184709805661518e-05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11098.235294117647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0.008409989079729818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0.03207009432051357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0.04664386800842756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0.08654788608352716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1.185935834420516e-05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7752.823529411765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10: Top origin-destination abroad author-year pairs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5486400" cy="603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</a:tblGrid>
              <a:tr h="548640">
                <a:tc>
                  <a:txBody>
                    <a:bodyPr/>
                    <a:lstStyle/>
                    <a:p>
                      <a:r>
                        <a:t>Origin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Destination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Author-years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105359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90182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Unknown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66398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Unknown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53088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52068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50780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Unknown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46934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42737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Unknown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32939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23812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11: Projection accuracy by civilisation, 2017-2023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603504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011680"/>
                <a:gridCol w="2011680"/>
              </a:tblGrid>
              <a:tr h="54864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RMSE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MAPE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5197.55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118.9%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16500.01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136.0%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8903.72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226.8%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18638.50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304.0%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2522.43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109.2%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7835.35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152.4%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347.32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136.0%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24143.42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148.7%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10150.43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103.9%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12: Projection accuracy by compartment, 2017-2023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603504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011680"/>
                <a:gridCol w="2011680"/>
              </a:tblGrid>
              <a:tr h="548640">
                <a:tc>
                  <a:txBody>
                    <a:bodyPr/>
                    <a:lstStyle/>
                    <a:p>
                      <a:r>
                        <a:t>Compartment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RMSE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MAPE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1026.36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264.9%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23018.59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312.0%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527.95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66.2%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10307.61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210.6%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2004.61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47.0%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18575.39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56.7%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