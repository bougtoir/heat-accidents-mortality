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Yu Gothic"/>
              </a:defRPr>
            </a:pPr>
            <a:r>
              <a:t>三方よしに基づく</a:t>
            </a:r>
            <a:br/>
            <a:r>
              <a:t>麻酔科アカデミックROI最大化支援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980B9"/>
                </a:solidFill>
                <a:latin typeface="Yu Gothic"/>
              </a:defRPr>
            </a:pPr>
            <a:r>
              <a:t>― 分散型学術基盤による持続可能な医療体制 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滋賀大学 データサイエンス・AIイノベーション研究推進センター</a:t>
            </a:r>
            <a:br/>
            <a:r>
              <a:t>DSAI Center, Shiga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303520"/>
            <a:ext cx="2011680" cy="457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A5C"/>
                </a:solidFill>
                <a:latin typeface="Yu Gothic"/>
              </a:defRPr>
            </a:pPr>
            <a:r>
              <a:t>理念：三方よし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5303520"/>
            <a:ext cx="2011680" cy="457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A5C"/>
                </a:solidFill>
                <a:latin typeface="Yu Gothic"/>
              </a:defRPr>
            </a:pPr>
            <a:r>
              <a:t>構造：分散型教育基盤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303520"/>
            <a:ext cx="2011680" cy="457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A5C"/>
                </a:solidFill>
                <a:latin typeface="Yu Gothic"/>
              </a:defRPr>
            </a:pPr>
            <a:r>
              <a:t>意思決定：ROI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滋賀大学の位置づけ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Yu Gothic"/>
              </a:defRPr>
            </a:pPr>
            <a:r>
              <a:t>歴史的背景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近江商人・彦根商業専門学校の流れを汲む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「三方よし」の思想を学問の基盤に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「売り手よし、買い手よし、世間よし」を</a:t>
            </a:r>
            <a:br/>
            <a:r>
              <a:t>  現代の医療・経営に再定義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12064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Yu Gothic"/>
              </a:defRPr>
            </a:pPr>
            <a:r>
              <a:t>データサイエンスの拠点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日本初のデータサイエンス学部（2017年設立）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文部科学省「数理・DS教育の全国展開」拠点校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● DSAI研究推進センターによる産学連携・社会実装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73152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理念（三方よし）とデータサイエンスを統合した意思決定支援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出典: 滋賀大学DS学部公式サイト / 文部科学省「数理・データサイエンス・AI教育プログラム認定制度」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麻酔科の構造課題と制度変化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専攻医確保の困難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2025年度 麻酔科専攻医採用数 497名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都市部・大学病院への集中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8都道府県にシーリング設定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8016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280160"/>
            <a:ext cx="3383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学術要件の高度化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0116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機構専門医へ完全移行</a:t>
            </a:r>
            <a:br/>
            <a:r>
              <a:t>  （学会専門医は2023年度終了）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指導医申請に発表・査読実績</a:t>
            </a:r>
            <a:br/>
            <a:r>
              <a:t>  3.5単位が必要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論文化の実質必須化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383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手術室稼働の制約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日本病院会調査で人員不足</a:t>
            </a:r>
            <a:br/>
            <a:r>
              <a:t>  診療科1位が麻酔科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手術件数増 vs 麻酔科医不足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  ● 2024年 医師の働き方改革で</a:t>
            </a:r>
            <a:br/>
            <a:r>
              <a:t>  更に顕在化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69848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73152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臨床だけでは完結しない時代 ― 個別努力では解決困難な構造問題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出典: 日本専門医機構 2025年度専攻医採用数（GemMed, 2025.3.25）/ 日本麻酔科学会 認定資格要件一覧（2025）/ 日本病院会調査（2019）/ 柚木(2024)商大ビジネスレビュー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分散型アカデミック基盤の必要性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108960" cy="1645920"/>
          </a:xfrm>
          <a:prstGeom prst="roundRect">
            <a:avLst/>
          </a:prstGeom>
          <a:solidFill>
            <a:srgbClr val="FDF2F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Yu Gothic"/>
              </a:defRPr>
            </a:pPr>
            <a:r>
              <a:t>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学術要件の強化</a:t>
            </a:r>
            <a:br/>
            <a:r>
              <a:t>専攻医の都市・大学集中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3108960" cy="164592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Yu Gothic"/>
              </a:defRPr>
            </a:pPr>
            <a: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地域医療の空洞化</a:t>
            </a:r>
            <a:br/>
            <a:r>
              <a:t>医師負担の偏在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280160"/>
            <a:ext cx="3108960" cy="1645920"/>
          </a:xfrm>
          <a:prstGeom prst="roundRect">
            <a:avLst/>
          </a:prstGeom>
          <a:solidFill>
            <a:srgbClr val="E8F8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Yu Gothic"/>
              </a:defRPr>
            </a:pPr>
            <a:r>
              <a:t>解決策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783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市中病院で完結する</a:t>
            </a:r>
            <a:br/>
            <a:r>
              <a:t>学術基盤の構築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5120640" cy="237744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51206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Yu Gothic"/>
              </a:defRPr>
            </a:pPr>
            <a:r>
              <a:t>放置した場合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地方で専門医取得が困難に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市中病院から専攻医が離脱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手術制限 → 病院収益悪化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地域住民の手術アクセス低下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5120640" cy="237744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291840"/>
            <a:ext cx="51206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Yu Gothic"/>
              </a:defRPr>
            </a:pPr>
            <a:r>
              <a:t>分散型基盤がある場合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市中病院でも学術業績を達成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専攻医が地方に残る動機づけ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手術体制維持 → 安定経営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地域医療の持続可能性向上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出典: 厚生労働省「医師偏在対策について」（令和7年9月）/ 専攻医都道府県別採用数（日本専門医機構, 2025）— 東京都1,812名 vs 山形県39名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三方よしによる価値の再定義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1188720"/>
            <a:ext cx="2743200" cy="2286000"/>
          </a:xfrm>
          <a:prstGeom prst="ellipse">
            <a:avLst/>
          </a:prstGeom>
          <a:solidFill>
            <a:srgbClr val="E8F4FD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80B9"/>
                </a:solidFill>
                <a:latin typeface="Yu Gothic"/>
              </a:defRPr>
            </a:pPr>
            <a:r>
              <a:t>患者よし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574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安全性の向上</a:t>
            </a:r>
            <a:br/>
            <a:r>
              <a:t>地域医療の維持</a:t>
            </a:r>
            <a:br/>
            <a:r>
              <a:t>合併症リスク低減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2926080"/>
            <a:ext cx="2743200" cy="2286000"/>
          </a:xfrm>
          <a:prstGeom prst="ellipse">
            <a:avLst/>
          </a:prstGeom>
          <a:solidFill>
            <a:srgbClr val="FEF9E7"/>
          </a:solidFill>
          <a:ln w="381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Yu Gothic"/>
              </a:defRPr>
            </a:pPr>
            <a:r>
              <a:t>医療者よし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論文化支援</a:t>
            </a:r>
            <a:br/>
            <a:r>
              <a:t>専門医取得支援</a:t>
            </a:r>
            <a:br/>
            <a:r>
              <a:t>過重労働の分散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2926080"/>
            <a:ext cx="2743200" cy="2286000"/>
          </a:xfrm>
          <a:prstGeom prst="ellipse">
            <a:avLst/>
          </a:prstGeom>
          <a:solidFill>
            <a:srgbClr val="E8F8F0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Yu Gothic"/>
              </a:defRPr>
            </a:pPr>
            <a:r>
              <a:t>病院よし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専攻医の確保</a:t>
            </a:r>
            <a:br/>
            <a:r>
              <a:t>手術機能の維持</a:t>
            </a:r>
            <a:br/>
            <a:r>
              <a:t>経営基盤の安定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73152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A5C"/>
                </a:solidFill>
                <a:latin typeface="Yu Gothic"/>
              </a:defRPr>
            </a:pPr>
            <a:r>
              <a:t>「研究支援」ではない ― 専攻医1人あたりの価値を最大化する分散型アカデミック基盤の構築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ROI構造と具体インパクト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18320" cy="6400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430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ROI  =  増収  +  コスト削減  +  採用効果  −  投資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38328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  <a:latin typeface="Yu Gothic"/>
              </a:defRPr>
            </a:pPr>
            <a:r>
              <a:t>増収効果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手術件数の増加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麻酔管理料(I) 全身麻酔 1,050点/件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専攻医1人 ≈ 年間200症例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  <a:latin typeface="Yu Gothic"/>
              </a:defRPr>
            </a:pPr>
            <a:r>
              <a:t>コスト削減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651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術後合併症の減少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ICU滞在日数の短縮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エビデンスに基づく周術期管理の最適化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3832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A5C"/>
                </a:solidFill>
                <a:latin typeface="Yu Gothic"/>
              </a:defRPr>
            </a:pPr>
            <a:r>
              <a:t>採用効果（最大）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専攻医の確保・維持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学術環境によるリクルーティング力強化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離職防止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専攻医1人の麻酔収益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80B9"/>
                </a:solidFill>
                <a:latin typeface="Yu Gothic"/>
              </a:defRPr>
            </a:pPr>
            <a:r>
              <a:t>1,200万〜1,500万円/年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38912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病院全体への波及効果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754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843"/>
                </a:solidFill>
                <a:latin typeface="Yu Gothic"/>
              </a:defRPr>
            </a:pPr>
            <a:r>
              <a:t>2,000万〜5,000万円規模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38912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ROI倍率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Yu Gothic"/>
              </a:defRPr>
            </a:pPr>
            <a:r>
              <a:t>10倍以上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出典: 令和6年度診療報酬点数表 L009 / 柚木(2024)商大ビジネスレビュー14(2) / DPC包括評価における全身麻酔手術の診療報酬構造より試算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サービス内容と差別化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Layer 1</a:t>
            </a:r>
            <a:br/>
            <a:r>
              <a:t>論文化支援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18872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Yu Gothic"/>
              </a:defRPr>
            </a:pPr>
            <a:r>
              <a:t>研究デザイン設計 / 統計解析（因果推論・傾向スコア・操作変数法）/ 論文作成・投稿支援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82880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Layer 2</a:t>
            </a:r>
            <a:br/>
            <a:r>
              <a:t>臨床改善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19456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Yu Gothic"/>
              </a:defRPr>
            </a:pPr>
            <a:r>
              <a:t>術中データ解析（バイタル・薬剤使用パターン）/ 術後合併症リスクモデル構築 / 周術期アウトカム改善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8288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Layer 3</a:t>
            </a:r>
            <a:br/>
            <a:r>
              <a:t>KPI可視化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20040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2918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Yu Gothic"/>
              </a:defRPr>
            </a:pPr>
            <a:r>
              <a:t>三方よしROIダッシュボード / 症例構成・手術室稼働率分析 / 専攻医獲得効果のモニタリング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120640" cy="182880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51206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Yu Gothic"/>
              </a:defRPr>
            </a:pPr>
            <a:r>
              <a:t>従来の統計支援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統計代行（単発支援）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汎用的な手法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臨床・経営との連動なし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89120"/>
            <a:ext cx="5120640" cy="182880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389120"/>
            <a:ext cx="51206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Yu Gothic"/>
              </a:defRPr>
            </a:pPr>
            <a:r>
              <a:t>本提案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因果推論に基づく高品質分析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医療特化のドメイン知識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  ● 論文と収益を同時に実現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価格とROI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年間サービス費用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  <a:latin typeface="Yu Gothic"/>
              </a:defRPr>
            </a:pPr>
            <a:r>
              <a:t>50万〜100万円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6675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66751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リターン試算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専攻医1人の維持・増員効果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Yu Gothic"/>
              </a:defRPr>
            </a:pPr>
            <a:r>
              <a:t>1,000万円以上/年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論文化による指導医認定維持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Yu Gothic"/>
              </a:defRPr>
            </a:pPr>
            <a:r>
              <a:t>研修施設維持（プライスレス）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Yu Gothic"/>
              </a:defRPr>
            </a:pPr>
            <a:r>
              <a:t>術後合併症削減・ICU短縮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Yu Gothic"/>
              </a:defRPr>
            </a:pPr>
            <a:r>
              <a:t>数百万円/年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698480" cy="7315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投資対効果　　ROI 10倍以上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754880"/>
            <a:ext cx="941832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年間対応可能施設数：最大10施設限定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Yu Gothic"/>
              </a:defRPr>
            </a:pPr>
            <a:r>
              <a:t>高品質な因果推論・論文化支援を維持するため、物理的に対応できるのは10施設が上限です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出典: 麻酔管理料(I) 全身麻酔1,050点 × 200症例/年 ≈ 約2,100万円の直接収益 / 令和6年度診療報酬点数表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導入ステップ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980B9"/>
                </a:solidFill>
                <a:latin typeface="Yu Gothic"/>
              </a:defRPr>
            </a:pPr>
            <a:r>
              <a:t>Phase 1（0〜3ヶ月）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基盤構築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既存データの整理・構造化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研究テーマ設定（1〜2本）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研究デザイン策定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IRB申請サポート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5C"/>
                </a:solidFill>
                <a:latin typeface="Yu Gothic"/>
              </a:defRPr>
            </a:pPr>
            <a:r>
              <a:t>成果物: 研究計画書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18872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188720"/>
            <a:ext cx="338328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843"/>
                </a:solidFill>
                <a:latin typeface="Yu Gothic"/>
              </a:defRPr>
            </a:pPr>
            <a:r>
              <a:t>Phase 2（3〜6ヶ月）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解析・モデル構築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1945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統計解析の実施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因果推論モデル構築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リスク予測モデル開発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中間報告・フィードバック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5120640"/>
            <a:ext cx="3383280" cy="54864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5C"/>
                </a:solidFill>
                <a:latin typeface="Yu Gothic"/>
              </a:defRPr>
            </a:pPr>
            <a:r>
              <a:t>成果物: 解析レポート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Yu Gothic"/>
              </a:defRPr>
            </a:pPr>
            <a:r>
              <a:t>Phase 3（6〜12ヶ月）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Yu Gothic"/>
              </a:defRPr>
            </a:pPr>
            <a:r>
              <a:t>成果化・運用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945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論文化・学会発表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KPIダッシュボード運用開始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ROI効果測定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  ● 次年度計画策定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120640"/>
            <a:ext cx="3383280" cy="54864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5C"/>
                </a:solidFill>
                <a:latin typeface="Yu Gothic"/>
              </a:defRPr>
            </a:pPr>
            <a:r>
              <a:t>成果物: 論文 + ダッシュボード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418320" cy="22860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三方よしの考え方に基づき、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患者・医療者・病院経営 すべてに価値が出る形で、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市中病院でも専門医取得が完結する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分散型アカデミック基盤 を構築します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338328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A5C"/>
                </a:solidFill>
                <a:latin typeface="Yu Gothic"/>
              </a:defRPr>
            </a:pPr>
            <a:r>
              <a:t>倫理（医療）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5C"/>
                </a:solidFill>
                <a:latin typeface="Yu Gothic"/>
              </a:defRPr>
            </a:pPr>
            <a:r>
              <a:t>三方よし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84048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3840480"/>
            <a:ext cx="338328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A5C"/>
                </a:solidFill>
                <a:latin typeface="Yu Gothic"/>
              </a:defRPr>
            </a:pPr>
            <a:r>
              <a:t>制度（専門医）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80B9"/>
                </a:solidFill>
                <a:latin typeface="Yu Gothic"/>
              </a:defRPr>
            </a:pPr>
            <a:r>
              <a:t>分散型学術基盤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84048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A5C"/>
                </a:solidFill>
                <a:latin typeface="Yu Gothic"/>
              </a:defRPr>
            </a:pPr>
            <a:r>
              <a:t>経営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Yu Gothic"/>
              </a:defRPr>
            </a:pPr>
            <a:r>
              <a:t>ROI 10倍以上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212080"/>
            <a:ext cx="758952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5257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年間対応枠 10施設限定 ― お早めにご相談ください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三層統合型提案 ― 滋賀大学 データサイエンス・AIイノベーション研究推進センター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