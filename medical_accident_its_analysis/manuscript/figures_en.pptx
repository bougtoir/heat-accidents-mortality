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#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#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#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#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#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#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#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#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#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#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#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#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*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-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*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-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&gt;&gt;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*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*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*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*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/>
              <a:t>Figure 1</a:t>
            </a:r>
          </a:p>
        </p:txBody>
      </p:sp>
      <p:pic>
        <p:nvPicPr>
          <p:cNvPr id="3" name="Picture 2" descr="fig1_litigation_r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005840"/>
            <a:ext cx="7132320" cy="47548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/>
              <a:t>Closed malpractice claims per 1,000 physicians by specialty, 2008-2024 (rates, not counts).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/>
              <a:t>Figure 2</a:t>
            </a:r>
          </a:p>
        </p:txBody>
      </p:sp>
      <p:pic>
        <p:nvPicPr>
          <p:cNvPr id="3" name="Picture 2" descr="fig2_physician_inde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005840"/>
            <a:ext cx="7132320" cy="47548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/>
              <a:t>Physician workforce by specialty, indexed to 2008 (=100).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/>
              <a:t>Figure 3</a:t>
            </a:r>
          </a:p>
        </p:txBody>
      </p:sp>
      <p:pic>
        <p:nvPicPr>
          <p:cNvPr id="3" name="Picture 2" descr="fig3_equival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005840"/>
            <a:ext cx="10698480" cy="47548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/>
              <a:t>Equivalence (TOST) of the litigation-rate effect against ±1% and ±2% margins (90% CIs).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/>
              <a:t>Figure 4</a:t>
            </a:r>
          </a:p>
        </p:txBody>
      </p:sp>
      <p:pic>
        <p:nvPicPr>
          <p:cNvPr id="3" name="Picture 2" descr="fig4_counts_vs_ra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005840"/>
            <a:ext cx="10460736" cy="47548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/>
              <a:t>Biennial physician growth against lagged litigation exposure as counts (a) and rates (b).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MS PGothic"/>
        <a:font script="Hang" typeface="Malgun Gothic"/>
        <a:font script="Hans" typeface="SimSun"/>
        <a:font script="Hant" typeface="PMingLiU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MS PGothic"/>
        <a:font script="Hang" typeface="Malgun Gothic"/>
        <a:font script="Hans" typeface="SimSun"/>
        <a:font script="Hant" typeface="PMingLiU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