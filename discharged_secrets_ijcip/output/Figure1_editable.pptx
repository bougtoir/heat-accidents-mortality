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142C44"/>
                </a:solidFill>
                <a:latin typeface="Aptos Display"/>
              </a:rPr>
              <a:t>Lifecycle exposure in serviced telemetry-emitting hardware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96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" y="914400"/>
            <a:ext cx="512064" cy="512064"/>
          </a:xfrm>
          <a:prstGeom prst="ellipse">
            <a:avLst/>
          </a:prstGeom>
          <a:solidFill>
            <a:srgbClr val="296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79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29629A"/>
                </a:solidFill>
                <a:latin typeface="Aptos"/>
              </a:rPr>
              <a:t>PROCURE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Components</a:t>
            </a:r>
            <a:br/>
            <a:r>
              <a:t>Software</a:t>
            </a:r>
            <a:br/>
            <a:r>
              <a:t>Backends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9629A"/>
                </a:solidFill>
              </a:rPr>
              <a:t>Require inventory,</a:t>
            </a:r>
            <a:br/>
            <a:r>
              <a:t>provenance, audit rights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3291840"/>
            <a:ext cx="201168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04288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35224" y="914400"/>
            <a:ext cx="512064" cy="512064"/>
          </a:xfrm>
          <a:prstGeom prst="ellipse">
            <a:avLst/>
          </a:prstGeom>
          <a:solidFill>
            <a:srgbClr val="337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337AB7"/>
                </a:solidFill>
                <a:latin typeface="Aptos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Identity</a:t>
            </a:r>
            <a:br/>
            <a:r>
              <a:t>Configuration</a:t>
            </a:r>
            <a:br/>
            <a:r>
              <a:t>Placement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37AB7"/>
                </a:solidFill>
              </a:rPr>
              <a:t>Harden defaults;</a:t>
            </a:r>
            <a:br/>
            <a:r>
              <a:t>register data flows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87368" y="3291840"/>
            <a:ext cx="201168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8536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28B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19471" y="914400"/>
            <a:ext cx="512064" cy="512064"/>
          </a:xfrm>
          <a:prstGeom prst="ellipse">
            <a:avLst/>
          </a:prstGeom>
          <a:solidFill>
            <a:srgbClr val="228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5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228B88"/>
                </a:solidFill>
                <a:latin typeface="Aptos"/>
              </a:rPr>
              <a:t>OPERATE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1416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Trips</a:t>
            </a:r>
            <a:br/>
            <a:r>
              <a:t>Power use</a:t>
            </a:r>
            <a:br/>
            <a:r>
              <a:t>Faults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71416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28B88"/>
                </a:solidFill>
              </a:rPr>
              <a:t>Minimize, localize,</a:t>
            </a:r>
            <a:br/>
            <a:r>
              <a:t>limit access/retention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71616" y="3291840"/>
            <a:ext cx="201167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72783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7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03719" y="914400"/>
            <a:ext cx="512064" cy="512064"/>
          </a:xfrm>
          <a:prstGeom prst="ellipse">
            <a:avLst/>
          </a:prstGeom>
          <a:solidFill>
            <a:srgbClr val="D7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3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D78B36"/>
                </a:solidFill>
                <a:latin typeface="Aptos"/>
              </a:rPr>
              <a:t>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Diagnostics</a:t>
            </a:r>
            <a:br/>
            <a:r>
              <a:t>Removed parts</a:t>
            </a:r>
            <a:br/>
            <a:r>
              <a:t>Depot access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55664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7375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D78B36"/>
                </a:solidFill>
              </a:rPr>
              <a:t>Vetted staff, tools,</a:t>
            </a:r>
            <a:br/>
            <a:r>
              <a:t>logs, custody records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055863" y="3291840"/>
            <a:ext cx="201168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257031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BE5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887967" y="914400"/>
            <a:ext cx="512064" cy="512064"/>
          </a:xfrm>
          <a:prstGeom prst="ellipse">
            <a:avLst/>
          </a:prstGeom>
          <a:solidFill>
            <a:srgbClr val="BE5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1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BE5B47"/>
                </a:solidFill>
                <a:latin typeface="Aptos"/>
              </a:rPr>
              <a:t>RECALL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9911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Emergency return</a:t>
            </a:r>
            <a:br/>
            <a:r>
              <a:t>Warranty data</a:t>
            </a:r>
            <a:br/>
            <a:r>
              <a:t>Evidence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39911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94192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BE5B47"/>
                </a:solidFill>
              </a:rPr>
              <a:t>Approved recipient;</a:t>
            </a:r>
            <a:br/>
            <a:r>
              <a:t>sanitize or escrow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040111" y="3291840"/>
            <a:ext cx="201169" cy="0"/>
          </a:xfrm>
          <a:prstGeom prst="line">
            <a:avLst/>
          </a:prstGeom>
          <a:ln w="25400">
            <a:solidFill>
              <a:srgbClr val="646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241280" y="1143000"/>
            <a:ext cx="1783080" cy="42976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705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872215" y="914400"/>
            <a:ext cx="512064" cy="512064"/>
          </a:xfrm>
          <a:prstGeom prst="ellipse">
            <a:avLst/>
          </a:prstGeom>
          <a:solidFill>
            <a:srgbClr val="705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19" y="1508760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705699"/>
                </a:solidFill>
                <a:latin typeface="Aptos"/>
              </a:rPr>
              <a:t>SECOND LIFE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213055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DATA / ACCESS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59" y="2468880"/>
            <a:ext cx="1417319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>
                <a:solidFill>
                  <a:srgbClr val="1E2D3C"/>
                </a:solidFill>
              </a:rPr>
              <a:t>Resale</a:t>
            </a:r>
            <a:br/>
            <a:r>
              <a:t>Recycling</a:t>
            </a:r>
            <a:br/>
            <a:r>
              <a:t>Residual keys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59" y="3675887"/>
            <a:ext cx="1417319" cy="22860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78440" y="3867912"/>
            <a:ext cx="1508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5A646E"/>
                </a:solidFill>
              </a:rPr>
              <a:t>CONTROL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05872" y="4206240"/>
            <a:ext cx="1453895" cy="10058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705699"/>
                </a:solidFill>
              </a:rPr>
              <a:t>Verify sanitization;</a:t>
            </a:r>
            <a:br/>
            <a:r>
              <a:t>revoke credentials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46505A"/>
                </a:solidFill>
              </a:rPr>
              <a:t>Figure 1. Exposure persists when data generated at one stage become accessible after a later custody transition; controls must therefore be verified end to 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