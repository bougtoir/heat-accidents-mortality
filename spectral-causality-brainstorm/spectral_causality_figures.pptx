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/>
            </a:pPr>
            <a:r>
              <a:t>Figure 1: Three Approaches to Causal Analysis</a:t>
            </a:r>
          </a:p>
        </p:txBody>
      </p:sp>
      <p:pic>
        <p:nvPicPr>
          <p:cNvPr id="3" name="Picture 2" descr="fig1_three_approach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914400"/>
            <a:ext cx="10058400" cy="33041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/>
            </a:pPr>
            <a:r>
              <a:t>(A) Conventional variable-level analysis, (B) LiNGAM causal DAG, (C) Spectral causality theme-level causal flow. UCI Heart Disease Data (n=297).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/>
            </a:pPr>
            <a:r>
              <a:t>Figure 2: Magnetic Laplacian Eigenvectors</a:t>
            </a:r>
          </a:p>
        </p:txBody>
      </p:sp>
      <p:pic>
        <p:nvPicPr>
          <p:cNvPr id="3" name="Picture 2" descr="fig2_magnetic_laplacian_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914400"/>
            <a:ext cx="10058400" cy="320480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/>
            </a:pPr>
            <a:r>
              <a:t>Second eigenvector of the magnetic Laplacian plotted in the complex plane for q=0, 0.1, 0.25. Phase angle order encodes causal flow direction.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/>
            </a:pPr>
            <a:r>
              <a:t>Figure 3: Hodge Decomposition</a:t>
            </a:r>
          </a:p>
        </p:txBody>
      </p:sp>
      <p:pic>
        <p:nvPicPr>
          <p:cNvPr id="3" name="Picture 2" descr="fig3_hodge_de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914400"/>
            <a:ext cx="10058400" cy="43719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/>
            </a:pPr>
            <a:r>
              <a:t>(A) Gradient (85.9%) vs curl (14.1%) energy decomposition. (B) Causal potential phi for each variable. Age=most upstream, STDep=most downstream.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/>
            </a:pPr>
            <a:r>
              <a:t>Figure 4: Causal Direction Comparison (3 Methods)</a:t>
            </a:r>
          </a:p>
        </p:txBody>
      </p:sp>
      <p:pic>
        <p:nvPicPr>
          <p:cNvPr id="3" name="Picture 2" descr="fig4_direct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058" y="914400"/>
            <a:ext cx="10053578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/>
            </a:pPr>
            <a:r>
              <a:t>Comparison of causal directions across all 10 variable pairs. LiNGAM (red), SCD (blue), Hodge potential (green). Green background = all methods agree.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/>
            </a:pPr>
            <a:r>
              <a:t>Figure 5: Hill's 9 Criteria Coverage by Method</a:t>
            </a:r>
          </a:p>
        </p:txBody>
      </p:sp>
      <p:pic>
        <p:nvPicPr>
          <p:cNvPr id="3" name="Picture 2" descr="fig5_hill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914400"/>
            <a:ext cx="10058400" cy="3628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/>
            </a:pPr>
            <a:r>
              <a:t>Radar chart showing Hill's 9 criteria coverage. LiNGAM covers H1/H3, Utility Causality covers H6/H7/H9. ECD ensemble covers nearly all criteria.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/>
            </a:pPr>
            <a:r>
              <a:t>Figure 6: DirectLiNGAM Causal DAG</a:t>
            </a:r>
          </a:p>
        </p:txBody>
      </p:sp>
      <p:pic>
        <p:nvPicPr>
          <p:cNvPr id="3" name="Picture 2" descr="fig6_causal_d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5616" y="914400"/>
            <a:ext cx="4600462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/>
            </a:pPr>
            <a:r>
              <a:t>Estimated causal DAG by DirectLiNGAM. UCI Heart Disease (Cleveland, n=297). Blue=positive effect, red=negative effect. Edge width proportional to effect size.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/>
            </a:pPr>
            <a:r>
              <a:t>Figure 7: LiNGAM DAG vs Spectral Causality DCG</a:t>
            </a:r>
          </a:p>
        </p:txBody>
      </p:sp>
      <p:pic>
        <p:nvPicPr>
          <p:cNvPr id="3" name="Picture 2" descr="fig7_lingam_vs_spect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914400"/>
            <a:ext cx="10058400" cy="408798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/>
            </a:pPr>
            <a:r>
              <a:t>(A) LiNGAM DAG, (B) Spectral (alpha=0.6, domain knowledge), (C) Spectral (alpha=0, pure data-driven: no edges detected).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/>
            </a:pPr>
            <a:r>
              <a:t>Figure 8: Alpha Sweep — DAG Transition Analysis</a:t>
            </a:r>
          </a:p>
        </p:txBody>
      </p:sp>
      <p:pic>
        <p:nvPicPr>
          <p:cNvPr id="3" name="Picture 2" descr="fig8_alpha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1863" y="914400"/>
            <a:ext cx="6807969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/>
            </a:pPr>
            <a:r>
              <a:t>Gradient ratio r_gradient as a function of alpha. Discontinuous jump at alpha=0+ demonstrates that knowledge amount is irrelevant; only structure matters.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/>
            </a:pPr>
            <a:r>
              <a:t>Figure 9: ECD Ensemble + Pruning Analysis</a:t>
            </a:r>
          </a:p>
        </p:txBody>
      </p:sp>
      <p:pic>
        <p:nvPicPr>
          <p:cNvPr id="3" name="Picture 2" descr="fig9_ecd_pruning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4026" y="914400"/>
            <a:ext cx="5643643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/>
            </a:pPr>
            <a:r>
              <a:t>(A) Hodge gradient/curl decomposition, (B) Causal potential vs interventionability, (C) Per-edge feedback fraction, (D) DAG-ness vs knowledge quality (U-shaped curve, p_flip*≈0.15).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