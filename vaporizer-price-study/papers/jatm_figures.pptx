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2895" cy="1828800"/>
          </a:xfrm>
          <a:prstGeom prst="rect">
            <a:avLst/>
          </a:prstGeom>
          <a:noFill/>
        </p:spPr>
        <p:txBody>
          <a:bodyPr wrap="square">
            <a:spAutoFit/>
          </a:bodyPr>
          <a:lstStyle/>
          <a:p>
            <a:pPr algn="ctr">
              <a:defRPr sz="2800" b="1">
                <a:solidFill>
                  <a:srgbClr val="1A476F"/>
                </a:solidFill>
              </a:defRPr>
            </a:pPr>
            <a:r>
              <a:t>Targeted Environmental Regulation Without Observable Collateral Market Damage:</a:t>
            </a:r>
            <a:br/>
            <a:r>
              <a:t>The EU Desflurane Ban and Secondary Market Vaporizer Prices</a:t>
            </a:r>
          </a:p>
          <a:p>
            <a:pPr algn="ctr">
              <a:spcBef>
                <a:spcPts val="2000"/>
              </a:spcBef>
              <a:defRPr sz="2000">
                <a:solidFill>
                  <a:srgbClr val="555555"/>
                </a:solidFill>
              </a:defRPr>
            </a:pPr>
            <a:r>
              <a:t>Figures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1_price_timeseries.png"/>
          <p:cNvPicPr>
            <a:picLocks noChangeAspect="1"/>
          </p:cNvPicPr>
          <p:nvPr/>
        </p:nvPicPr>
        <p:blipFill>
          <a:blip r:embed="rId2"/>
          <a:stretch>
            <a:fillRect/>
          </a:stretch>
        </p:blipFill>
        <p:spPr>
          <a:xfrm>
            <a:off x="4140029" y="274320"/>
            <a:ext cx="3911636" cy="4572000"/>
          </a:xfrm>
          <a:prstGeom prst="rect">
            <a:avLst/>
          </a:prstGeom>
        </p:spPr>
      </p:pic>
      <p:sp>
        <p:nvSpPr>
          <p:cNvPr id="3" name="TextBox 2"/>
          <p:cNvSpPr txBox="1"/>
          <p:nvPr/>
        </p:nvSpPr>
        <p:spPr>
          <a:xfrm>
            <a:off x="685800" y="5029200"/>
            <a:ext cx="10820095" cy="1371600"/>
          </a:xfrm>
          <a:prstGeom prst="rect">
            <a:avLst/>
          </a:prstGeom>
          <a:noFill/>
        </p:spPr>
        <p:txBody>
          <a:bodyPr wrap="square">
            <a:spAutoFit/>
          </a:bodyPr>
          <a:lstStyle/>
          <a:p>
            <a:pPr algn="l"/>
            <a:r>
              <a:rPr sz="1200" b="1"/>
              <a:t>Fig. 1. </a:t>
            </a:r>
            <a:r>
              <a:rPr sz="1200" i="1"/>
              <a:t>Time series of eBay completed sale prices for desflurane (red), sevoflurane (blue), and isoflurane (green) vaporizers over three years (March 2023 to March 2026). Vertical dashed lines indicate key EU regulatory milestones. Curved lines represent LOWESS trend estimates (fraction = 0.3). Data source: eBay Terapeak.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5_regulatory_timeline.png"/>
          <p:cNvPicPr>
            <a:picLocks noChangeAspect="1"/>
          </p:cNvPicPr>
          <p:nvPr/>
        </p:nvPicPr>
        <p:blipFill>
          <a:blip r:embed="rId2"/>
          <a:stretch>
            <a:fillRect/>
          </a:stretch>
        </p:blipFill>
        <p:spPr>
          <a:xfrm>
            <a:off x="1480590" y="274320"/>
            <a:ext cx="9230515" cy="4572000"/>
          </a:xfrm>
          <a:prstGeom prst="rect">
            <a:avLst/>
          </a:prstGeom>
        </p:spPr>
      </p:pic>
      <p:sp>
        <p:nvSpPr>
          <p:cNvPr id="3" name="TextBox 2"/>
          <p:cNvSpPr txBox="1"/>
          <p:nvPr/>
        </p:nvSpPr>
        <p:spPr>
          <a:xfrm>
            <a:off x="685800" y="5029200"/>
            <a:ext cx="10820095" cy="1371600"/>
          </a:xfrm>
          <a:prstGeom prst="rect">
            <a:avLst/>
          </a:prstGeom>
          <a:noFill/>
        </p:spPr>
        <p:txBody>
          <a:bodyPr wrap="square">
            <a:spAutoFit/>
          </a:bodyPr>
          <a:lstStyle/>
          <a:p>
            <a:pPr algn="l"/>
            <a:r>
              <a:rPr sz="1200" b="1"/>
              <a:t>Fig. 2. </a:t>
            </a:r>
            <a:r>
              <a:rPr sz="1200" i="1"/>
              <a:t>Anesthetic vaporizer prices mapped against the EU regulatory timeline. Shaded regions indicate regulatory phases. Data source: eBay Terapeak.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6_quarterly_trends.png"/>
          <p:cNvPicPr>
            <a:picLocks noChangeAspect="1"/>
          </p:cNvPicPr>
          <p:nvPr/>
        </p:nvPicPr>
        <p:blipFill>
          <a:blip r:embed="rId2"/>
          <a:stretch>
            <a:fillRect/>
          </a:stretch>
        </p:blipFill>
        <p:spPr>
          <a:xfrm>
            <a:off x="3448704" y="274320"/>
            <a:ext cx="5294286" cy="4572000"/>
          </a:xfrm>
          <a:prstGeom prst="rect">
            <a:avLst/>
          </a:prstGeom>
        </p:spPr>
      </p:pic>
      <p:sp>
        <p:nvSpPr>
          <p:cNvPr id="3" name="TextBox 2"/>
          <p:cNvSpPr txBox="1"/>
          <p:nvPr/>
        </p:nvSpPr>
        <p:spPr>
          <a:xfrm>
            <a:off x="685800" y="5029200"/>
            <a:ext cx="10820095" cy="1371600"/>
          </a:xfrm>
          <a:prstGeom prst="rect">
            <a:avLst/>
          </a:prstGeom>
          <a:noFill/>
        </p:spPr>
        <p:txBody>
          <a:bodyPr wrap="square">
            <a:spAutoFit/>
          </a:bodyPr>
          <a:lstStyle/>
          <a:p>
            <a:pPr algn="l"/>
            <a:r>
              <a:rPr sz="1200" b="1"/>
              <a:t>Fig. 3. </a:t>
            </a:r>
            <a:r>
              <a:rPr sz="1200" i="1"/>
              <a:t>Quarterly median price trends (upper panel) and sales volume (lower panel). Data source: eBay Terapeak.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2_boxplot_comparison.png"/>
          <p:cNvPicPr>
            <a:picLocks noChangeAspect="1"/>
          </p:cNvPicPr>
          <p:nvPr/>
        </p:nvPicPr>
        <p:blipFill>
          <a:blip r:embed="rId2"/>
          <a:stretch>
            <a:fillRect/>
          </a:stretch>
        </p:blipFill>
        <p:spPr>
          <a:xfrm>
            <a:off x="2249912" y="274320"/>
            <a:ext cx="7691870" cy="4572000"/>
          </a:xfrm>
          <a:prstGeom prst="rect">
            <a:avLst/>
          </a:prstGeom>
        </p:spPr>
      </p:pic>
      <p:sp>
        <p:nvSpPr>
          <p:cNvPr id="3" name="TextBox 2"/>
          <p:cNvSpPr txBox="1"/>
          <p:nvPr/>
        </p:nvSpPr>
        <p:spPr>
          <a:xfrm>
            <a:off x="685800" y="5029200"/>
            <a:ext cx="10820095" cy="1371600"/>
          </a:xfrm>
          <a:prstGeom prst="rect">
            <a:avLst/>
          </a:prstGeom>
          <a:noFill/>
        </p:spPr>
        <p:txBody>
          <a:bodyPr wrap="square">
            <a:spAutoFit/>
          </a:bodyPr>
          <a:lstStyle/>
          <a:p>
            <a:pPr algn="l"/>
            <a:r>
              <a:rPr sz="1200" b="1"/>
              <a:t>Fig. 4. </a:t>
            </a:r>
            <a:r>
              <a:rPr sz="1200" i="1"/>
              <a:t>Box plot comparison of vaporizer prices before and after the EU desflurane ban (1 January 2026). Individual data points are shown as jittered dots. Data source: eBay Terapeak.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3_monthly_median.png"/>
          <p:cNvPicPr>
            <a:picLocks noChangeAspect="1"/>
          </p:cNvPicPr>
          <p:nvPr/>
        </p:nvPicPr>
        <p:blipFill>
          <a:blip r:embed="rId2"/>
          <a:stretch>
            <a:fillRect/>
          </a:stretch>
        </p:blipFill>
        <p:spPr>
          <a:xfrm>
            <a:off x="1487500" y="274320"/>
            <a:ext cx="9216695" cy="4572000"/>
          </a:xfrm>
          <a:prstGeom prst="rect">
            <a:avLst/>
          </a:prstGeom>
        </p:spPr>
      </p:pic>
      <p:sp>
        <p:nvSpPr>
          <p:cNvPr id="3" name="TextBox 2"/>
          <p:cNvSpPr txBox="1"/>
          <p:nvPr/>
        </p:nvSpPr>
        <p:spPr>
          <a:xfrm>
            <a:off x="685800" y="5029200"/>
            <a:ext cx="10820095" cy="1371600"/>
          </a:xfrm>
          <a:prstGeom prst="rect">
            <a:avLst/>
          </a:prstGeom>
          <a:noFill/>
        </p:spPr>
        <p:txBody>
          <a:bodyPr wrap="square">
            <a:spAutoFit/>
          </a:bodyPr>
          <a:lstStyle/>
          <a:p>
            <a:pPr algn="l"/>
            <a:r>
              <a:rPr sz="1200" b="1"/>
              <a:t>Fig. 5. </a:t>
            </a:r>
            <a:r>
              <a:rPr sz="1200" i="1"/>
              <a:t>Monthly median prices of anesthetic vaporizers on eBay. Annotations indicate the number of transactions per month (n). Data source: eBay Terapeak.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4_histograms.png"/>
          <p:cNvPicPr>
            <a:picLocks noChangeAspect="1"/>
          </p:cNvPicPr>
          <p:nvPr/>
        </p:nvPicPr>
        <p:blipFill>
          <a:blip r:embed="rId2"/>
          <a:stretch>
            <a:fillRect/>
          </a:stretch>
        </p:blipFill>
        <p:spPr>
          <a:xfrm>
            <a:off x="685800" y="274320"/>
            <a:ext cx="10820095" cy="4004553"/>
          </a:xfrm>
          <a:prstGeom prst="rect">
            <a:avLst/>
          </a:prstGeom>
        </p:spPr>
      </p:pic>
      <p:sp>
        <p:nvSpPr>
          <p:cNvPr id="3" name="TextBox 2"/>
          <p:cNvSpPr txBox="1"/>
          <p:nvPr/>
        </p:nvSpPr>
        <p:spPr>
          <a:xfrm>
            <a:off x="685800" y="4461753"/>
            <a:ext cx="10820095" cy="1371600"/>
          </a:xfrm>
          <a:prstGeom prst="rect">
            <a:avLst/>
          </a:prstGeom>
          <a:noFill/>
        </p:spPr>
        <p:txBody>
          <a:bodyPr wrap="square">
            <a:spAutoFit/>
          </a:bodyPr>
          <a:lstStyle/>
          <a:p>
            <a:pPr algn="l"/>
            <a:r>
              <a:rPr sz="1200" b="1"/>
              <a:t>Fig. 6. </a:t>
            </a:r>
            <a:r>
              <a:rPr sz="1200" i="1"/>
              <a:t>Price distribution histograms for each vaporizer type, comparing pre-ban (solid fill) and post-ban (hatched) periods. Data source: eBay Terapeak.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