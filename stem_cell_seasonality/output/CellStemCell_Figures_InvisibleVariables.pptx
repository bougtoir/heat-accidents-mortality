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Figure 1. Academic Calendar Variation as a Natural Experiment</a:t>
            </a:r>
          </a:p>
        </p:txBody>
      </p:sp>
      <p:pic>
        <p:nvPicPr>
          <p:cNvPr id="3" name="Picture 2" descr="natural_experiment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96977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(A) Normalized monthly distributions by academic year group. (B) Country-level heatmap. (C) Circular mean directions (Rayleigh vectors). (D) Statistical summary. n=6,101 total; 3,195 with country affiliation.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Figure 2. Research Roadmap for Environmental Profiling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A. Evidence Matrix</a:t>
            </a:r>
          </a:p>
          <a:p>
            <a:pPr>
              <a:spcAft>
                <a:spcPts val="400"/>
              </a:spcAft>
              <a:defRPr sz="1100"/>
            </a:pPr>
            <a:r>
              <a:t>• Humidity/Osmolarity: Direct PSC evidence [Inverted]</a:t>
            </a:r>
          </a:p>
          <a:p>
            <a:pPr>
              <a:spcAft>
                <a:spcPts val="400"/>
              </a:spcAft>
              <a:defRPr sz="1100"/>
            </a:pPr>
            <a:r>
              <a:t>• VOCs: Direct IVF + PSC evidence [Inverted]</a:t>
            </a:r>
          </a:p>
          <a:p>
            <a:pPr>
              <a:spcAft>
                <a:spcPts val="400"/>
              </a:spcAft>
              <a:defRPr sz="1100"/>
            </a:pPr>
            <a:r>
              <a:t>• Photoperiod/Light: Indirect (CRY1, IVF) [Inverted]</a:t>
            </a:r>
          </a:p>
          <a:p>
            <a:pPr>
              <a:spcAft>
                <a:spcPts val="400"/>
              </a:spcAft>
              <a:defRPr sz="1100"/>
            </a:pPr>
            <a:r>
              <a:t>• EMF (50/60 Hz): Direct ESC evidence [N/A]</a:t>
            </a:r>
          </a:p>
          <a:p>
            <a:pPr>
              <a:spcAft>
                <a:spcPts val="400"/>
              </a:spcAft>
              <a:defRPr sz="1100"/>
            </a:pPr>
            <a:r>
              <a:t>• Barometric pressure: Theoretical [Synchronous]</a:t>
            </a:r>
          </a:p>
          <a:p>
            <a:pPr>
              <a:spcAft>
                <a:spcPts val="400"/>
              </a:spcAft>
              <a:defRPr sz="1100"/>
            </a:pPr>
            <a:r>
              <a:t>• Cosmic rays: Indirect (fibroblast) [Synchronous]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9144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B. Three-Phase Strategy</a:t>
            </a:r>
          </a:p>
          <a:p>
            <a:pPr>
              <a:spcBef>
                <a:spcPts val="1200"/>
              </a:spcBef>
              <a:defRPr sz="1200" b="1"/>
            </a:pPr>
            <a:r>
              <a:t>Phase I: Passive Monitoring</a:t>
            </a:r>
          </a:p>
          <a:p>
            <a:pPr>
              <a:spcAft>
                <a:spcPts val="200"/>
              </a:spcAft>
              <a:defRPr sz="1000"/>
            </a:pPr>
            <a:r>
              <a:t>  → Multi-parameter IoT sensors</a:t>
            </a:r>
          </a:p>
          <a:p>
            <a:pPr>
              <a:spcAft>
                <a:spcPts val="200"/>
              </a:spcAft>
              <a:defRPr sz="1000"/>
            </a:pPr>
            <a:r>
              <a:t>  → 12 months continuous</a:t>
            </a:r>
          </a:p>
          <a:p>
            <a:pPr>
              <a:spcAft>
                <a:spcPts val="200"/>
              </a:spcAft>
              <a:defRPr sz="1000"/>
            </a:pPr>
            <a:r>
              <a:t>  → Paired with differentiation outcomes</a:t>
            </a:r>
          </a:p>
          <a:p>
            <a:pPr>
              <a:spcBef>
                <a:spcPts val="1200"/>
              </a:spcBef>
              <a:defRPr sz="1200" b="1"/>
            </a:pPr>
            <a:r>
              <a:t>Phase II: Registry Mining</a:t>
            </a:r>
          </a:p>
          <a:p>
            <a:pPr>
              <a:spcAft>
                <a:spcPts val="200"/>
              </a:spcAft>
              <a:defRPr sz="1000"/>
            </a:pPr>
            <a:r>
              <a:t>  → HFEA (UK, 51°N)</a:t>
            </a:r>
          </a:p>
          <a:p>
            <a:pPr>
              <a:spcAft>
                <a:spcPts val="200"/>
              </a:spcAft>
              <a:defRPr sz="1000"/>
            </a:pPr>
            <a:r>
              <a:t>  → ANZARD (Australia, 33°S)</a:t>
            </a:r>
          </a:p>
          <a:p>
            <a:pPr>
              <a:spcAft>
                <a:spcPts val="200"/>
              </a:spcAft>
              <a:defRPr sz="1000"/>
            </a:pPr>
            <a:r>
              <a:t>  → Hemisphere-inversion test</a:t>
            </a:r>
          </a:p>
          <a:p>
            <a:pPr>
              <a:spcBef>
                <a:spcPts val="1200"/>
              </a:spcBef>
              <a:defRPr sz="1200" b="1"/>
            </a:pPr>
            <a:r>
              <a:t>Phase III: Controlled Intervention</a:t>
            </a:r>
          </a:p>
          <a:p>
            <a:pPr>
              <a:spcAft>
                <a:spcPts val="200"/>
              </a:spcAft>
              <a:defRPr sz="1000"/>
            </a:pPr>
            <a:r>
              <a:t>  → Humidity-controlled incubators</a:t>
            </a:r>
          </a:p>
          <a:p>
            <a:pPr>
              <a:spcAft>
                <a:spcPts val="200"/>
              </a:spcAft>
              <a:defRPr sz="1000"/>
            </a:pPr>
            <a:r>
              <a:t>  → Light-tight biosafety cabinets</a:t>
            </a:r>
          </a:p>
          <a:p>
            <a:pPr>
              <a:spcAft>
                <a:spcPts val="200"/>
              </a:spcAft>
              <a:defRPr sz="1000"/>
            </a:pPr>
            <a:r>
              <a:t>  → EMF shielding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Graphical Abstract</a:t>
            </a:r>
          </a:p>
        </p:txBody>
      </p:sp>
      <p:pic>
        <p:nvPicPr>
          <p:cNvPr id="3" name="Picture 2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7315200" cy="7315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