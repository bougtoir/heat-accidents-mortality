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00"/>
                </a:solidFill>
                <a:latin typeface="Arial"/>
              </a:defRPr>
            </a:pPr>
            <a:r>
              <a:t>Figure 1. The Environmental Iceberg of Stem Cell Culture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4572000" cy="2011680"/>
          </a:xfrm>
          <a:prstGeom prst="rect">
            <a:avLst/>
          </a:prstGeom>
          <a:solidFill>
            <a:srgbClr val="DC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6400"/>
                </a:solidFill>
                <a:latin typeface="Arial"/>
              </a:defRPr>
            </a:pPr>
            <a:r>
              <a:t>CONTROLLED (standard practice)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554480"/>
            <a:ext cx="1828800" cy="914400"/>
          </a:xfrm>
          <a:prstGeom prst="round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Temperature</a:t>
            </a:r>
            <a:br/>
            <a:r>
              <a:t>37°C ± 0.1°C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554480"/>
            <a:ext cx="1828800" cy="914400"/>
          </a:xfrm>
          <a:prstGeom prst="round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CO₂</a:t>
            </a:r>
            <a:br/>
            <a:r>
              <a:t>5% ± 0.1%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4937760" cy="54864"/>
          </a:xfrm>
          <a:prstGeom prst="rect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0050A0"/>
                </a:solidFill>
                <a:latin typeface="Arial"/>
              </a:defRPr>
            </a:pPr>
            <a:r>
              <a:t>— waterline 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017520"/>
            <a:ext cx="4572000" cy="3474720"/>
          </a:xfrm>
          <a:prstGeom prst="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B40000"/>
                </a:solidFill>
                <a:latin typeface="Arial"/>
              </a:defRPr>
            </a:pPr>
            <a:r>
              <a:t>UNCONTROLLED (invisible variables)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566160"/>
            <a:ext cx="2011680" cy="685800"/>
          </a:xfrm>
          <a:prstGeom prst="roundRect">
            <a:avLst/>
          </a:prstGeom>
          <a:solidFill>
            <a:srgbClr val="FF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Humidity</a:t>
            </a:r>
            <a:br/>
            <a:r>
              <a:t>(seasonal: summer ↑)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3566160"/>
            <a:ext cx="2011680" cy="685800"/>
          </a:xfrm>
          <a:prstGeom prst="roundRect">
            <a:avLst/>
          </a:prstGeom>
          <a:solidFill>
            <a:srgbClr val="FFD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Ambient Light</a:t>
            </a:r>
            <a:br/>
            <a:r>
              <a:t>(photoperiod)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4343400"/>
            <a:ext cx="2011680" cy="685800"/>
          </a:xfrm>
          <a:prstGeom prst="roundRect">
            <a:avLst/>
          </a:prstGeom>
          <a:solidFill>
            <a:srgbClr val="FF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VOCs</a:t>
            </a:r>
            <a:br/>
            <a:r>
              <a:t>(T/RH-dependent)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343400"/>
            <a:ext cx="2011680" cy="685800"/>
          </a:xfrm>
          <a:prstGeom prst="roundRect">
            <a:avLst/>
          </a:prstGeom>
          <a:solidFill>
            <a:srgbClr val="FFD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ELF-EMF</a:t>
            </a:r>
            <a:br/>
            <a:r>
              <a:t>(50/60 Hz, HVAC)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5120640"/>
            <a:ext cx="2011680" cy="685800"/>
          </a:xfrm>
          <a:prstGeom prst="roundRect">
            <a:avLst/>
          </a:prstGeom>
          <a:solidFill>
            <a:srgbClr val="FF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Barometric Pressure</a:t>
            </a:r>
            <a:br/>
            <a:r>
              <a:t>(weather systems)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5120640"/>
            <a:ext cx="2011680" cy="685800"/>
          </a:xfrm>
          <a:prstGeom prst="roundRect">
            <a:avLst/>
          </a:prstGeom>
          <a:solidFill>
            <a:srgbClr val="FFD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Background Radiation</a:t>
            </a:r>
            <a:br/>
            <a:r>
              <a:t>(cosmic rays)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5897879"/>
            <a:ext cx="2011680" cy="685800"/>
          </a:xfrm>
          <a:prstGeom prst="roundRect">
            <a:avLst/>
          </a:prstGeom>
          <a:solidFill>
            <a:srgbClr val="FF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Water Quality</a:t>
            </a:r>
            <a:br/>
            <a:r>
              <a:t>(endotoxin, TOC)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5897879"/>
            <a:ext cx="2011680" cy="685800"/>
          </a:xfrm>
          <a:prstGeom prst="roundRect">
            <a:avLst/>
          </a:prstGeom>
          <a:solidFill>
            <a:srgbClr val="FFD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000000"/>
                </a:solidFill>
                <a:latin typeface="Arial"/>
              </a:defRPr>
            </a:pPr>
            <a:r>
              <a:t>Vibration</a:t>
            </a:r>
            <a:br/>
            <a:r>
              <a:t>(building, traffic)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00"/>
                </a:solidFill>
                <a:latin typeface="Arial"/>
              </a:defRPr>
            </a:pPr>
            <a:r>
              <a:t>Seasonal Variation Patterns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914400"/>
            <a:ext cx="2011680" cy="365760"/>
          </a:xfrm>
          <a:prstGeom prst="rect">
            <a:avLst/>
          </a:prstGeom>
          <a:solidFill>
            <a:srgbClr val="005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914400"/>
            <a:ext cx="1280160" cy="365760"/>
          </a:xfrm>
          <a:prstGeom prst="rect">
            <a:avLst/>
          </a:prstGeom>
          <a:solidFill>
            <a:srgbClr val="005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NH Summer</a:t>
            </a:r>
            <a:br/>
            <a:r>
              <a:t>(Jun–Aug)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92640" y="914400"/>
            <a:ext cx="1280160" cy="365760"/>
          </a:xfrm>
          <a:prstGeom prst="rect">
            <a:avLst/>
          </a:prstGeom>
          <a:solidFill>
            <a:srgbClr val="005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SH Summer</a:t>
            </a:r>
            <a:br/>
            <a:r>
              <a:t>(Dec–Feb)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0" y="914400"/>
            <a:ext cx="1097280" cy="365760"/>
          </a:xfrm>
          <a:prstGeom prst="rect">
            <a:avLst/>
          </a:prstGeom>
          <a:solidFill>
            <a:srgbClr val="005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Phase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280160"/>
            <a:ext cx="201168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Humidity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128016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High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92640" y="128016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High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0" y="128016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645920"/>
            <a:ext cx="2011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Photoperiod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164592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Long days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92640" y="164592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Long days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72800" y="164592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201168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VOCs (off-gassing)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201168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(warm)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201168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(warm)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72800" y="201168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377440"/>
            <a:ext cx="2011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ELF-EMF (HVAC)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237744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cooling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640" y="237744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heating*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72800" y="237744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743200"/>
            <a:ext cx="201168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Barometric press.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0" y="274320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92640" y="274320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972800" y="274320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108960"/>
            <a:ext cx="2011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IVF outcome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310896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Better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92640" y="310896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Better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72800" y="310896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474720"/>
            <a:ext cx="201168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Melatonin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0" y="347472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↓ Less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92640" y="347472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↓ Less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0" y="347472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840480"/>
            <a:ext cx="2011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Contamination risk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384048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Higher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384048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↑ Higher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972800" y="384048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206240"/>
            <a:ext cx="201168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Geomagnetic storms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420624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Spring/Fall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92640" y="420624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Spring/Fall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972800" y="4206240"/>
            <a:ext cx="1097280" cy="365760"/>
          </a:xfrm>
          <a:prstGeom prst="rect">
            <a:avLst/>
          </a:prstGeom>
          <a:solidFill>
            <a:srgbClr val="FF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Synchronous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4572000"/>
            <a:ext cx="2011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Cosmic ray flux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457200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Winter ↑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92640" y="4572000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Winter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972800" y="4572000"/>
            <a:ext cx="1097280" cy="365760"/>
          </a:xfrm>
          <a:prstGeom prst="rect">
            <a:avLst/>
          </a:prstGeom>
          <a:solidFill>
            <a:srgbClr val="C8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Inverted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0" y="4937760"/>
            <a:ext cx="201168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Solar UV (11yr)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12480" y="493776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Max at solar 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92640" y="4937760"/>
            <a:ext cx="1280160" cy="36576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Same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972800" y="4937760"/>
            <a:ext cx="1097280" cy="365760"/>
          </a:xfrm>
          <a:prstGeom prst="rect">
            <a:avLst/>
          </a:prstGeom>
          <a:solidFill>
            <a:srgbClr val="FFE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000000"/>
                </a:solidFill>
                <a:latin typeface="Arial"/>
              </a:defRPr>
            </a:pPr>
            <a:r>
              <a:t>Synchronous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505050"/>
                </a:solidFill>
                <a:latin typeface="Arial"/>
              </a:defRPr>
            </a:pPr>
            <a:r>
              <a:t>Green = hemisphere-inverted (solar-driven); Orange = hemisphere-synchronous (geomagnetic)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3C3C3C"/>
                </a:solidFill>
                <a:latin typeface="Arial"/>
              </a:defRPr>
            </a:pPr>
            <a:r>
              <a:t>Figure 1. Left: Controlled vs. uncontrolled environmental parameters in standard PSC facilities. Right: Expected seasonal patterns by hemisphere.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760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787878"/>
                </a:solidFill>
                <a:latin typeface="Arial"/>
              </a:defRPr>
            </a:pPr>
            <a:r>
              <a:t>*SH HVAC patterns depend on climate zone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00"/>
                </a:solidFill>
                <a:latin typeface="Arial"/>
              </a:defRPr>
            </a:pPr>
            <a:r>
              <a:t>Figure 2. Research Roadmap for Environmental Profiling of PSC Facilities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5082"/>
                </a:solidFill>
                <a:latin typeface="Arial"/>
              </a:defRPr>
            </a:pPr>
            <a:r>
              <a:t>A  Evidence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630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008250"/>
                </a:solidFill>
                <a:latin typeface="Arial"/>
              </a:defRPr>
            </a:pPr>
            <a:r>
              <a:t>Direct PSC</a:t>
            </a:r>
            <a:br/>
            <a: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89600"/>
                </a:solidFill>
                <a:latin typeface="Arial"/>
              </a:defRPr>
            </a:pPr>
            <a:r>
              <a:t>Indirect</a:t>
            </a:r>
            <a:br/>
            <a:r>
              <a:t>(IVF/culture)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02336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B45050"/>
                </a:solidFill>
                <a:latin typeface="Arial"/>
              </a:defRPr>
            </a:pPr>
            <a:r>
              <a:t>Theoretical</a:t>
            </a:r>
            <a:br/>
            <a:r>
              <a:t>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005082"/>
                </a:solidFill>
                <a:latin typeface="Arial"/>
              </a:defRPr>
            </a:pPr>
            <a:r>
              <a:t>Hemisphere-inverted</a:t>
            </a:r>
            <a:br/>
            <a:r>
              <a:t>(solar-driven)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B45000"/>
                </a:solidFill>
                <a:latin typeface="Arial"/>
              </a:defRPr>
            </a:pPr>
            <a:r>
              <a:t>Hemisphere-synchronous</a:t>
            </a:r>
            <a:br/>
            <a:r>
              <a:t>(geomagnetic)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1554480"/>
            <a:ext cx="1280160" cy="731520"/>
          </a:xfrm>
          <a:prstGeom prst="roundRect">
            <a:avLst/>
          </a:prstGeom>
          <a:solidFill>
            <a:srgbClr val="00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CRY1 →</a:t>
            </a:r>
            <a:br/>
            <a:r>
              <a:t>reprogramming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645920"/>
            <a:ext cx="1280160" cy="731520"/>
          </a:xfrm>
          <a:prstGeom prst="roundRect">
            <a:avLst/>
          </a:prstGeom>
          <a:solidFill>
            <a:srgbClr val="00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50Hz EMF →</a:t>
            </a:r>
            <a:br/>
            <a:r>
              <a:t>ES cell genes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834640"/>
            <a:ext cx="1280160" cy="731520"/>
          </a:xfrm>
          <a:prstGeom prst="roundRect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Humidity →</a:t>
            </a:r>
            <a:br/>
            <a:r>
              <a:t>contamination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926080"/>
            <a:ext cx="1280160" cy="731520"/>
          </a:xfrm>
          <a:prstGeom prst="roundRect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IVF summer</a:t>
            </a:r>
            <a:br/>
            <a:r>
              <a:t>advantage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2834640"/>
            <a:ext cx="1280160" cy="731520"/>
          </a:xfrm>
          <a:prstGeom prst="roundRect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VOC →</a:t>
            </a:r>
            <a:br/>
            <a:r>
              <a:t>embryo quality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017520"/>
            <a:ext cx="1280160" cy="731520"/>
          </a:xfrm>
          <a:prstGeom prst="roundRect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Cosmic ray →</a:t>
            </a:r>
            <a:br/>
            <a:r>
              <a:t>proliferation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45920" y="4114800"/>
            <a:ext cx="1280160" cy="731520"/>
          </a:xfrm>
          <a:prstGeom prst="roundRect">
            <a:avLst/>
          </a:prstGeom>
          <a:solidFill>
            <a:srgbClr val="C8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Barometric</a:t>
            </a:r>
            <a:br/>
            <a:r>
              <a:t>pressure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4206240"/>
            <a:ext cx="1280160" cy="731520"/>
          </a:xfrm>
          <a:prstGeom prst="roundRect">
            <a:avLst/>
          </a:prstGeom>
          <a:solidFill>
            <a:srgbClr val="C8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Melatonin →</a:t>
            </a:r>
            <a:br/>
            <a:r>
              <a:t>donor cells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4114800"/>
            <a:ext cx="1280160" cy="731520"/>
          </a:xfrm>
          <a:prstGeom prst="roundRect">
            <a:avLst/>
          </a:prstGeom>
          <a:solidFill>
            <a:srgbClr val="C8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Geomagnetic →</a:t>
            </a:r>
            <a:br/>
            <a:r>
              <a:t>CRY/NF-κB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731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5082"/>
                </a:solidFill>
                <a:latin typeface="Arial"/>
              </a:defRPr>
            </a:pPr>
            <a:r>
              <a:t>B  Three-Phase Investigation Strategy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280160"/>
            <a:ext cx="5029200" cy="320040"/>
          </a:xfrm>
          <a:prstGeom prst="rect">
            <a:avLst/>
          </a:prstGeom>
          <a:solidFill>
            <a:srgbClr val="00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Phase I: Passive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645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Deploy IoT environmental sensors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18745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Record: humidity, lux, EMF, pressure,</a:t>
            </a:r>
            <a:br/>
            <a:r>
              <a:t>VOC, vibration (1-min resolution)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103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Log differentiation outcomes in parallel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3317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Duration: ≥12 months (full seasonal cycle)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560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Cost: ~$5,000 per laboratory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971800"/>
            <a:ext cx="5029200" cy="320040"/>
          </a:xfrm>
          <a:prstGeom prst="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Phase II: Retrospective Mining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3375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IVF registries: HFEA, ANZARD, CDC 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5661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GEO/ArrayExpress: submission date × QC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7947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iPSC banks: RIKEN BRC, Coriell, EBiSC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Model: outcome ~ month + latitude + weather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4251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Purely computational — no wet lab needed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663440"/>
            <a:ext cx="5029200" cy="320040"/>
          </a:xfrm>
          <a:prstGeom prst="rect">
            <a:avLst/>
          </a:prstGeom>
          <a:solidFill>
            <a:srgbClr val="B4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Phase III: Controlled Intervention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029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Humidity-controlled vs standard incubators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Light-tight hoods vs standard BSC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486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Mu-metal EMF shielding around incubators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7150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Test each variable × seasonal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9436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000000"/>
                </a:solidFill>
                <a:latin typeface="Arial"/>
              </a:defRPr>
            </a:pPr>
            <a:r>
              <a:t>• Multi-center, cross-hemisphere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2880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46464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46464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00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3C3C3C"/>
                </a:solidFill>
                <a:latin typeface="Arial"/>
              </a:defRPr>
            </a:pPr>
            <a:r>
              <a:t>Figure 2. (A) Evidence matrix classifying environmental variables by hemisphere-dependence and evidence level. (B) Three-phase strategy from passive monitoring to controlled intervention.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