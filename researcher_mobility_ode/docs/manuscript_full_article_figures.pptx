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Quantifying the Point of No Return in Global AI/ML Research Communities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Data-driven manuscript figures and tables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1: Equilibrium T vs minimum viable threshold</a:t>
            </a:r>
          </a:p>
        </p:txBody>
      </p:sp>
      <p:pic>
        <p:nvPicPr>
          <p:cNvPr id="3" name="Picture 2" descr="fig1_equilibrium_mar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Blue bars: equilibrium T; orange bars: threshold M. All groups remain above the threshold, but margins vary widely.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2: Closest point-of-no-return proximity</a:t>
            </a:r>
          </a:p>
        </p:txBody>
      </p:sp>
      <p:pic>
        <p:nvPicPr>
          <p:cNvPr id="3" name="Picture 2" descr="fig2_pnr_proxim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08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Smaller values mean a smaller proportional change in the listed rate is required to reach the threshold for the stated target pool.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3: Historical counterfactual margin change</a:t>
            </a:r>
          </a:p>
        </p:txBody>
      </p:sp>
      <p:pic>
        <p:nvPicPr>
          <p:cNvPr id="3" name="Picture 2" descr="fig3_historical_mar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08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Positive values mean the late-window rates would produce a larger safety margin if they persisted.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4: Bootstrap 95% CI for equilibrium T</a:t>
            </a:r>
          </a:p>
        </p:txBody>
      </p:sp>
      <p:pic>
        <p:nvPicPr>
          <p:cNvPr id="3" name="Picture 2" descr="fig4_bootstrap_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08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Intervals are asymmetric and wide, reflecting model uncertainty.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1: Descriptive cohort statistics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950976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188720"/>
                <a:gridCol w="1188720"/>
                <a:gridCol w="1188720"/>
                <a:gridCol w="1188720"/>
                <a:gridCol w="1188720"/>
                <a:gridCol w="1188720"/>
                <a:gridCol w="118872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career_start_mean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abroad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2006.2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3840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2006.2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2011.5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2005.7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2008.2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3397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2007.3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2: Equilibrium and inflow parameters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1024128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280160"/>
                <a:gridCol w="1280160"/>
                <a:gridCol w="1280160"/>
                <a:gridCol w="1280160"/>
                <a:gridCol w="1280160"/>
                <a:gridCol w="1280160"/>
                <a:gridCol w="128016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T_eq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Margin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r_obs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r_crit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752.12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119.78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632.34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0.00239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0.11345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0.00478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1156.27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129.07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1027.20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0.00261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0.12276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0.00523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1497.37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66.04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1431.33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0.00106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0.11765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0.00213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892.42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126.52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765.89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0.00141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0.13072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0.00282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206.81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50.48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156.33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0.00993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0.13904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0.01985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424.70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104.60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320.10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0.00310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0.13072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0.00620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513.12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57.17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455.95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0.17647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0.00400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1783.64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112.34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1671.29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0.00140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0.12059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0.00281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801.70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132.49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669.21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0.00396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0.10504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0.00791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3: Top transition-rate elasticities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8961119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65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el1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el2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el3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-2.162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beta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beta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-2.051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-2.317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0.111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-2.125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-2.123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-2.126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4: Closest point of no return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987552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Current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Crit.factor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Proximity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1.1486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0.754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1.4202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0.756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2.8304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0.835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1.5548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0.841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1.1638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0.858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2.7634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0.888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0.8723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0.889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2.3837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0.937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1.5156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0.956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5: Saturating inflow extension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731520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Linear 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Saturating 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ε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752.12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411.20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0.01429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1156.27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632.67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0.00870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1497.37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781.23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0.01538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892.42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469.06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0.02222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206.81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129.35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0.01818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424.70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234.34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0.02222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513.12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270.32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0.04000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1783.64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940.82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0.01000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801.70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462.03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0.00714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6: Historical counterfactual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1280160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280160"/>
                <a:gridCol w="1280160"/>
                <a:gridCol w="1280160"/>
                <a:gridCol w="1280160"/>
                <a:gridCol w="1280160"/>
                <a:gridCol w="1280160"/>
                <a:gridCol w="1280160"/>
                <a:gridCol w="1280160"/>
                <a:gridCol w="128016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 early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 late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delta_T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ΔT (%)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M_early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M_late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Margin early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Margin late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Δ margin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699.2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250.1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-449.1613272646298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-64.2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119.77848101265822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119.77848101265822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579.5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-449.2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1053.7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791.3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-262.3671002430466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-24.9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129.0692124105012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129.0692124105012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924.6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662.2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-262.4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902.2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608.4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-293.7374997320797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-32.6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66.04072398190046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66.04072398190046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836.1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542.4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-293.7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185.5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1106.5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920.941045001848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496.4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126.52032520325204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126.52032520325204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979.9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920.9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184.3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235.3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51.038535768981774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27.7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50.47533632286996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50.47533632286996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51.0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164.4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673.8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509.3498486089304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309.8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104.59615384615384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104.59615384615384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59.8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569.2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509.3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304.0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-65.04525966570378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-21.4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57.16981132075472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57.16981132075472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246.9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181.8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-65.0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1392.6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936.4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-456.1706420459126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-32.8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112.34408602150538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112.34408602150538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1280.3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824.1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-456.2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806.7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547.3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-259.33121243301457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-32.1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132.49329758713137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132.49329758713137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674.2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414.8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-259.3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7: Top policy intervention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1097280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Lever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Direction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Change (%)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Margin gain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Gain per 10%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88.9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88.9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135.3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135.3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168.3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168.3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101.2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25.8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25.8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49.4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49.4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58.3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58.3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202.6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202.6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95.7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95.7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8: Bootstrap 95% CI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1005840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  <a:gridCol w="2011680"/>
                <a:gridCol w="201168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 median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 95% CI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P_D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P_D 95% CI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[260, 1595]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[207, 1517]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[727, 4966]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[605, 4866]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[1492, 1502]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[1366, 1446]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[883, 899]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[691, 851]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[96, 470]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[46, 402]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[189, 895]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[144, 848]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[506, 518]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[356, 473]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[842, 3659]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[756, 3586]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[428, 2620]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[343, 2542]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