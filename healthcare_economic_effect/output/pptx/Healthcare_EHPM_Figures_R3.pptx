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1. Demand-Side Fiscal Return and Health-Capital Lag Framework</a:t>
            </a:r>
          </a:p>
        </p:txBody>
      </p:sp>
      <p:pic>
        <p:nvPicPr>
          <p:cNvPr id="3" name="Picture 2" descr="fig4_dual_return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2. Healthcare I-O Output Multipliers</a:t>
            </a:r>
          </a:p>
        </p:txBody>
      </p:sp>
      <p:pic>
        <p:nvPicPr>
          <p:cNvPr id="3" name="Picture 2" descr="fig1_io_multipl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Note: US = Medicare only.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3. Fiscal Return Ratio</a:t>
            </a:r>
          </a:p>
        </p:txBody>
      </p:sp>
      <p:pic>
        <p:nvPicPr>
          <p:cNvPr id="3" name="Picture 2" descr="fig3_fiscal_sustain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4. Japan Fiscal Return Ratio Cascade</a:t>
            </a:r>
          </a:p>
        </p:txBody>
      </p:sp>
      <p:pic>
        <p:nvPicPr>
          <p:cNvPr id="3" name="Picture 2" descr="fig10_fiscal_return_casc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R3. Gross 1.09 -&gt; leakage 1.04 -&gt; deficit-adjusted 0.67 -&gt; value-added 0.60.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5. Three-Layer Tempo Analogy</a:t>
            </a:r>
          </a:p>
        </p:txBody>
      </p:sp>
      <p:pic>
        <p:nvPicPr>
          <p:cNvPr id="3" name="Picture 2" descr="fig5_three_layer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Healthcare: constant lag (M1) preferred; M2 not favoured by AIC/BIC.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6. CHE vs Life Expectancy</a:t>
            </a:r>
          </a:p>
        </p:txBody>
      </p:sp>
      <p:pic>
        <p:nvPicPr>
          <p:cNvPr id="3" name="Picture 2" descr="fig2_che_vs_lifeex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7. Equipment Density</a:t>
            </a:r>
          </a:p>
        </p:txBody>
      </p:sp>
      <p:pic>
        <p:nvPicPr>
          <p:cNvPr id="3" name="Picture 2" descr="fig6_equipment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8. Import Leakage vs Multiplier</a:t>
            </a:r>
          </a:p>
        </p:txBody>
      </p:sp>
      <p:pic>
        <p:nvPicPr>
          <p:cNvPr id="3" name="Picture 2" descr="fig7_import_leakage_multipl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9. Japan Counterfactual</a:t>
            </a:r>
          </a:p>
        </p:txBody>
      </p:sp>
      <p:pic>
        <p:nvPicPr>
          <p:cNvPr id="3" name="Picture 2" descr="fig8_counterfactual_jap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10. Equipment CHE Share Sensitivity</a:t>
            </a:r>
          </a:p>
        </p:txBody>
      </p:sp>
      <p:pic>
        <p:nvPicPr>
          <p:cNvPr id="3" name="Picture 2" descr="fig9_sensitivity_equip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Scenario A FR varies 0.94-1.02.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