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  <a:latin typeface="Times New Roman"/>
              </a:defRPr>
            </a:pPr>
            <a:r>
              <a:t>Impact of medical safety incidents on physician counts and healthcare facility numbers across 12 specialties in Japan: an interrupted time series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00528A"/>
                </a:solidFill>
                <a:latin typeface="Times New Roman"/>
              </a:defRPr>
            </a:pPr>
            <a:r>
              <a:t>Figures and Tables for BMJ Submission</a:t>
            </a:r>
          </a:p>
          <a:p>
            <a:pPr algn="ctr">
              <a:defRPr sz="1400">
                <a:solidFill>
                  <a:srgbClr val="888888"/>
                </a:solidFill>
                <a:latin typeface="Times New Roman"/>
              </a:defRPr>
            </a:pPr>
            <a:r>
              <a:t>[Author names to be added]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1. Trends in medical safety incident counts by specialty and definition</a:t>
            </a:r>
          </a:p>
        </p:txBody>
      </p:sp>
      <p:pic>
        <p:nvPicPr>
          <p:cNvPr id="3" name="Picture 2" descr="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8834" y="1097280"/>
            <a:ext cx="509402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Panel A: Mandatory reports to the Japan Medical Safety Research Organisation (JMSR, 2015-2025). Panel B: Medical litigation statistics from the Supreme Court of Japan (2004-2023). Top 5 specialties by incident count highlighted.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2. Interrupted time series: physician counts vs JMSR reports</a:t>
            </a:r>
          </a:p>
        </p:txBody>
      </p:sp>
      <p:pic>
        <p:nvPicPr>
          <p:cNvPr id="3" name="Picture 2" descr="its_physicians_de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12 core specialties. Vertical dashed lines indicate the intervention year (peak accident reporting year for each specialty).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3. Interrupted time series: physician counts vs litigation statistics</a:t>
            </a:r>
          </a:p>
        </p:txBody>
      </p:sp>
      <p:pic>
        <p:nvPicPr>
          <p:cNvPr id="3" name="Picture 2" descr="its_physicians_de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12 core specialties using Supreme Court litigation data (Definition 2). Vertical dashed lines indicate the intervention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4. Interrupted time series: facility counts vs JMSR reports</a:t>
            </a:r>
          </a:p>
        </p:txBody>
      </p:sp>
      <p:pic>
        <p:nvPicPr>
          <p:cNvPr id="3" name="Picture 2" descr="its_facilities_de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healthcare facility counts across 12 core specialties. Vertical dashed lines indicate the intervention year.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5. Heatmap of estimated lead times (years) from cross-correlation analysis</a:t>
            </a:r>
          </a:p>
        </p:txBody>
      </p:sp>
      <p:pic>
        <p:nvPicPr>
          <p:cNvPr id="3" name="Picture 2" descr="lead_tim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039" y="1097280"/>
            <a:ext cx="994361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Rows: specialties. Columns: accident definition * outcome combinations. Darker colour indicates stronger inverse correlation. Positive lag values indicate accident changes precede outcome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6. Projected physician counts by specialty (2025-2034)</a:t>
            </a:r>
          </a:p>
        </p:txBody>
      </p:sp>
      <p:pic>
        <p:nvPicPr>
          <p:cNvPr id="3" name="Picture 2" descr="forecast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961" y="1097280"/>
            <a:ext cx="451377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the most recent 10 years of data, with 95% prediction intervals.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7. Projected facility counts by specialty (2025-2034)</a:t>
            </a:r>
          </a:p>
        </p:txBody>
      </p:sp>
      <p:pic>
        <p:nvPicPr>
          <p:cNvPr id="3" name="Picture 2" descr="forecast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013" y="1097280"/>
            <a:ext cx="451566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the most recent 10 years of data, with 95% prediction intervals.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8. Projected trainee registrations by specialty (2025-2034)</a:t>
            </a:r>
          </a:p>
        </p:txBody>
      </p:sp>
      <p:pic>
        <p:nvPicPr>
          <p:cNvPr id="3" name="Picture 2" descr="forecast_trai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21" y="1097280"/>
            <a:ext cx="610185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available data (2018-2025), with 95% prediction intervals.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1. Strong inverse cross-correlations (|r| &gt; 0.9) after linear detrending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139696"/>
                <a:gridCol w="2139696"/>
                <a:gridCol w="2139696"/>
                <a:gridCol w="213969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Definition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Lag (years)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-0.946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Mixed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-0.947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-0.945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Anaesthesiology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Mixed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-0.959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-0.973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Dermatology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+7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-0.988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Orthopaedic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 (trainees)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Trainees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-0.909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 (trainees)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Trainees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-0.941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Psychiatry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-0.981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Dermatology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-0.969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Cross-correlation of linearly detrended accident and outcome series at lags -8 to +8 years. Positive lag = accident change precedes outcome change.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2. Statistically significant (P&lt;0.05) accident effect coefficients from ITS segmented regression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79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1711756"/>
                <a:gridCol w="1711756"/>
                <a:gridCol w="1711756"/>
                <a:gridCol w="1711756"/>
                <a:gridCol w="171175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Definition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Accident effect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 value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+19.3/case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+17.7/report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0.021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+11.6/case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+4.3/report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0.042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+5.5/case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Ophthalmology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+4.1/report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0.039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Plastic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+4.1/case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0.005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Note: Positive coefficients reflect shared secular trends between accident counts and outcomes. See Discussion for interpretation.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3. Summary of lead time and window period estimates by outcome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139696"/>
                <a:gridCol w="2139696"/>
                <a:gridCol w="2139696"/>
                <a:gridCol w="213969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 lead time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 lead time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 window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 window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 counts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1.3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Facility counts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-0.1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5.0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Lead time: delay from accident change to outcome change. Window period: duration of effect estimated by AIC-based model selection.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4. Projected annual workforce changes by specialty (2025-2034)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852928"/>
                <a:gridCol w="2852928"/>
                <a:gridCol w="285292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Physicians/yr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Facilities/yr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Trainees/yr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-350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+111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-65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Internal Medicine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Paediatrics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+206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-188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Orthopaedic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Anaesthesiology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+186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+72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-5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Emergency Medicine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+20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from the most recent 10 years of available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