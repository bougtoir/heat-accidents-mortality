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/>
              <a:t>Fig. 1. PIM stock K_tang+betaK_I versus CWON PCA (within-country demeaned log).</a:t>
            </a:r>
          </a:p>
        </p:txBody>
      </p:sp>
      <p:pic>
        <p:nvPicPr>
          <p:cNvPr id="3" name="Picture 2" descr="fig3_trajectories_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005840"/>
            <a:ext cx="9418320" cy="51206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65760" y="626364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444444"/>
                </a:solidFill>
              </a:rPr>
              <a:t>PIM stock K_tang+betaK_I versus CWON PCA (within-country demeaned log).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/>
              <a:t>Fig. 2. In-sample 1-year GDP growth RMSE across M0-M4 for 39 countries (lower is better).</a:t>
            </a:r>
          </a:p>
        </p:txBody>
      </p:sp>
      <p:pic>
        <p:nvPicPr>
          <p:cNvPr id="3" name="Picture 2" descr="fig1_m_ranking_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005840"/>
            <a:ext cx="9418320" cy="51206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65760" y="626364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444444"/>
                </a:solidFill>
              </a:rPr>
              <a:t>In-sample 1-year GDP growth RMSE across M0-M4 for 39 countries (lower is better).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/>
              <a:t>Fig. 3. Out-of-sample MAPE on 2015-19 held-out window; M2 achieves 13% relative improvement vs M0.</a:t>
            </a:r>
          </a:p>
        </p:txBody>
      </p:sp>
      <p:pic>
        <p:nvPicPr>
          <p:cNvPr id="3" name="Picture 2" descr="fig2_oos_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005840"/>
            <a:ext cx="9418320" cy="51206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65760" y="626364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444444"/>
                </a:solidFill>
              </a:rPr>
              <a:t>Out-of-sample MAPE on 2015-19 held-out window; M2 achieves 13% relative improvement vs M0.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/>
              <a:t>Fig. 4. gamma_price sensitivity of PIM/CWON log-ratio; Japan gap closes around gamma=+0.02.</a:t>
            </a:r>
          </a:p>
        </p:txBody>
      </p:sp>
      <p:pic>
        <p:nvPicPr>
          <p:cNvPr id="3" name="Picture 2" descr="fig4_gamma_price_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005840"/>
            <a:ext cx="9418320" cy="51206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65760" y="626364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444444"/>
                </a:solidFill>
              </a:rPr>
              <a:t>gamma_price sensitivity of PIM/CWON log-ratio; Japan gap closes around gamma=+0.02.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/>
              <a:t>Fig. 5. Conceptual diagram of the population-capital tempo correspondence.</a:t>
            </a:r>
          </a:p>
        </p:txBody>
      </p:sp>
      <p:pic>
        <p:nvPicPr>
          <p:cNvPr id="3" name="Picture 2" descr="fig5_concept_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005840"/>
            <a:ext cx="9418320" cy="51206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65760" y="626364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444444"/>
                </a:solidFill>
              </a:rPr>
              <a:t>Conceptual diagram of the population-capital tempo correspondence.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/>
              <a:t>Fig. 6. Relational PIM diagnostics: rho_2 across 39 countries under M0 vs M4.</a:t>
            </a:r>
          </a:p>
        </p:txBody>
      </p:sp>
      <p:pic>
        <p:nvPicPr>
          <p:cNvPr id="3" name="Picture 2" descr="fig6_rpim_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005840"/>
            <a:ext cx="9418320" cy="51206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65760" y="626364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444444"/>
                </a:solidFill>
              </a:rPr>
              <a:t>Relational PIM diagnostics: rho_2 across 39 countries under M0 vs M4.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/>
              <a:t>Fig. 7. Delta-mu sensitivity: mu_hat under +/-20% depreciation perturbation.</a:t>
            </a:r>
          </a:p>
        </p:txBody>
      </p:sp>
      <p:pic>
        <p:nvPicPr>
          <p:cNvPr id="3" name="Picture 2" descr="fig7_delta_sensitivity_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005840"/>
            <a:ext cx="9418320" cy="51206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65760" y="626364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444444"/>
                </a:solidFill>
              </a:rPr>
              <a:t>Delta-mu sensitivity: mu_hat under +/-20% depreciation perturbation.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/>
              <a:t>Fig. 8. Conditional OOS evaluation: interior-solution vs boundary countries.</a:t>
            </a:r>
          </a:p>
        </p:txBody>
      </p:sp>
      <p:pic>
        <p:nvPicPr>
          <p:cNvPr id="3" name="Picture 2" descr="fig8_conditional_oos_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005840"/>
            <a:ext cx="9418320" cy="51206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65760" y="626364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444444"/>
                </a:solidFill>
              </a:rPr>
              <a:t>Conditional OOS evaluation: interior-solution vs boundary countries.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/>
              <a:t>Fig. 9. Cross-sectional regression of rho_2 on R&amp;D intensity.</a:t>
            </a:r>
          </a:p>
        </p:txBody>
      </p:sp>
      <p:pic>
        <p:nvPicPr>
          <p:cNvPr id="3" name="Picture 2" descr="fig9_rho2_regression_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005840"/>
            <a:ext cx="9418320" cy="51206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65760" y="626364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444444"/>
                </a:solidFill>
              </a:rPr>
              <a:t>Cross-sectional regression of rho_2 on R&amp;D intensity.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/>
              <a:t>Fig. 10. Solow-residual decomposition: M0 vs tempo-adjusted (M2) vs joint (M4) for six representative countries.</a:t>
            </a:r>
          </a:p>
        </p:txBody>
      </p:sp>
      <p:pic>
        <p:nvPicPr>
          <p:cNvPr id="3" name="Picture 2" descr="fig10_solow_decomp_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005840"/>
            <a:ext cx="9418320" cy="51206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65760" y="626364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444444"/>
                </a:solidFill>
              </a:rPr>
              <a:t>Solow-residual decomposition: M0 vs tempo-adjusted (M2) vs joint (M4) for six representative countries.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82880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/>
              <a:t>Fig. 11. National wealth: CWON official vs intangible-adjusted produced capital (2019).</a:t>
            </a:r>
          </a:p>
        </p:txBody>
      </p:sp>
      <p:pic>
        <p:nvPicPr>
          <p:cNvPr id="3" name="Picture 2" descr="fig11_counterfactual_wealth_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005840"/>
            <a:ext cx="9418320" cy="51206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65760" y="626364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444444"/>
                </a:solidFill>
              </a:rPr>
              <a:t>National wealth: CWON official vs intangible-adjusted produced capital (2019).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