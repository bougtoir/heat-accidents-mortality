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/>
            </a:pPr>
            <a:r>
              <a:t>Fig. 1  Hydropower Output vs Pumping Requirement</a:t>
            </a:r>
          </a:p>
        </p:txBody>
      </p:sp>
      <p:pic>
        <p:nvPicPr>
          <p:cNvPr id="3" name="Picture 2" descr="fig1_energy_balance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2702" y="914400"/>
            <a:ext cx="652629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/>
            </a:pPr>
            <a:r>
              <a:t>Blue dashed line: pumping power = 3.7 MW. Area above the line is energy-positive.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/>
            </a:pPr>
            <a:r>
              <a:t>Fig. 2  Aquifer Storage from Pre-Flood Drawdown</a:t>
            </a:r>
          </a:p>
        </p:txBody>
      </p:sp>
      <p:pic>
        <p:nvPicPr>
          <p:cNvPr id="3" name="Picture 2" descr="fig2_aquifer_storage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7788" y="914400"/>
            <a:ext cx="8096119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/>
            </a:pPr>
            <a:r>
              <a:t>Red dashed line: 2018 flood volume (15.3 x 10^6 m3). Percentages show fraction of flood volume absorbable.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/>
            </a:pPr>
            <a:r>
              <a:t>Fig. 3  Flood Hydrograph Comparison (Oda River Basin)</a:t>
            </a:r>
          </a:p>
        </p:txBody>
      </p:sp>
      <p:pic>
        <p:nvPicPr>
          <p:cNvPr id="3" name="Picture 2" descr="fig3_hydrograph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0104" y="914400"/>
            <a:ext cx="6311486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/>
            </a:pPr>
            <a:r>
              <a:t>Upper: rainfall intensity. Lower: discharge. Scenarios 1-4 as described in text.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/>
            </a:pPr>
            <a:r>
              <a:t>Fig. 4  Flood Control Effectiveness by Scenario</a:t>
            </a:r>
          </a:p>
        </p:txBody>
      </p:sp>
      <p:pic>
        <p:nvPicPr>
          <p:cNvPr id="3" name="Picture 2" descr="fig4_scenario_comparison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7" y="914400"/>
            <a:ext cx="10058400" cy="43610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/>
            </a:pPr>
            <a:r>
              <a:t>(a) Peak discharge, (b) Total runoff volume. Percentages show reduction from no-action baseline.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