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lgn="ctr"/>
            <a:r>
              <a:rPr sz="2000" b="1"/>
              <a:t>Fig. 1</a:t>
            </a:r>
          </a:p>
        </p:txBody>
      </p:sp>
      <p:pic>
        <p:nvPicPr>
          <p:cNvPr id="3" name="Picture 2" descr="fig1_price_timeseries.png"/>
          <p:cNvPicPr>
            <a:picLocks noChangeAspect="1"/>
          </p:cNvPicPr>
          <p:nvPr/>
        </p:nvPicPr>
        <p:blipFill>
          <a:blip r:embed="rId2"/>
          <a:stretch>
            <a:fillRect/>
          </a:stretch>
        </p:blipFill>
        <p:spPr>
          <a:xfrm>
            <a:off x="1523847" y="822960"/>
            <a:ext cx="9144000" cy="5029200"/>
          </a:xfrm>
          <a:prstGeom prst="rect">
            <a:avLst/>
          </a:prstGeom>
        </p:spPr>
      </p:pic>
      <p:sp>
        <p:nvSpPr>
          <p:cNvPr id="4" name="TextBox 3"/>
          <p:cNvSpPr txBox="1"/>
          <p:nvPr/>
        </p:nvSpPr>
        <p:spPr>
          <a:xfrm>
            <a:off x="457200" y="6035040"/>
            <a:ext cx="11247120" cy="731520"/>
          </a:xfrm>
          <a:prstGeom prst="rect">
            <a:avLst/>
          </a:prstGeom>
          <a:noFill/>
        </p:spPr>
        <p:txBody>
          <a:bodyPr wrap="square">
            <a:spAutoFit/>
          </a:bodyPr>
          <a:lstStyle/>
          <a:p>
            <a:pPr algn="l"/>
            <a:r>
              <a:rPr sz="1100" i="1"/>
              <a:t>Fig. 1. Time series of eBay completed sale prices for desflurane (red), sevoflurane (blue) and isoflurane (green) vaporisers over three years (March 2023 to March 2026). Vertical dashed lines indicate key EU regulatory milestones. Curved lines represent LOWESS trend estimates (fraction = 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lgn="ctr"/>
            <a:r>
              <a:rPr sz="2000" b="1"/>
              <a:t>Fig. 2</a:t>
            </a:r>
          </a:p>
        </p:txBody>
      </p:sp>
      <p:pic>
        <p:nvPicPr>
          <p:cNvPr id="3" name="Picture 2" descr="fig2_boxplot_comparison.png"/>
          <p:cNvPicPr>
            <a:picLocks noChangeAspect="1"/>
          </p:cNvPicPr>
          <p:nvPr/>
        </p:nvPicPr>
        <p:blipFill>
          <a:blip r:embed="rId2"/>
          <a:stretch>
            <a:fillRect/>
          </a:stretch>
        </p:blipFill>
        <p:spPr>
          <a:xfrm>
            <a:off x="1523847" y="822960"/>
            <a:ext cx="9144000" cy="5029200"/>
          </a:xfrm>
          <a:prstGeom prst="rect">
            <a:avLst/>
          </a:prstGeom>
        </p:spPr>
      </p:pic>
      <p:sp>
        <p:nvSpPr>
          <p:cNvPr id="4" name="TextBox 3"/>
          <p:cNvSpPr txBox="1"/>
          <p:nvPr/>
        </p:nvSpPr>
        <p:spPr>
          <a:xfrm>
            <a:off x="457200" y="6035040"/>
            <a:ext cx="11247120" cy="731520"/>
          </a:xfrm>
          <a:prstGeom prst="rect">
            <a:avLst/>
          </a:prstGeom>
          <a:noFill/>
        </p:spPr>
        <p:txBody>
          <a:bodyPr wrap="square">
            <a:spAutoFit/>
          </a:bodyPr>
          <a:lstStyle/>
          <a:p>
            <a:pPr algn="l"/>
            <a:r>
              <a:rPr sz="1100" i="1"/>
              <a:t>Fig. 2. Box plot comparison of vaporiser prices before and after the EU desflurane ban (1 January 2026). Individual data points are shown as jittered dots.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lgn="ctr"/>
            <a:r>
              <a:rPr sz="2000" b="1"/>
              <a:t>Fig. 3</a:t>
            </a:r>
          </a:p>
        </p:txBody>
      </p:sp>
      <p:pic>
        <p:nvPicPr>
          <p:cNvPr id="3" name="Picture 2" descr="fig3_monthly_median.png"/>
          <p:cNvPicPr>
            <a:picLocks noChangeAspect="1"/>
          </p:cNvPicPr>
          <p:nvPr/>
        </p:nvPicPr>
        <p:blipFill>
          <a:blip r:embed="rId2"/>
          <a:stretch>
            <a:fillRect/>
          </a:stretch>
        </p:blipFill>
        <p:spPr>
          <a:xfrm>
            <a:off x="1523847" y="822960"/>
            <a:ext cx="9144000" cy="5029200"/>
          </a:xfrm>
          <a:prstGeom prst="rect">
            <a:avLst/>
          </a:prstGeom>
        </p:spPr>
      </p:pic>
      <p:sp>
        <p:nvSpPr>
          <p:cNvPr id="4" name="TextBox 3"/>
          <p:cNvSpPr txBox="1"/>
          <p:nvPr/>
        </p:nvSpPr>
        <p:spPr>
          <a:xfrm>
            <a:off x="457200" y="6035040"/>
            <a:ext cx="11247120" cy="731520"/>
          </a:xfrm>
          <a:prstGeom prst="rect">
            <a:avLst/>
          </a:prstGeom>
          <a:noFill/>
        </p:spPr>
        <p:txBody>
          <a:bodyPr wrap="square">
            <a:spAutoFit/>
          </a:bodyPr>
          <a:lstStyle/>
          <a:p>
            <a:pPr algn="l"/>
            <a:r>
              <a:rPr sz="1100" i="1"/>
              <a:t>Fig. 3. Monthly median prices of anaesthetic vaporisers on eBay. Annotations indicate the number of transactions per month (n).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lgn="ctr"/>
            <a:r>
              <a:rPr sz="2000" b="1"/>
              <a:t>Fig. 4</a:t>
            </a:r>
          </a:p>
        </p:txBody>
      </p:sp>
      <p:pic>
        <p:nvPicPr>
          <p:cNvPr id="3" name="Picture 2" descr="fig4_histograms.png"/>
          <p:cNvPicPr>
            <a:picLocks noChangeAspect="1"/>
          </p:cNvPicPr>
          <p:nvPr/>
        </p:nvPicPr>
        <p:blipFill>
          <a:blip r:embed="rId2"/>
          <a:stretch>
            <a:fillRect/>
          </a:stretch>
        </p:blipFill>
        <p:spPr>
          <a:xfrm>
            <a:off x="1523847" y="822960"/>
            <a:ext cx="9144000" cy="5029200"/>
          </a:xfrm>
          <a:prstGeom prst="rect">
            <a:avLst/>
          </a:prstGeom>
        </p:spPr>
      </p:pic>
      <p:sp>
        <p:nvSpPr>
          <p:cNvPr id="4" name="TextBox 3"/>
          <p:cNvSpPr txBox="1"/>
          <p:nvPr/>
        </p:nvSpPr>
        <p:spPr>
          <a:xfrm>
            <a:off x="457200" y="6035040"/>
            <a:ext cx="11247120" cy="731520"/>
          </a:xfrm>
          <a:prstGeom prst="rect">
            <a:avLst/>
          </a:prstGeom>
          <a:noFill/>
        </p:spPr>
        <p:txBody>
          <a:bodyPr wrap="square">
            <a:spAutoFit/>
          </a:bodyPr>
          <a:lstStyle/>
          <a:p>
            <a:pPr algn="l"/>
            <a:r>
              <a:rPr sz="1100" i="1"/>
              <a:t>Fig. 4. Price distribution histograms for each vaporiser type, comparing pre-ban (solid fill) and post-ban (hatched) periods.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lgn="ctr"/>
            <a:r>
              <a:rPr sz="2000" b="1"/>
              <a:t>Fig. 5</a:t>
            </a:r>
          </a:p>
        </p:txBody>
      </p:sp>
      <p:pic>
        <p:nvPicPr>
          <p:cNvPr id="3" name="Picture 2" descr="fig5_regulatory_timeline.png"/>
          <p:cNvPicPr>
            <a:picLocks noChangeAspect="1"/>
          </p:cNvPicPr>
          <p:nvPr/>
        </p:nvPicPr>
        <p:blipFill>
          <a:blip r:embed="rId2"/>
          <a:stretch>
            <a:fillRect/>
          </a:stretch>
        </p:blipFill>
        <p:spPr>
          <a:xfrm>
            <a:off x="1523847" y="822960"/>
            <a:ext cx="9144000" cy="5029200"/>
          </a:xfrm>
          <a:prstGeom prst="rect">
            <a:avLst/>
          </a:prstGeom>
        </p:spPr>
      </p:pic>
      <p:sp>
        <p:nvSpPr>
          <p:cNvPr id="4" name="TextBox 3"/>
          <p:cNvSpPr txBox="1"/>
          <p:nvPr/>
        </p:nvSpPr>
        <p:spPr>
          <a:xfrm>
            <a:off x="457200" y="6035040"/>
            <a:ext cx="11247120" cy="731520"/>
          </a:xfrm>
          <a:prstGeom prst="rect">
            <a:avLst/>
          </a:prstGeom>
          <a:noFill/>
        </p:spPr>
        <p:txBody>
          <a:bodyPr wrap="square">
            <a:spAutoFit/>
          </a:bodyPr>
          <a:lstStyle/>
          <a:p>
            <a:pPr algn="l"/>
            <a:r>
              <a:rPr sz="1100" i="1"/>
              <a:t>Fig. 5. Anaesthetic vaporiser prices mapped against the EU regulatory timeline. Shaded regions indicate regulatory phases.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lgn="ctr"/>
            <a:r>
              <a:rPr sz="2000" b="1"/>
              <a:t>Fig. 6</a:t>
            </a:r>
          </a:p>
        </p:txBody>
      </p:sp>
      <p:pic>
        <p:nvPicPr>
          <p:cNvPr id="3" name="Picture 2" descr="fig6_quarterly_trends.png"/>
          <p:cNvPicPr>
            <a:picLocks noChangeAspect="1"/>
          </p:cNvPicPr>
          <p:nvPr/>
        </p:nvPicPr>
        <p:blipFill>
          <a:blip r:embed="rId2"/>
          <a:stretch>
            <a:fillRect/>
          </a:stretch>
        </p:blipFill>
        <p:spPr>
          <a:xfrm>
            <a:off x="1523847" y="822960"/>
            <a:ext cx="9144000" cy="5029200"/>
          </a:xfrm>
          <a:prstGeom prst="rect">
            <a:avLst/>
          </a:prstGeom>
        </p:spPr>
      </p:pic>
      <p:sp>
        <p:nvSpPr>
          <p:cNvPr id="4" name="TextBox 3"/>
          <p:cNvSpPr txBox="1"/>
          <p:nvPr/>
        </p:nvSpPr>
        <p:spPr>
          <a:xfrm>
            <a:off x="457200" y="6035040"/>
            <a:ext cx="11247120" cy="731520"/>
          </a:xfrm>
          <a:prstGeom prst="rect">
            <a:avLst/>
          </a:prstGeom>
          <a:noFill/>
        </p:spPr>
        <p:txBody>
          <a:bodyPr wrap="square">
            <a:spAutoFit/>
          </a:bodyPr>
          <a:lstStyle/>
          <a:p>
            <a:pPr algn="l"/>
            <a:r>
              <a:rPr sz="1100" i="1"/>
              <a:t>Fig. 6. Quarterly median price trends (upper panel) and sales volume (lower panel).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