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1</a:t>
            </a:r>
          </a:p>
        </p:txBody>
      </p:sp>
      <p:pic>
        <p:nvPicPr>
          <p:cNvPr id="3" name="Picture 2" descr="fig1_sharing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737" y="777240"/>
            <a:ext cx="10846044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Archaic-segment profile similarity and geographic distance. Each point is a dependent population pair. Lines are descriptive distance-only fits; reported P values use population-label quadratic assignment permutations.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2</a:t>
            </a:r>
          </a:p>
        </p:txBody>
      </p:sp>
      <p:pic>
        <p:nvPicPr>
          <p:cNvPr id="3" name="Picture 2" descr="fig2_sharin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816" y="777240"/>
            <a:ext cx="10107887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Pairwise archaic-segment profile similarity for 31 prespecified populations. The subset is displayed for legibility; all 66 populations were analyzed.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3</a:t>
            </a:r>
          </a:p>
        </p:txBody>
      </p:sp>
      <p:pic>
        <p:nvPicPr>
          <p:cNvPr id="3" name="Picture 2" descr="fig3_minard_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917" y="777240"/>
            <a:ext cx="9971685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Polygon-based Minard-style schematic of human dispersal and archaic introgression. Band widths, branch positions, and event placement are illustrative and do not estimate migration magnitude, ancestry proportion, or a route supported by the present analysis.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4</a:t>
            </a:r>
          </a:p>
        </p:txBody>
      </p:sp>
      <p:pic>
        <p:nvPicPr>
          <p:cNvPr id="3" name="Picture 2" descr="fig4_sensitivity_adm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192" y="777240"/>
            <a:ext cx="7433135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Descriptive distance correlations across population, sample-size, dataset, zero-distance, and leave-one-continent-out sensitivities.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5</a:t>
            </a:r>
          </a:p>
        </p:txBody>
      </p:sp>
      <p:pic>
        <p:nvPicPr>
          <p:cNvPr id="3" name="Picture 2" descr="fig5_abo_sub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872" y="777240"/>
            <a:ext cx="10215775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Secondary ABO-centered analysis. Closest-reference counts retain tied maxima. The Pima segment overlaps ABO; the Maya segment is within the wider interval but does not overlap the gene. Counts are segments, not regional frequencies.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6</a:t>
            </a:r>
          </a:p>
        </p:txBody>
      </p:sp>
      <p:pic>
        <p:nvPicPr>
          <p:cNvPr id="3" name="Picture 2" descr="fig6_o2_int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95" y="777240"/>
            <a:ext cx="9921128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O2-defining allele frequencies and ABO-window segment-carrier frequencies. The panels use different sources and are not an association analysis; proximity does not establish that the O2 allele is Neanderthal-derived.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7</a:t>
            </a:r>
          </a:p>
        </p:txBody>
      </p:sp>
      <p:pic>
        <p:nvPicPr>
          <p:cNvPr id="3" name="Picture 2" descr="fig7_ane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523" y="777240"/>
            <a:ext cx="9284473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Ancient North Eurasian contextual hypothesis. Dashed arrows represent a testable narrative, not evidence that either observed segment followed the illustrated route.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8</a:t>
            </a:r>
          </a:p>
        </p:txBody>
      </p:sp>
      <p:pic>
        <p:nvPicPr>
          <p:cNvPr id="3" name="Picture 2" descr="fig8_temporal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860" y="777240"/>
            <a:ext cx="9837799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Descriptive ancient and modern ABO-window summaries generated by different pipelines; no formal temporal comparison is made.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9</a:t>
            </a:r>
          </a:p>
        </p:txBody>
      </p:sp>
      <p:pic>
        <p:nvPicPr>
          <p:cNvPr id="3" name="Picture 2" descr="fig9_bivariate_world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376" y="777239"/>
            <a:ext cx="8530766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Literature-derived global context. Circle size represents approximate Neanderthal ancestry and color intensity represents approximate Denisovan ancestry. Values were not used in the pairwise statistical models.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S1</a:t>
            </a:r>
          </a:p>
        </p:txBody>
      </p:sp>
      <p:pic>
        <p:nvPicPr>
          <p:cNvPr id="3" name="Picture 2" descr="figS1_full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816" y="777240"/>
            <a:ext cx="10107887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Complete 66-population Neanderthal and Denisovan profile-similarity matrices.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S2</a:t>
            </a:r>
          </a:p>
        </p:txBody>
      </p:sp>
      <p:pic>
        <p:nvPicPr>
          <p:cNvPr id="3" name="Picture 2" descr="figS2_window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856" y="777240"/>
            <a:ext cx="8095806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Descriptive geographic distance correlations at 250-kb, 500-kb, and 1-Mb window sizes; QAP results are tabulated in Supplementary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Table 1. Dependence-aware geographic-distance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914400"/>
          <a:ext cx="11338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  <a:gridCol w="2834640"/>
              </a:tblGrid>
              <a:tr h="502920"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Neanderthal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Denisovan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Interpretation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Populations / unique 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66 / 2,145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66 / 2,145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Same pair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Raw sharing-distance 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-0.4971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-0.4617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Descriptive pairwise correlation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Expanded-model partial 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-0.3687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-0.3259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Distance after coarse sensitivity covariates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Distance-only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0.2471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0.2131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Descriptive matrix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Expanded descriptive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0.5461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0.5113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Not an independent-pair causal estimate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QAP distance coefficient / 1,000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-0.01892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-0.01918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Expanded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QAP two-sided 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9,999 population-label permutations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Population-deletion interval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-0.02143 to -0.01770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-0.02112 to -0.01775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2.5th-97.5th percentile sensitivity interval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FDR q&lt;0.10 and positive z&gt;2 outliers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All non-admixed pairs tested within ancestry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Note. R-squared and correlation values are descriptive. QAP tests permute population labels on the response matrix. Population-deletion intervals are sensitivity summaries, not independent-sample confidence intervals.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Table 2. ABO-window Neanderthal-reference composition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914400"/>
          <a:ext cx="11338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794"/>
                <a:gridCol w="1619794"/>
                <a:gridCol w="1619794"/>
                <a:gridCol w="1619794"/>
                <a:gridCol w="1619794"/>
                <a:gridCol w="1619794"/>
                <a:gridCol w="1619796"/>
              </a:tblGrid>
              <a:tr h="628650"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Group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Segments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Vindija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Altai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Chagyrskaya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Tie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Strict ABO overlap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Europe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32.7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29.1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Middle East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39.0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27.1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Central/South Asia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East Asia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17.4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Oceania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Admixed Americas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Indigenous Americas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Note. Counts are segments, not individuals. Equal maximum similarity counts are reported as ties. The Indigenous American row contains two segments, only one of which overlaps ABO.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