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Singleton</c:v>
                </c:pt>
              </c:strCache>
            </c:strRef>
          </c:tx>
          <c:spPr>
            <a:solidFill>
              <a:srgbClr val="4C72B0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(any phase)</c:v>
                </c:pt>
                <c:pt idx="1">
                  <c:v>Broad: Secondary
(before delivery)</c:v>
                </c:pt>
                <c:pt idx="2">
                  <c:v>Narrow: Primary
(5-HT3, any phase)</c:v>
                </c:pt>
                <c:pt idx="3">
                  <c:v>Narrow: Secondary
(5-HT3 + before delivery)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17.70906535488405</c:v>
                </c:pt>
                <c:pt idx="1">
                  <c:v>1.8973998594518624</c:v>
                </c:pt>
                <c:pt idx="2">
                  <c:v>0.8784258608573436</c:v>
                </c:pt>
                <c:pt idx="3">
                  <c:v>0.21082220660576245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Twin</c:v>
                </c:pt>
              </c:strCache>
            </c:strRef>
          </c:tx>
          <c:spPr>
            <a:solidFill>
              <a:srgbClr val="DD8452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(any phase)</c:v>
                </c:pt>
                <c:pt idx="1">
                  <c:v>Broad: Secondary
(before delivery)</c:v>
                </c:pt>
                <c:pt idx="2">
                  <c:v>Narrow: Primary
(5-HT3, any phase)</c:v>
                </c:pt>
                <c:pt idx="3">
                  <c:v>Narrow: Secondary
(5-HT3 + before delivery)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16.95906432748538</c:v>
                </c:pt>
                <c:pt idx="1">
                  <c:v>1.461988304093567</c:v>
                </c:pt>
                <c:pt idx="2">
                  <c:v>2.3391812865497075</c:v>
                </c:pt>
                <c:pt idx="3">
                  <c:v>0.8771929824561403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Rate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Singleton</c:v>
                </c:pt>
              </c:strCache>
            </c:strRef>
          </c:tx>
          <c:spPr>
            <a:solidFill>
              <a:srgbClr val="4C72B0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(any phase)</c:v>
                </c:pt>
                <c:pt idx="1">
                  <c:v>Broad: Secondary
(before delivery)</c:v>
                </c:pt>
                <c:pt idx="2">
                  <c:v>Narrow: Primary
(5-HT3, any phase)</c:v>
                </c:pt>
                <c:pt idx="3">
                  <c:v>Narrow: Secondary
(5-HT3 + before delivery)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21.920668058455114</c:v>
                </c:pt>
                <c:pt idx="1">
                  <c:v>2.9227557411273484</c:v>
                </c:pt>
                <c:pt idx="2">
                  <c:v>0.41753653444676403</c:v>
                </c:pt>
                <c:pt idx="3">
                  <c:v>0.20876826722338201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Twin</c:v>
                </c:pt>
              </c:strCache>
            </c:strRef>
          </c:tx>
          <c:spPr>
            <a:solidFill>
              <a:srgbClr val="DD8452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(any phase)</c:v>
                </c:pt>
                <c:pt idx="1">
                  <c:v>Broad: Secondary
(before delivery)</c:v>
                </c:pt>
                <c:pt idx="2">
                  <c:v>Narrow: Primary
(5-HT3, any phase)</c:v>
                </c:pt>
                <c:pt idx="3">
                  <c:v>Narrow: Secondary
(5-HT3 + before delivery)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14.673913043478262</c:v>
                </c:pt>
                <c:pt idx="1">
                  <c:v>2.1739130434782608</c:v>
                </c:pt>
                <c:pt idx="2">
                  <c:v>3.260869565217391</c:v>
                </c:pt>
                <c:pt idx="3">
                  <c:v>1.6304347826086956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Rate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1. STROBE Flow Diagram — Participant Selection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00200" y="731520"/>
            <a:ext cx="4114800" cy="7772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Cesarean deliveries assessed for eligibility</a:t>
            </a:r>
          </a:p>
          <a:p>
            <a:pPr algn="ctr"/>
            <a:r>
              <a:rPr sz="800">
                <a:solidFill>
                  <a:srgbClr val="000000"/>
                </a:solidFill>
              </a:rPr>
              <a:t>(Apr 2014 – Oct 2024)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3,479  (Singleton 3,113  /  Twin 366)</a:t>
            </a:r>
          </a:p>
        </p:txBody>
      </p:sp>
      <p:sp>
        <p:nvSpPr>
          <p:cNvPr id="4" name="Down Arrow 3"/>
          <p:cNvSpPr/>
          <p:nvPr/>
        </p:nvSpPr>
        <p:spPr>
          <a:xfrm>
            <a:off x="3566160" y="150876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5715000" y="1572768"/>
            <a:ext cx="13716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0" y="960120"/>
            <a:ext cx="3200400" cy="1682496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Excluded  (n = 236)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General anesthesia: n=6 (S 4, T 2)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SBP &lt; 90 mmHg at admission: n=4 (S 3, T 1)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Intrauterine fetal death (IUFD): n=13 (S 4, T 9)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Vanishing twin: n=3 (S 0, T 3)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Triplet pregnancy: n=5 (S 5, T 0)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Other exclusion criteria: n=147 (S 143, T 4)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Missing anesthesia data: n=58 (S 57, T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1965960"/>
            <a:ext cx="4114800" cy="594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Eligible for analysis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3,243  (Singleton 2,897  /  Twin 346)</a:t>
            </a:r>
          </a:p>
        </p:txBody>
      </p:sp>
      <p:sp>
        <p:nvSpPr>
          <p:cNvPr id="8" name="Down Arrow 7"/>
          <p:cNvSpPr/>
          <p:nvPr/>
        </p:nvSpPr>
        <p:spPr>
          <a:xfrm>
            <a:off x="3566160" y="2560320"/>
            <a:ext cx="182880" cy="22860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715000" y="2596896"/>
            <a:ext cx="13716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86600" y="2514600"/>
            <a:ext cx="3200400" cy="5029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Prophylactic antiemetic before anesthesia</a:t>
            </a:r>
          </a:p>
          <a:p>
            <a:pPr algn="ctr"/>
            <a:r>
              <a:rPr sz="800">
                <a:solidFill>
                  <a:srgbClr val="000000"/>
                </a:solidFill>
              </a:rPr>
              <a:t>n = 55  (S 51, T 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2926080"/>
            <a:ext cx="4114800" cy="5943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Primary analysis cohort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3,188  (Singleton 2,846  /  Twin 342)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468880" y="352044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3794760"/>
            <a:ext cx="201168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Singleton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2,846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663440" y="352044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3794760"/>
            <a:ext cx="201168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Twin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342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566160" y="4297680"/>
            <a:ext cx="182880" cy="22860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86600" y="4434840"/>
            <a:ext cx="3200400" cy="11887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000000"/>
                </a:solidFill>
              </a:rPr>
              <a:t>Additional exclusion for sensitivity analysis</a:t>
            </a:r>
          </a:p>
          <a:p>
            <a:pPr algn="ctr"/>
            <a:r>
              <a:rPr sz="700" b="1">
                <a:solidFill>
                  <a:srgbClr val="000000"/>
                </a:solidFill>
              </a:rPr>
              <a:t>n = 2,525 (with overlap)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Emergency CS: n=1452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Prior CS: n=1320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HDP: n=317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Preoperative steroid: n=232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00600" y="4498848"/>
            <a:ext cx="22860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4754880"/>
            <a:ext cx="4114800" cy="64008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Sensitivity analysis subgroup (Elective, low-risk)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663  (Singleton 479  /  Twin 184)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468880" y="5394960"/>
            <a:ext cx="182880" cy="155448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371600" y="5550408"/>
            <a:ext cx="2011680" cy="5029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Singleton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479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663440" y="5394960"/>
            <a:ext cx="182880" cy="155448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5550408"/>
            <a:ext cx="2011680" cy="5029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Twin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184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2. IONV Rates: Broad vs Narrow Antiemetic Definition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822960"/>
          <a:ext cx="10058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Comparison of antiemetic use between singleton and twin groups. Broad = all 7 antiemetics; Narrow = 5-HT3 antagonists (ondansetron, granisetron)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3. Forest Plot — Narrow Antiemetic Definition (5-HT3)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374488" y="1097280"/>
            <a:ext cx="19050" cy="2468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00168" y="36118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84048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Emergency CS</a:t>
            </a:r>
          </a:p>
        </p:txBody>
      </p:sp>
      <p:sp>
        <p:nvSpPr>
          <p:cNvPr id="7" name="Rectangle 6"/>
          <p:cNvSpPr/>
          <p:nvPr/>
        </p:nvSpPr>
        <p:spPr>
          <a:xfrm>
            <a:off x="4015343" y="1283970"/>
            <a:ext cx="119677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348468" y="124815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1.04 [0.50–2.17] P=0.916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GA (per week)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5992" y="1695450"/>
            <a:ext cx="191177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330466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1.02 [0.89–1.16] P=0.822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Hypotension (SBP&lt;90)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31923" y="2106930"/>
            <a:ext cx="1481817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4565982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1.34 [0.66–2.73] P=0.414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BMI (per kg/m²)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3627" y="2518410"/>
            <a:ext cx="13304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4325384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1.01 [1.00–1.02] P=0.088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8117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Age (per year)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3330" y="2929890"/>
            <a:ext cx="10730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370243" y="289407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283921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1.07 [1.00–1.15] P=0.056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2232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pregnancy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44233" y="3341370"/>
            <a:ext cx="4288751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4154" y="33055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2506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3.18 [1.38–7.36] P=0.007**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Multivariable logistic regression for 5-HT3 antagonist use (primary outcome). Reduced model with 6 covariates. N = 3,153.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4. Twin Effect: Broad vs Narrow Antiemetic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7918" y="1097280"/>
            <a:ext cx="19050" cy="1645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33598" y="2788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01752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+ before delivery 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9744" y="1283970"/>
            <a:ext cx="499324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822745" y="124815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3.48 [0.81–15.06] P=0.095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antagonist (any phase)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9733" y="1695450"/>
            <a:ext cx="2095764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717586" y="165963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3.18 [1.38–7.36] P=0.007**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Protocol: antiemetic before delivery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66155" y="2106930"/>
            <a:ext cx="646378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889008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0.82 [0.31–2.15] P=0.683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Protocol: any antiemetic (any phase)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3871" y="2518410"/>
            <a:ext cx="20738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926498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0.92 [0.67–1.27] P=0.624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Adjusted odds ratios for twin pregnancy across broad (all 7 drugs) and narrow (5-HT3 antagonists only) IONV definitions. N = 3,153.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5. Covariate Sensitivity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2051" y="1097280"/>
            <a:ext cx="19050" cy="457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87731" y="57150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94360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87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Reduced (6 covariates)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9489" y="1205230"/>
            <a:ext cx="3616104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5526336" y="1169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14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3.18 [1.38–7.36] P=0.007**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341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Hypotension (SBP &lt; 90)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1826" y="1459230"/>
            <a:ext cx="371268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380886" y="1423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368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2.94 [1.18–7.32] P=0.020*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595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Surgery time (per min)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4432" y="1713230"/>
            <a:ext cx="336471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5228000" y="1677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1622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2.69 [1.09–6.65] P=0.032*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84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Epidural anesthesia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3504" y="1967230"/>
            <a:ext cx="417892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5635840" y="1931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1876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3.36 [1.37–8.28] P=0.008**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10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HDP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7298" y="2221230"/>
            <a:ext cx="381264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5423325" y="2185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2130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3.01 [1.21–7.51] P=0.018*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2357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Prior 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1416" y="2475230"/>
            <a:ext cx="434156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22250" y="2439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2384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3.67 [1.54–8.73] P=0.003**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611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Emergency 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49491" y="2729230"/>
            <a:ext cx="3745205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98228" y="2693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2638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3.14 [1.31–7.51] P=0.010*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865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BMI (per kg/m²)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7020" y="2983230"/>
            <a:ext cx="3781755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5416721" y="2947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07040" y="2892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3.00 [1.21–7.46] P=0.018*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311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Hypotension (SBP &lt; 90)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04734" y="3237230"/>
            <a:ext cx="300297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5276604" y="3201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3146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2.77 [1.24–6.20] P=0.013*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337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Surgery time (per min)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49653" y="3491230"/>
            <a:ext cx="3741573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5635823" y="3455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7040" y="3400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3.36 [1.48–7.67] P=0.004**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3627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Epidural anesthesia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6445" y="3745230"/>
            <a:ext cx="289798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5215170" y="3709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07040" y="3654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2.67 [1.19–5.98] P=0.017*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3881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HDP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7632" y="3999230"/>
            <a:ext cx="291715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5234473" y="3963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07040" y="3908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2.70 [1.21–6.03] P=0.016*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" y="4135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Prior CS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6783" y="4253230"/>
            <a:ext cx="290131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iamond 55"/>
          <p:cNvSpPr/>
          <p:nvPr/>
        </p:nvSpPr>
        <p:spPr>
          <a:xfrm>
            <a:off x="5148478" y="4217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4162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2.56 [1.11–5.91] P=0.028*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438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Emergency CS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0427" y="4507230"/>
            <a:ext cx="291493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iamond 59"/>
          <p:cNvSpPr/>
          <p:nvPr/>
        </p:nvSpPr>
        <p:spPr>
          <a:xfrm>
            <a:off x="5224301" y="4471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07040" y="4416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2.68 [1.20–6.02] P=0.017*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" y="4643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GA (per week)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94082" y="4761230"/>
            <a:ext cx="3023628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iamond 63"/>
          <p:cNvSpPr/>
          <p:nvPr/>
        </p:nvSpPr>
        <p:spPr>
          <a:xfrm>
            <a:off x="5266843" y="4725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07040" y="4670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2.75 [1.22–6.22] P=0.015*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4897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BMI (per kg/m²)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92706" y="5015230"/>
            <a:ext cx="294773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5248116" y="4979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7040" y="4924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2.72 [1.22–6.09] P=0.015*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5151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Age (per year)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67809" y="5269230"/>
            <a:ext cx="332134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Diamond 71"/>
          <p:cNvSpPr/>
          <p:nvPr/>
        </p:nvSpPr>
        <p:spPr>
          <a:xfrm>
            <a:off x="5432332" y="5233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07040" y="5178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3.03 [1.34–6.84] P=0.008**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5405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Crude (twin only)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388600" y="5523230"/>
            <a:ext cx="2920057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Diamond 75"/>
          <p:cNvSpPr/>
          <p:nvPr/>
        </p:nvSpPr>
        <p:spPr>
          <a:xfrm>
            <a:off x="5236420" y="5487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07040" y="5432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2.70 [1.21–6.04] P=0.015*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Robustness of twin effect across 18 covariate models for narrow-definition primary outcome. All models show P &lt; 0.05.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6. IONV Rates — Elective Low-Risk Subgroup (N=663)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822960"/>
          <a:ext cx="10058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IONV rates in sensitivity subgroup after excluding emergency CS, prior CS, HDP, preoperative steroid. Singleton n=479, Twin n=184.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7. Twin Effect — Elective Low-Risk Subgroup</a:t>
            </a:r>
          </a:p>
        </p:txBody>
      </p:sp>
      <p:sp>
        <p:nvSpPr>
          <p:cNvPr id="3" name="Rectangle 2"/>
          <p:cNvSpPr/>
          <p:nvPr/>
        </p:nvSpPr>
        <p:spPr>
          <a:xfrm>
            <a:off x="3714750" y="1097280"/>
            <a:ext cx="19050" cy="1645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40430" y="2788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01752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+ before delivery 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98811" y="1283970"/>
            <a:ext cx="6816789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411014" y="124815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14.14 [0.72–277.39] P=0.081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antagonist (any phase)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57096" y="1695450"/>
            <a:ext cx="5960742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379248" y="165963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13.59 [1.74–106.04] P=0.013*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antiemetic before delivery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69892" y="2106930"/>
            <a:ext cx="117046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642610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0.70 [0.22–2.26] P=0.549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any antiemetic (any phase)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80261" y="2518410"/>
            <a:ext cx="38055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639829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0.65 [0.40–1.06] P=0.086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Adjusted odds ratios in sensitivity subgroup (N=663). Narrow-definition aOR increased from 3.18 (full) to 13.59 (subgroup).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8. Wald vs Bootstrap Confidence Interval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Stratified bootstrap (10,000 resamples) validation of Wald-based CIs. BCa CI for narrow primary (full cohort) excludes 1, confirming robust twin effect.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914400"/>
            <a:ext cx="13716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Cohort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914400"/>
            <a:ext cx="18288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914400"/>
            <a:ext cx="9144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914400"/>
            <a:ext cx="201168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Wald 95% CI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0" y="914400"/>
            <a:ext cx="201168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BCa 95% CI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914400"/>
            <a:ext cx="9144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Conv.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32588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Full cohort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2588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Primary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32588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0.92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32588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0.67–1.27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132588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0.68–1.26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132588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173736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37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Secondary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173736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0.82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17373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0.31–2.15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17373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0.30–2.29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173736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2148840"/>
            <a:ext cx="13716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2148840"/>
            <a:ext cx="18288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Narrow, Primary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148840"/>
            <a:ext cx="9144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3.18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2148840"/>
            <a:ext cx="201168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1.38–7.36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148840"/>
            <a:ext cx="201168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1.23–7.01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148840"/>
            <a:ext cx="9144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256032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5603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Secondary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56032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3.48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25603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0.81–15.06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80" y="25603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0.00–21.33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256032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99.8%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297180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Low-risk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297180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Primary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297180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97180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0.40–1.06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297180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0.39–1.06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760" y="297180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338328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3832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Secondary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38328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0.70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33832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0.22–2.26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0" y="33832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0.15–2.72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760" y="338328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71600" y="379476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0" y="379476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Primary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79476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13.59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379476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1.74–106.04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79476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0.00–700136.92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760" y="379476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99.8%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71600" y="420624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43200" y="420624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Secondary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420624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14.14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20624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0.72–277.39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80" y="420624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Unstable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760" y="420624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91.5%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