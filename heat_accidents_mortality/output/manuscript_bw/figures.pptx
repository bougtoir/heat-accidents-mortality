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</a:t>
            </a:r>
          </a:p>
        </p:txBody>
      </p:sp>
      <p:pic>
        <p:nvPicPr>
          <p:cNvPr id="3" name="Picture 2" descr="fig1_absolute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679084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absolute-temperature exposure-response for daily traffic-crash deaths (cumulative over lag 0-10 days), relative to the minimum-mortality temperature. The curve peaks at mild temperatures and declines at extreme heat, reflecting the seasonal driving-exposure envelope rather than an acute heat effect. Black-and-white version: line styles and marker shapes distinguish categories.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2</a:t>
            </a:r>
          </a:p>
        </p:txBody>
      </p:sp>
      <p:pic>
        <p:nvPicPr>
          <p:cNvPr id="3" name="Picture 2" descr="fig2_anomaly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977402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temperature-anomaly exposure-response (primary analysis): cumulative rate ratio of crash deaths versus the local day-of-year seasonal norm. Days hotter than normal carry higher crash mortality. Black-and-white version: line styles and marker shapes distinguish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3</a:t>
            </a:r>
          </a:p>
        </p:txBody>
      </p:sp>
      <p:pic>
        <p:nvPicPr>
          <p:cNvPr id="3" name="Picture 2" descr="fig3_lag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173802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lag structure of the crash-death response to a +9 °C anomaly: an acute same-day excess followed by a 1-3 day deficit consistent with short-term displacement (harvesting) rather than a net addition of deaths. Black-and-white version: line styles and marker shapes distinguish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4</a:t>
            </a:r>
          </a:p>
        </p:txBody>
      </p:sp>
      <p:pic>
        <p:nvPicPr>
          <p:cNvPr id="3" name="Picture 2" descr="fig_us_road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749997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same-day rate ratio of crash death for a +9 °C anomaly by road-user type. Open-air users (motorcyclists, pedestrians, cyclists) show much larger heat effects than enclosed, often air-conditioned, vehicle occupants—a gradient that tracks direct heat exposure rather than driving volume. This subgroup analysis is exploratory and is not adjusted for multiple comparisons. Black-and-white version: categories are distinguished by the y-axis labels.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5</a:t>
            </a:r>
          </a:p>
        </p:txBody>
      </p:sp>
      <p:pic>
        <p:nvPicPr>
          <p:cNvPr id="3" name="Picture 2" descr="fig_us_timeof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800779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same-day rate ratio of crash death for a +9 °C anomaly by crash hour of day. The excess is largest for crashes in the hottest part of the day (12-17 h) and weakest in the cool morning (06-11 h). This subgroup analysis is exploratory and is not adjusted for multiple comparisons. Black-and-white version: the 12-17 h point is filled and the others are open to highlight the peak band.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6</a:t>
            </a:r>
          </a:p>
        </p:txBody>
      </p:sp>
      <p:pic>
        <p:nvPicPr>
          <p:cNvPr id="3" name="Picture 2" descr="fig4_attributabl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73587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estimated net heat-attributable crash deaths per year, 2016-2022. Black-and-white version: line styles and marker shapes distinguish categories.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7</a:t>
            </a:r>
          </a:p>
        </p:txBody>
      </p:sp>
      <p:pic>
        <p:nvPicPr>
          <p:cNvPr id="3" name="Picture 2" descr="fig5_hidden_vs_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7786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comparison of estimated net heat-attributable crash deaths per year with officially recorded direct-heat deaths (ICD-10 X30) from CDC WONDER. Black-and-white version: the right-hand (estimate) bar is hatched to distinguish it from the left-hand (official) bar.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8</a:t>
            </a:r>
          </a:p>
        </p:txBody>
      </p:sp>
      <p:pic>
        <p:nvPicPr>
          <p:cNvPr id="3" name="Picture 2" descr="fig_us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83323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United States projected additional traffic-crash deaths per year under uniform warming of the daily temperature distribution by +1, +2 and +3 °C, holding driving activity and baseline rates constant. Bars show the point estimate with 95% Monte Carlo confidence intervals; this is a scenario projection, not an observed quantity. Black-and-white version: line styles and marker shapes distinguish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9</a:t>
            </a:r>
          </a:p>
        </p:txBody>
      </p:sp>
      <p:pic>
        <p:nvPicPr>
          <p:cNvPr id="3" name="Picture 2" descr="jp_fig2_anomaly_exposur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6139646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Japan temperature-anomaly exposure-response (2019-2024). The estimate is imprecise: the confidence band is wide and includes the null throughout. Black-and-white version: line styles and marker shapes distinguish categories.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Figure 10</a:t>
            </a:r>
          </a:p>
        </p:txBody>
      </p:sp>
      <p:pic>
        <p:nvPicPr>
          <p:cNvPr id="3" name="Picture 2" descr="cross_fig_us_vs_japan_same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914400"/>
            <a:ext cx="597431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/>
              <a:t>Same-day rate ratio of traffic-crash deaths for a +9 °C anomaly, United States versus Japan. The US shows a precise acute effect; the Japanese estimate is underpowered. This comparison is exploratory and is not adjusted for multiple comparisons. Black-and-white version: US (square) and Japan (circle) estimates use different marker shapes.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