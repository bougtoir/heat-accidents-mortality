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A477A"/>
                </a:solidFill>
              </a:rPr>
              <a:t>デスフルラン優位性を主張する文献の批判的吟味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― セボフルランに対する真の優位性は存在するか ―</a:t>
            </a:r>
          </a:p>
          <a:p>
            <a:r>
              <a:rPr sz="2000"/>
              <a:t>臨床麻酔学会発表用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EU規則 (EU) 2024/573: デスフルラン原則使用禁止（2026/1/1〜）</a:t>
            </a:r>
          </a:p>
          <a:p>
            <a:pPr>
              <a:spcAft>
                <a:spcPts val="600"/>
              </a:spcAft>
              <a:defRPr sz="1800"/>
            </a:pPr>
            <a:r>
              <a:t>GWP: デスフルラン 2,540 vs セボフルラン 130（約20倍）</a:t>
            </a:r>
          </a:p>
          <a:p>
            <a:pPr>
              <a:spcAft>
                <a:spcPts val="600"/>
              </a:spcAft>
              <a:defRPr sz="1800"/>
            </a:pPr>
            <a:r>
              <a:t>例外: 「医学的根拠により必要な場合」のみ</a:t>
            </a:r>
          </a:p>
          <a:p>
            <a:pPr>
              <a:spcAft>
                <a:spcPts val="600"/>
              </a:spcAft>
              <a:defRPr sz="1800"/>
            </a:pPr>
            <a:r>
              <a:t>NICEレビュー（2024）: デスフルランの臨床的優位性を示す質の高いエビデンスなし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本発表の目的: 「デスフルランを使用すべき症例」は存在するか？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デスフルラン優位を主張する10のシチュエーションを特定</a:t>
            </a:r>
          </a:p>
          <a:p>
            <a:pPr>
              <a:spcAft>
                <a:spcPts val="600"/>
              </a:spcAft>
              <a:defRPr sz="1800"/>
            </a:pPr>
            <a:r>
              <a:t>各シチュエーションの代表的論文を選定</a:t>
            </a:r>
          </a:p>
          <a:p>
            <a:pPr>
              <a:spcAft>
                <a:spcPts val="600"/>
              </a:spcAft>
              <a:defRPr sz="1800"/>
            </a:pPr>
            <a:r>
              <a:t>方法論的問題点を批判的に検証</a:t>
            </a:r>
          </a:p>
          <a:p>
            <a:pPr>
              <a:spcAft>
                <a:spcPts val="600"/>
              </a:spcAft>
              <a:defRPr sz="1800"/>
            </a:pPr>
            <a:r>
              <a:t>批判レター（Letter to the Editor）と著者回答を調査</a:t>
            </a:r>
          </a:p>
          <a:p>
            <a:pPr>
              <a:spcAft>
                <a:spcPts val="600"/>
              </a:spcAft>
              <a:defRPr sz="1800"/>
            </a:pPr>
            <a:r>
              <a:t>「引用の非対称性」を検討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1. 肥満患者における覚醒の速さ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主張: 低い血液/ガス分配係数（0.42 vs 0.65）で覚醒が早い</a:t>
            </a:r>
          </a:p>
          <a:p>
            <a:pPr>
              <a:spcAft>
                <a:spcPts val="600"/>
              </a:spcAft>
              <a:defRPr sz="1800"/>
            </a:pPr>
            <a:r>
              <a:t>La Colla 2007 (BJA): 非再呼吸回路（FGF 8L/min）、手術30分</a:t>
            </a:r>
          </a:p>
          <a:p>
            <a:pPr>
              <a:spcAft>
                <a:spcPts val="600"/>
              </a:spcAft>
              <a:defRPr sz="1800"/>
            </a:pPr>
            <a:r>
              <a:t>  → 臨床的に使用される低流量回路とは条件が異なる</a:t>
            </a:r>
          </a:p>
          <a:p>
            <a:pPr>
              <a:spcAft>
                <a:spcPts val="600"/>
              </a:spcAft>
              <a:defRPr sz="1800"/>
            </a:pPr>
            <a:r>
              <a:t>Kaur 2013 (JOACP): FGF未報告、覚醒時のプロトコル不明</a:t>
            </a:r>
          </a:p>
          <a:p>
            <a:pPr>
              <a:spcAft>
                <a:spcPts val="600"/>
              </a:spcAft>
              <a:defRPr sz="1800"/>
            </a:pPr>
            <a:r>
              <a:t>  → デスフルラン群のみハイフローの可能性を排除できない</a:t>
            </a:r>
          </a:p>
          <a:p>
            <a:pPr>
              <a:spcAft>
                <a:spcPts val="600"/>
              </a:spcAft>
              <a:defRPr sz="1800"/>
            </a:pPr>
            <a:r>
              <a:t>反証: Arain 2005 — BIS-guided titrationで有意差なし</a:t>
            </a:r>
          </a:p>
          <a:p>
            <a:pPr>
              <a:spcAft>
                <a:spcPts val="600"/>
              </a:spcAft>
              <a:defRPr sz="1800"/>
            </a:pPr>
            <a:r>
              <a:t>エディトリアル: Eger &amp; Shafer 2005 — 覚醒数分の差は臨床的に無意味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覚醒の速さ ≠ 退院の早さ。FGF条件で結果が操作される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肥満患者: FI-FA差の問題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デスフルラン代謝率 0.02% → 定常状態ではFI ≈ FA のはず</a:t>
            </a:r>
          </a:p>
          <a:p>
            <a:pPr>
              <a:spcAft>
                <a:spcPts val="600"/>
              </a:spcAft>
              <a:defRPr sz="1800"/>
            </a:pPr>
            <a:r>
              <a:t>臨床現場ではFI-FA差が持続的に観察される</a:t>
            </a:r>
          </a:p>
          <a:p>
            <a:pPr>
              <a:spcAft>
                <a:spcPts val="600"/>
              </a:spcAft>
              <a:defRPr sz="1800"/>
            </a:pPr>
            <a:r>
              <a:t>原因: 大量の脂肪組織への分配が継続</a:t>
            </a:r>
          </a:p>
          <a:p>
            <a:pPr>
              <a:spcAft>
                <a:spcPts val="600"/>
              </a:spcAft>
              <a:defRPr sz="1800"/>
            </a:pPr>
            <a:r>
              <a:t>脂肪/血液分配係数: デスフルラン 27 vs セボフルラン 48</a:t>
            </a:r>
          </a:p>
          <a:p>
            <a:pPr>
              <a:spcAft>
                <a:spcPts val="600"/>
              </a:spcAft>
              <a:defRPr sz="1800"/>
            </a:pPr>
            <a:r>
              <a:t>  → 血液/ガス分配係数ほどの差はない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「肥満でも速い覚醒」の理論的根拠が矛盾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2. 高齢者における認知機能保存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Tachibana et al. 2015 (J Anesth): n=42, MMSE 術前後24h</a:t>
            </a:r>
          </a:p>
          <a:p>
            <a:pPr>
              <a:spcAft>
                <a:spcPts val="600"/>
              </a:spcAft>
              <a:defRPr sz="1800"/>
            </a:pPr>
            <a:r>
              <a:t>問題点:</a:t>
            </a:r>
          </a:p>
          <a:p>
            <a:pPr>
              <a:spcAft>
                <a:spcPts val="600"/>
              </a:spcAft>
              <a:defRPr sz="1800"/>
            </a:pPr>
            <a:r>
              <a:t>  ・MMSE変化量わずか1点（測定誤差±2-3点の範囲内）</a:t>
            </a:r>
          </a:p>
          <a:p>
            <a:pPr>
              <a:spcAft>
                <a:spcPts val="600"/>
              </a:spcAft>
              <a:defRPr sz="1800"/>
            </a:pPr>
            <a:r>
              <a:t>  ・p=0.048（ぎりぎりの有意水準）</a:t>
            </a:r>
          </a:p>
          <a:p>
            <a:pPr>
              <a:spcAft>
                <a:spcPts val="600"/>
              </a:spcAft>
              <a:defRPr sz="1800"/>
            </a:pPr>
            <a:r>
              <a:t>  ・認知機能低下例の除外基準が不明確</a:t>
            </a:r>
          </a:p>
          <a:p>
            <a:pPr>
              <a:spcAft>
                <a:spcPts val="600"/>
              </a:spcAft>
              <a:defRPr sz="1800"/>
            </a:pPr>
            <a:r>
              <a:t>  ・低スコア症例を除外すると有意差消失</a:t>
            </a:r>
          </a:p>
          <a:p>
            <a:pPr>
              <a:spcAft>
                <a:spcPts val="600"/>
              </a:spcAft>
              <a:defRPr sz="1800"/>
            </a:pPr>
            <a:r>
              <a:t>  ・BISモニタリングなし、等MAC濃度でない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著者自身が批判レターへの回答で事実上の譲歩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引用の非対称性（Tachibana 2015の例）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原著（Tachibana 2015）: 31回引用</a:t>
            </a:r>
          </a:p>
          <a:p>
            <a:pPr>
              <a:spcAft>
                <a:spcPts val="600"/>
              </a:spcAft>
              <a:defRPr sz="1800"/>
            </a:pPr>
            <a:r>
              <a:t>批判レター（Ding et al. 2015）: 2回引用</a:t>
            </a:r>
          </a:p>
          <a:p>
            <a:pPr>
              <a:spcAft>
                <a:spcPts val="600"/>
              </a:spcAft>
              <a:defRPr sz="1800"/>
            </a:pPr>
            <a:r>
              <a:t>著者回答/譲歩（Tachibana 2017）: ほぼ引用ゼロ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著者回答の要点:</a:t>
            </a:r>
          </a:p>
          <a:p>
            <a:pPr>
              <a:spcAft>
                <a:spcPts val="600"/>
              </a:spcAft>
              <a:defRPr sz="1800"/>
            </a:pPr>
            <a:r>
              <a:t>  「MMSEの群間差については言及していない」</a:t>
            </a:r>
          </a:p>
          <a:p>
            <a:pPr>
              <a:spcAft>
                <a:spcPts val="600"/>
              </a:spcAft>
              <a:defRPr sz="1800"/>
            </a:pPr>
            <a:r>
              <a:t>  「両群のMMSEスコアは同等であった」</a:t>
            </a:r>
          </a:p>
          <a:p>
            <a:pPr>
              <a:spcAft>
                <a:spcPts val="600"/>
              </a:spcAft>
              <a:defRPr sz="1800"/>
            </a:pPr>
            <a:r>
              <a:t>  「認知機能の結果は慎重に解釈すべき」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企業・後続研究は原著の「デスフルラン有利」のみ引用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3. 長時間手術 / 4. 脳外科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【長時間手術】</a:t>
            </a:r>
          </a:p>
          <a:p>
            <a:pPr>
              <a:spcAft>
                <a:spcPts val="600"/>
              </a:spcAft>
              <a:defRPr sz="1800"/>
            </a:pPr>
            <a:r>
              <a:t>理論的にはウォッシュアウトが速い</a:t>
            </a:r>
          </a:p>
          <a:p>
            <a:pPr>
              <a:spcAft>
                <a:spcPts val="600"/>
              </a:spcAft>
              <a:defRPr sz="1800"/>
            </a:pPr>
            <a:r>
              <a:t>しかし退院時間、PACU滞在時間に差なし（メタアナリシス）</a:t>
            </a:r>
          </a:p>
          <a:p>
            <a:pPr>
              <a:spcAft>
                <a:spcPts val="600"/>
              </a:spcAft>
              <a:defRPr sz="1800"/>
            </a:pPr>
            <a:r>
              <a:t>BIS-guided titrationなしでは交絡因子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【脳外科】</a:t>
            </a:r>
          </a:p>
          <a:p>
            <a:pPr>
              <a:spcAft>
                <a:spcPts val="600"/>
              </a:spcAft>
              <a:defRPr sz="1800"/>
            </a:pPr>
            <a:r>
              <a:t>Dube 2015: 抜管時間差あり、GCS回復・転帰に差なし</a:t>
            </a:r>
          </a:p>
          <a:p>
            <a:pPr>
              <a:spcAft>
                <a:spcPts val="600"/>
              </a:spcAft>
              <a:defRPr sz="1800"/>
            </a:pPr>
            <a:r>
              <a:t>2025年メタアナリシス: 臨床的転帰に差なし</a:t>
            </a:r>
          </a:p>
          <a:p>
            <a:pPr>
              <a:spcAft>
                <a:spcPts val="600"/>
              </a:spcAft>
              <a:defRPr sz="1800"/>
            </a:pPr>
            <a:r>
              <a:t>NICEレビュー: 脳外科でもデスフルランの優位性なし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デスフルランの気道刺激 → 術後バッキング・ICP上昇リスク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5. 日帰り手術 / 6. 小児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【日帰り手術】</a:t>
            </a:r>
          </a:p>
          <a:p>
            <a:pPr>
              <a:spcAft>
                <a:spcPts val="600"/>
              </a:spcAft>
              <a:defRPr sz="1800"/>
            </a:pPr>
            <a:r>
              <a:t>White 2009: 早期覚醒は速いが退院時間に差なし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デスフルラン群で咳嗽増加（67% vs 33%, p&lt;0.01）</a:t>
            </a:r>
          </a:p>
          <a:p>
            <a:pPr>
              <a:spcAft>
                <a:spcPts val="600"/>
              </a:spcAft>
              <a:defRPr sz="1800"/>
            </a:pPr>
            <a:r>
              <a:t>ボトルネックは覚醒ではなくPONV・疼痛管理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【小児】</a:t>
            </a:r>
          </a:p>
          <a:p>
            <a:pPr>
              <a:spcAft>
                <a:spcPts val="600"/>
              </a:spcAft>
              <a:defRPr sz="1800"/>
            </a:pPr>
            <a:r>
              <a:t>Lim 2016 メタアナリシス: EA発生率25% vs 25%で同等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デスフルランは気道刺激が強くマスク導入不可</a:t>
            </a:r>
          </a:p>
          <a:p>
            <a:pPr>
              <a:spcAft>
                <a:spcPts val="600"/>
              </a:spcAft>
              <a:defRPr sz="1800"/>
            </a:pPr>
            <a:r>
              <a:t>導入はセボフルラン→維持のみデスフルランは非現実的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7. 心臓手術 / 8. 呼吸器疾患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【心臓手術】</a:t>
            </a:r>
          </a:p>
          <a:p>
            <a:pPr>
              <a:spcAft>
                <a:spcPts val="600"/>
              </a:spcAft>
              <a:defRPr sz="1800"/>
            </a:pPr>
            <a:r>
              <a:t>心筋保護効果は揮発性麻酔薬のクラス効果</a:t>
            </a:r>
          </a:p>
          <a:p>
            <a:pPr>
              <a:spcAft>
                <a:spcPts val="600"/>
              </a:spcAft>
              <a:defRPr sz="1800"/>
            </a:pPr>
            <a:r>
              <a:t>セボフルランの方がエビデンス豊富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デスフルラン特有の優位性なし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【呼吸器疾患】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デスフルラン: TRPA1活性化 → 咳嗽・喉頭痙攣・気管支攣縮</a:t>
            </a:r>
          </a:p>
          <a:p>
            <a:pPr>
              <a:spcAft>
                <a:spcPts val="600"/>
              </a:spcAft>
              <a:defRPr sz="1800"/>
            </a:pPr>
            <a:r>
              <a:t>セボフルラン: 気管支拡張作用あり</a:t>
            </a: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呼吸器疾患患者ではデスフルランはむしろ「劣位」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9. 肝腎障害 / 10. 筋疾患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【肝腎障害】</a:t>
            </a:r>
          </a:p>
          <a:p>
            <a:pPr>
              <a:spcAft>
                <a:spcPts val="600"/>
              </a:spcAft>
              <a:defRPr sz="1800"/>
            </a:pPr>
            <a:r>
              <a:t>Compound A腎毒性: ヒトで未確認（ラットのみ）</a:t>
            </a:r>
          </a:p>
          <a:p>
            <a:pPr>
              <a:spcAft>
                <a:spcPts val="600"/>
              </a:spcAft>
              <a:defRPr sz="1800"/>
            </a:pPr>
            <a:r>
              <a:t>20年以上の臨床使用で問題なし</a:t>
            </a:r>
          </a:p>
          <a:p>
            <a:pPr>
              <a:spcAft>
                <a:spcPts val="600"/>
              </a:spcAft>
              <a:defRPr sz="1800"/>
            </a:pPr>
            <a:r>
              <a:t>理論的メリットはあるが臨床的差はなし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【筋疾患】</a:t>
            </a:r>
          </a:p>
          <a:p>
            <a:pPr>
              <a:spcAft>
                <a:spcPts val="600"/>
              </a:spcAft>
              <a:defRPr sz="1800"/>
            </a:pPr>
            <a:r>
              <a:t>MHトリガーは全揮発性麻酔薬共通</a:t>
            </a:r>
          </a:p>
          <a:p>
            <a:pPr>
              <a:spcAft>
                <a:spcPts val="600"/>
              </a:spcAft>
              <a:defRPr sz="1800"/>
            </a:pPr>
            <a:r>
              <a:t>エビデンスは症例報告レベルのみ</a:t>
            </a:r>
          </a:p>
          <a:p>
            <a:pPr>
              <a:spcAft>
                <a:spcPts val="600"/>
              </a:spcAft>
              <a:defRPr sz="1800"/>
            </a:pPr>
            <a:r>
              <a:t>TIVA推奨例が多い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総括: 10シチュエーション全てで優位性なし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肥満 → FGF条件操作、退院時間差なし</a:t>
            </a:r>
          </a:p>
          <a:p>
            <a:pPr>
              <a:spcAft>
                <a:spcPts val="600"/>
              </a:spcAft>
              <a:defRPr sz="1800"/>
            </a:pPr>
            <a:r>
              <a:t>2. 高齢者POCD → MMSE 1点差、著者自身が譲歩</a:t>
            </a:r>
          </a:p>
          <a:p>
            <a:pPr>
              <a:spcAft>
                <a:spcPts val="600"/>
              </a:spcAft>
              <a:defRPr sz="1800"/>
            </a:pPr>
            <a:r>
              <a:t>3. 長時間手術 → 退院時間・転帰に差なし</a:t>
            </a:r>
          </a:p>
          <a:p>
            <a:pPr>
              <a:spcAft>
                <a:spcPts val="600"/>
              </a:spcAft>
              <a:defRPr sz="1800"/>
            </a:pPr>
            <a:r>
              <a:t>4. 脳外科 → 転帰に差なし、気道刺激リスク</a:t>
            </a:r>
          </a:p>
          <a:p>
            <a:pPr>
              <a:spcAft>
                <a:spcPts val="600"/>
              </a:spcAft>
              <a:defRPr sz="1800"/>
            </a:pPr>
            <a:r>
              <a:t>5. 日帰り手術 → 退院時間差なし、咳嗽増加</a:t>
            </a:r>
          </a:p>
          <a:p>
            <a:pPr>
              <a:spcAft>
                <a:spcPts val="600"/>
              </a:spcAft>
              <a:defRPr sz="1800"/>
            </a:pPr>
            <a:r>
              <a:t>6. 小児 → EA同率、マスク導入不可</a:t>
            </a:r>
          </a:p>
          <a:p>
            <a:pPr>
              <a:spcAft>
                <a:spcPts val="600"/>
              </a:spcAft>
              <a:defRPr sz="1800"/>
            </a:pPr>
            <a:r>
              <a:t>7. 心臓手術 → クラス効果、差なし</a:t>
            </a:r>
          </a:p>
          <a:p>
            <a:pPr>
              <a:spcAft>
                <a:spcPts val="600"/>
              </a:spcAft>
              <a:defRPr sz="1800"/>
            </a:pPr>
            <a:r>
              <a:t>8. 呼吸器疾患 → むしろ劣位（気道刺激）</a:t>
            </a:r>
          </a:p>
          <a:p>
            <a:pPr>
              <a:spcAft>
                <a:spcPts val="600"/>
              </a:spcAft>
              <a:defRPr sz="1800"/>
            </a:pPr>
            <a:r>
              <a:t>9. 肝腎障害 → 理論的のみ、臨床差なし</a:t>
            </a:r>
          </a:p>
          <a:p>
            <a:pPr>
              <a:spcAft>
                <a:spcPts val="600"/>
              </a:spcAft>
              <a:defRPr sz="1800"/>
            </a:pPr>
            <a:r>
              <a:t>10. 筋疾患 → 症例報告レベル、差なし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産業バイアスのパターン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原著のみ引用、批判レターと著者回答を無視</a:t>
            </a:r>
          </a:p>
          <a:p>
            <a:pPr>
              <a:spcAft>
                <a:spcPts val="600"/>
              </a:spcAft>
              <a:defRPr sz="1800"/>
            </a:pPr>
            <a:r>
              <a:t>2. 抜管時間を主要エンドポイントとし退院・転帰を軽視</a:t>
            </a:r>
          </a:p>
          <a:p>
            <a:pPr>
              <a:spcAft>
                <a:spcPts val="600"/>
              </a:spcAft>
              <a:defRPr sz="1800"/>
            </a:pPr>
            <a:r>
              <a:t>3. FGF未報告またはハイフロー条件で差を人工的に拡大</a:t>
            </a:r>
          </a:p>
          <a:p>
            <a:pPr>
              <a:spcAft>
                <a:spcPts val="600"/>
              </a:spcAft>
              <a:defRPr sz="1800"/>
            </a:pPr>
            <a:r>
              <a:t>4. BISモニタリングなしで麻酔深度が不均衡</a:t>
            </a:r>
          </a:p>
          <a:p>
            <a:pPr>
              <a:spcAft>
                <a:spcPts val="600"/>
              </a:spcAft>
              <a:defRPr sz="1800"/>
            </a:pPr>
            <a:r>
              <a:t>5. 少数例、多重比較補正なし、ぎりぎりのp値</a:t>
            </a:r>
          </a:p>
          <a:p>
            <a:pPr>
              <a:spcAft>
                <a:spcPts val="600"/>
              </a:spcAft>
              <a:defRPr sz="1800"/>
            </a:pPr>
            <a:r>
              <a:t>6. 利益相反の開示不十分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GWP 2,540のデスフルランを正当化するエビデンスは存在しない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デスフルランを使用すべき症例は存在しない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10シチュエーション全てにおいて:</a:t>
            </a:r>
          </a:p>
          <a:p>
            <a:pPr>
              <a:spcAft>
                <a:spcPts val="600"/>
              </a:spcAft>
              <a:defRPr sz="1800"/>
            </a:pPr>
            <a:r>
              <a:t>  セボフルランに対する臨床的優位性を示す</a:t>
            </a:r>
          </a:p>
          <a:p>
            <a:pPr>
              <a:spcAft>
                <a:spcPts val="600"/>
              </a:spcAft>
              <a:defRPr sz="1800"/>
            </a:pPr>
            <a:r>
              <a:t>  質の高いエビデンスは見出されなかった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EU規則 (EU) 2024/573による使用禁止は</a:t>
            </a:r>
          </a:p>
          <a:p>
            <a:pPr>
              <a:spcAft>
                <a:spcPts val="600"/>
              </a:spcAft>
              <a:defRPr sz="1800"/>
            </a:pPr>
            <a:r>
              <a:t>  環境的にも臨床的にも妥当である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「医学的根拠による例外」を主張する根拠はない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利益相反開示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開示すべき利益相反はありません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