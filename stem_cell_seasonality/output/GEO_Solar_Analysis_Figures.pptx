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Figure 1. Temporal and Geographic Patterns in GEO PSC Datasets</a:t>
            </a:r>
          </a:p>
        </p:txBody>
      </p:sp>
      <p:pic>
        <p:nvPicPr>
          <p:cNvPr id="3" name="Picture 2" descr="geo_solar_comprehen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"/>
            <a:ext cx="11247120" cy="98186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000000"/>
                </a:solidFill>
                <a:latin typeface="Arial"/>
              </a:defRPr>
            </a:pPr>
            <a:r>
              <a:t>(A) Monthly distribution with chi-square test. (B) Country distribution. (C) Hemisphere comparison. (D) Annual trend vs solar cycle. (E) F10.7 correlation. (F) Detrended SSN correlation.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Figure 2. Study Design, Limitations, and Proposed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50A0"/>
                </a:solidFill>
                <a:latin typeface="Arial"/>
              </a:defRPr>
            </a:pPr>
            <a:r>
              <a:t>A. 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926080" cy="1005840"/>
          </a:xfrm>
          <a:prstGeom prst="roundRect">
            <a:avLst/>
          </a:prstGeom>
          <a:solidFill>
            <a:srgbClr val="C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0">
                <a:solidFill>
                  <a:srgbClr val="000000"/>
                </a:solidFill>
                <a:latin typeface="Arial"/>
              </a:defRPr>
            </a:pPr>
            <a:r>
              <a:t>GEO (NCBI)</a:t>
            </a:r>
            <a:br/>
            <a:r>
              <a:t>6,101 PSC datasets</a:t>
            </a:r>
            <a:br/>
            <a:r>
              <a:t>2001–2026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926080" cy="1005840"/>
          </a:xfrm>
          <a:prstGeom prst="roundRect">
            <a:avLst/>
          </a:prstGeom>
          <a:solidFill>
            <a:srgbClr val="FF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0">
                <a:solidFill>
                  <a:srgbClr val="000000"/>
                </a:solidFill>
                <a:latin typeface="Arial"/>
              </a:defRPr>
            </a:pPr>
            <a:r>
              <a:t>NOAA SWPC</a:t>
            </a:r>
            <a:br/>
            <a:r>
              <a:t>Solar indices</a:t>
            </a:r>
            <a:br/>
            <a:r>
              <a:t>(F10.7, SSN)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66160"/>
            <a:ext cx="2926080" cy="1005840"/>
          </a:xfrm>
          <a:prstGeom prst="roundRect">
            <a:avLst/>
          </a:prstGeom>
          <a:solidFill>
            <a:srgbClr val="DC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0">
                <a:solidFill>
                  <a:srgbClr val="000000"/>
                </a:solidFill>
                <a:latin typeface="Arial"/>
              </a:defRPr>
            </a:pPr>
            <a:r>
              <a:t>GEO SOFT</a:t>
            </a:r>
            <a:br/>
            <a:r>
              <a:t>Country metadata</a:t>
            </a:r>
            <a:br/>
            <a:r>
              <a:t>(n=600 sample)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800"/>
                </a:solidFill>
                <a:latin typeface="Arial"/>
              </a:defRPr>
            </a:pPr>
            <a:r>
              <a:t>B. Key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1005840"/>
          </a:xfrm>
          <a:prstGeom prst="roundRect">
            <a:avLst/>
          </a:prstGeom>
          <a:solidFill>
            <a:srgbClr val="C8F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0">
                <a:solidFill>
                  <a:srgbClr val="000000"/>
                </a:solidFill>
                <a:latin typeface="Arial"/>
              </a:defRPr>
            </a:pPr>
            <a:r>
              <a:t>✓ Seasonal non-uniformity</a:t>
            </a:r>
            <a:br/>
            <a:r>
              <a:t>χ²=32.3, p=0.0007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377440"/>
            <a:ext cx="3474720" cy="1005840"/>
          </a:xfrm>
          <a:prstGeom prst="roundRect">
            <a:avLst/>
          </a:prstGeom>
          <a:solidFill>
            <a:srgbClr val="FF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0">
                <a:solidFill>
                  <a:srgbClr val="000000"/>
                </a:solidFill>
                <a:latin typeface="Arial"/>
              </a:defRPr>
            </a:pPr>
            <a:r>
              <a:t>✗ Hemisphere comparison</a:t>
            </a:r>
            <a:br/>
            <a:r>
              <a:t>97% NH, only 3% 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566160"/>
            <a:ext cx="3474720" cy="1005840"/>
          </a:xfrm>
          <a:prstGeom prst="roundRect">
            <a:avLst/>
          </a:prstGeom>
          <a:solidFill>
            <a:srgbClr val="FF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0">
                <a:solidFill>
                  <a:srgbClr val="000000"/>
                </a:solidFill>
                <a:latin typeface="Arial"/>
              </a:defRPr>
            </a:pPr>
            <a:r>
              <a:t>✗ Solar correlation</a:t>
            </a:r>
            <a:br/>
            <a:r>
              <a:t>Detrended r=0.02, p=0.75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00000"/>
                </a:solidFill>
                <a:latin typeface="Arial"/>
              </a:defRPr>
            </a:pPr>
            <a:r>
              <a:t>C. Limitations &amp; Next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188720"/>
            <a:ext cx="3474720" cy="777240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000" b="0">
                <a:solidFill>
                  <a:srgbClr val="000000"/>
                </a:solidFill>
                <a:latin typeface="Arial"/>
              </a:defRPr>
            </a:pPr>
            <a:r>
              <a:t>Submission date ≠ Experiment date</a:t>
            </a:r>
            <a:br/>
            <a:r>
              <a:t>6–18 month lag obscures signal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103120"/>
            <a:ext cx="3474720" cy="777240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000" b="0">
                <a:solidFill>
                  <a:srgbClr val="000000"/>
                </a:solidFill>
                <a:latin typeface="Arial"/>
              </a:defRPr>
            </a:pPr>
            <a:r>
              <a:t>Hemisphere imbalance (97:3)</a:t>
            </a:r>
            <a:br/>
            <a:r>
              <a:t>Cannot test photoperiod inversion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017520"/>
            <a:ext cx="3474720" cy="777240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000" b="0">
                <a:solidFill>
                  <a:srgbClr val="000000"/>
                </a:solidFill>
                <a:latin typeface="Arial"/>
              </a:defRPr>
            </a:pPr>
            <a:r>
              <a:t>Institutional cycles</a:t>
            </a:r>
            <a:br/>
            <a:r>
              <a:t>Academic calendar confound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40000"/>
                </a:solidFill>
                <a:latin typeface="Arial"/>
              </a:defRPr>
            </a:pPr>
            <a:r>
              <a:t>↓ Proposed solutions 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297680"/>
            <a:ext cx="3474720" cy="685800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000" b="0">
                <a:solidFill>
                  <a:srgbClr val="000000"/>
                </a:solidFill>
                <a:latin typeface="Arial"/>
              </a:defRPr>
            </a:pPr>
            <a:r>
              <a:t>HFEA Registry (UK)</a:t>
            </a:r>
            <a:br/>
            <a:r>
              <a:t>Cycle-level IVF data, 51°N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5074920"/>
            <a:ext cx="3474720" cy="685800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000" b="0">
                <a:solidFill>
                  <a:srgbClr val="000000"/>
                </a:solidFill>
                <a:latin typeface="Arial"/>
              </a:defRPr>
            </a:pPr>
            <a:r>
              <a:t>ANZARD (Australia)</a:t>
            </a:r>
            <a:br/>
            <a:r>
              <a:t>Southern Hemisphere, −33°S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5852160"/>
            <a:ext cx="3474720" cy="685800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000" b="0">
                <a:solidFill>
                  <a:srgbClr val="000000"/>
                </a:solidFill>
                <a:latin typeface="Arial"/>
              </a:defRPr>
            </a:pPr>
            <a:r>
              <a:t>Environmental monitoring</a:t>
            </a:r>
            <a:br/>
            <a:r>
              <a:t>Humidity, light, EMF in PSC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000000"/>
                </a:solidFill>
                <a:latin typeface="Arial"/>
              </a:defRPr>
            </a:pPr>
            <a:r>
              <a:t>Figure 2. Schematic overview of the study design, key findings, principal limitations, and proposed next steps for hypothesis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