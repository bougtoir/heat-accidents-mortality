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Yu Gothic"/>
              </a:defRPr>
            </a:pPr>
            <a:r>
              <a:t>入職後初面談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200400"/>
            <a:ext cx="210312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Yu Gothic"/>
              </a:defRPr>
            </a:pPr>
            <a:r>
              <a:t>研究・産学連携ビジョンのご共有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9999"/>
                </a:solidFill>
                <a:latin typeface="Yu Gothic"/>
              </a:defRPr>
            </a:pPr>
            <a:r>
              <a:t>2026年5月15日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Yu Gothic"/>
              </a:defRPr>
            </a:pPr>
            <a: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  <a:latin typeface="Yu Gothic"/>
              </a:defRPr>
            </a:pPr>
            <a:r>
              <a:t>本日のアジェンダ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515600" cy="381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200" b="0">
                <a:solidFill>
                  <a:srgbClr val="1A202C"/>
                </a:solidFill>
                <a:latin typeface="Yu Gothic"/>
              </a:rPr>
              <a:t>◆  自己紹介 — コーディング能力・コードレビュー実績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200" b="0">
                <a:solidFill>
                  <a:srgbClr val="1A202C"/>
                </a:solidFill>
                <a:latin typeface="Yu Gothic"/>
              </a:rPr>
              <a:t>◆  生成AI時代の研究支援 — Devin × 伊藤忠 × 滋賀大学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200" b="0">
                <a:solidFill>
                  <a:srgbClr val="1A202C"/>
                </a:solidFill>
                <a:latin typeface="Yu Gothic"/>
              </a:rPr>
              <a:t>◆  研究者としての目標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200" b="0">
                <a:solidFill>
                  <a:srgbClr val="1A202C"/>
                </a:solidFill>
                <a:latin typeface="Yu Gothic"/>
              </a:rPr>
              <a:t>◆  麻酔科の診療科特異性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200" b="0">
                <a:solidFill>
                  <a:srgbClr val="1A202C"/>
                </a:solidFill>
                <a:latin typeface="Yu Gothic"/>
              </a:rPr>
              <a:t>◆  大学発ベンチャー・法人補助金還流モデル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200" b="0">
                <a:solidFill>
                  <a:srgbClr val="1A202C"/>
                </a:solidFill>
                <a:latin typeface="Yu Gothic"/>
              </a:rPr>
              <a:t>◆  産学連携 — シフト最適化・学術支援の展開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Yu Gothic"/>
              </a:defRPr>
            </a:pPr>
            <a: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  <a:latin typeface="Yu Gothic"/>
              </a:defRPr>
            </a:pPr>
            <a:r>
              <a:t>コーディング能力の証明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515600" cy="381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51560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63500" cy="109728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6CB0"/>
                </a:solidFill>
                <a:latin typeface="Yu Gothic"/>
              </a:defRPr>
            </a:pPr>
            <a:r>
              <a:t>課題認識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1A202C"/>
                </a:solidFill>
                <a:latin typeface="Yu Gothic"/>
              </a:rPr>
              <a:t>生成AI時代においてはコード能力の客観的評価が困難に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10515600" cy="1097280"/>
          </a:xfrm>
          <a:prstGeom prst="round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63500" cy="109728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6749"/>
                </a:solidFill>
                <a:latin typeface="Yu Gothic"/>
              </a:defRPr>
            </a:pPr>
            <a:r>
              <a:t>強み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8328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B6CB0"/>
                </a:solidFill>
                <a:latin typeface="Yu Gothic"/>
              </a:rPr>
              <a:t>生成AI登場以前</a:t>
            </a:r>
            <a:r>
              <a:rPr sz="1700">
                <a:solidFill>
                  <a:srgbClr val="1A202C"/>
                </a:solidFill>
                <a:latin typeface="Yu Gothic"/>
              </a:rPr>
              <a:t>のプログラミングコンペティションにおける受賞歴あり
→ コーディング能力、および</a:t>
            </a:r>
            <a:r>
              <a:rPr sz="1700" b="1">
                <a:solidFill>
                  <a:srgbClr val="2B6CB0"/>
                </a:solidFill>
                <a:latin typeface="Yu Gothic"/>
              </a:rPr>
              <a:t>コードレビュー能力</a:t>
            </a:r>
            <a:r>
              <a:rPr sz="1700">
                <a:solidFill>
                  <a:srgbClr val="1A202C"/>
                </a:solidFill>
                <a:latin typeface="Yu Gothic"/>
              </a:rPr>
              <a:t>の客観的裏付け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1005839" cy="3200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498848"/>
            <a:ext cx="1005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Yu Gothic"/>
              </a:defRPr>
            </a:pPr>
            <a:r>
              <a:t>数値最適化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74519" y="4480560"/>
            <a:ext cx="1335024" cy="3200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4498848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Yu Gothic"/>
              </a:defRPr>
            </a:pPr>
            <a:r>
              <a:t>統計モデリング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3" y="4480560"/>
            <a:ext cx="1335024" cy="3200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6703" y="4498848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Yu Gothic"/>
              </a:defRPr>
            </a:pPr>
            <a:r>
              <a:t>コードレビュー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8887" y="4480560"/>
            <a:ext cx="1335024" cy="3200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8887" y="4498848"/>
            <a:ext cx="13350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Yu Gothic"/>
              </a:defRPr>
            </a:pPr>
            <a:r>
              <a:t>AI前受賞実績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Yu Gothic"/>
              </a:defRPr>
            </a:pPr>
            <a: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  <a:latin typeface="Yu Gothic"/>
              </a:defRPr>
            </a:pPr>
            <a:r>
              <a:t>Devin × 伊藤忠 × 滋賀大学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515600" cy="381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2011680"/>
            <a:ext cx="25603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1488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  <a:latin typeface="Yu Gothic"/>
              </a:defRPr>
            </a:pPr>
            <a:r>
              <a:t>Cognition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603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Yu Gothic"/>
              </a:defRPr>
            </a:pPr>
            <a:r>
              <a:t>Devin 開発元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011680"/>
            <a:ext cx="548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B6CB0"/>
                </a:solidFill>
                <a:latin typeface="Yu Gothic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011680"/>
            <a:ext cx="25603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79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1488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  <a:latin typeface="Yu Gothic"/>
              </a:defRPr>
            </a:pPr>
            <a:r>
              <a:t>伊藤忠テクノソリューションズ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5603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Yu Gothic"/>
              </a:defRPr>
            </a:pPr>
            <a:r>
              <a:t>日本代理店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011680"/>
            <a:ext cx="548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B6CB0"/>
                </a:solidFill>
                <a:latin typeface="Yu Gothi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2011680"/>
            <a:ext cx="25603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1488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  <a:latin typeface="Yu Gothic"/>
              </a:defRPr>
            </a:pPr>
            <a:r>
              <a:t>滋賀大学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5603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Yu Gothic"/>
              </a:defRPr>
            </a:pPr>
            <a:r>
              <a:t>伊藤忠と縁あり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74720"/>
            <a:ext cx="10515600" cy="1097280"/>
          </a:xfrm>
          <a:prstGeom prst="roundRect">
            <a:avLst/>
          </a:prstGeom>
          <a:solidFill>
            <a:srgbClr val="FEF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474720"/>
            <a:ext cx="63500" cy="10972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56616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7791F"/>
                </a:solidFill>
                <a:latin typeface="Yu Gothic"/>
              </a:defRPr>
            </a:pPr>
            <a:r>
              <a:t>提案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84048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1A202C"/>
                </a:solidFill>
                <a:latin typeface="Yu Gothic"/>
              </a:rPr>
              <a:t>伊藤忠が日本におけるDevin代理店となった今、
</a:t>
            </a:r>
            <a:r>
              <a:rPr sz="1700" b="1">
                <a:solidFill>
                  <a:srgbClr val="2B6CB0"/>
                </a:solidFill>
                <a:latin typeface="Yu Gothic"/>
              </a:rPr>
              <a:t>滋賀大学でのDevin導入</a:t>
            </a:r>
            <a:r>
              <a:rPr sz="1700">
                <a:solidFill>
                  <a:srgbClr val="1A202C"/>
                </a:solidFill>
                <a:latin typeface="Yu Gothic"/>
              </a:rPr>
              <a:t>を検討できないか？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463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02C"/>
                </a:solidFill>
                <a:latin typeface="Yu Gothic"/>
              </a:rPr>
              <a:t>AI駆動型ソフトウェアエンジニアリングによる研究加速</a:t>
            </a:r>
          </a:p>
          <a:p>
            <a:pPr lvl="1">
              <a:spcBef>
                <a:spcPts val="200"/>
              </a:spcBef>
            </a:pPr>
            <a:r>
              <a:rPr sz="1400">
                <a:solidFill>
                  <a:srgbClr val="4A5568"/>
                </a:solidFill>
                <a:latin typeface="Yu Gothic"/>
              </a:rPr>
              <a:t>コーディング、データ分析、論文整備の自動化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02C"/>
                </a:solidFill>
                <a:latin typeface="Yu Gothic"/>
              </a:rPr>
              <a:t>大学全体のDX推進の先行事例になり得る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Yu Gothic"/>
              </a:defRPr>
            </a:pPr>
            <a: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  <a:latin typeface="Yu Gothic"/>
              </a:defRPr>
            </a:pPr>
            <a:r>
              <a:t>研究者としての目標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515600" cy="381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A365D"/>
                </a:solidFill>
                <a:latin typeface="Yu Gothic"/>
              </a:defRPr>
            </a:pPr>
            <a:r>
              <a:t>蝋人形になること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3474720"/>
            <a:ext cx="667512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0" y="3474720"/>
            <a:ext cx="63500" cy="109728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356616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6CB0"/>
                </a:solidFill>
                <a:latin typeface="Yu Gothic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3017520" y="384048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1A202C"/>
                </a:solidFill>
                <a:latin typeface="Yu Gothic"/>
              </a:rPr>
              <a:t>後世に残る研究業績を確立し、
その分野で</a:t>
            </a:r>
            <a:r>
              <a:rPr sz="1700" b="1">
                <a:solidFill>
                  <a:srgbClr val="2B6CB0"/>
                </a:solidFill>
                <a:latin typeface="Yu Gothic"/>
              </a:rPr>
              <a:t>不朽の存在</a:t>
            </a:r>
            <a:r>
              <a:rPr sz="1700">
                <a:solidFill>
                  <a:srgbClr val="1A202C"/>
                </a:solidFill>
                <a:latin typeface="Yu Gothic"/>
              </a:rPr>
              <a:t>として認知される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846320"/>
            <a:ext cx="6675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02C"/>
                </a:solidFill>
                <a:latin typeface="Yu Gothic"/>
              </a:rPr>
              <a:t>特定の研究領域で圧倒的な成果を積み上げる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02C"/>
                </a:solidFill>
                <a:latin typeface="Yu Gothic"/>
              </a:rPr>
              <a:t>独自のアプローチで分野に永続的な貢献を残す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Yu Gothic"/>
              </a:defRPr>
            </a:pPr>
            <a: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  <a:latin typeface="Yu Gothic"/>
              </a:defRPr>
            </a:pPr>
            <a:r>
              <a:t>麻酔科の診療科特異性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515600" cy="381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65D"/>
                </a:solidFill>
                <a:latin typeface="Yu Gothic"/>
              </a:defRPr>
            </a:pPr>
            <a:r>
              <a:t>臨床面の特徴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02C"/>
                </a:solidFill>
                <a:latin typeface="Yu Gothic"/>
              </a:rPr>
              <a:t>▸ リアルタイムデータが豊富（生体モニター）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02C"/>
                </a:solidFill>
                <a:latin typeface="Yu Gothic"/>
              </a:rPr>
              <a:t>▸ 薬物動態（PK/PD）モデリングとの親和性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02C"/>
                </a:solidFill>
                <a:latin typeface="Yu Gothic"/>
              </a:rPr>
              <a:t>▸ 手術スケジュール管理の複雑さ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02C"/>
                </a:solidFill>
                <a:latin typeface="Yu Gothic"/>
              </a:rPr>
              <a:t>▸ 周術期管理のプロトコル標準化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120640" cy="3840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65D"/>
                </a:solidFill>
                <a:latin typeface="Yu Gothic"/>
              </a:defRPr>
            </a:pPr>
            <a:r>
              <a:t>研究面の特徴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02C"/>
                </a:solidFill>
                <a:latin typeface="Yu Gothic"/>
              </a:rPr>
              <a:t>▸ 数理モデル・シミュレーションの需要大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02C"/>
                </a:solidFill>
                <a:latin typeface="Yu Gothic"/>
              </a:rPr>
              <a:t>▸ 多変量時系列データの宝庫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02C"/>
                </a:solidFill>
                <a:latin typeface="Yu Gothic"/>
              </a:rPr>
              <a:t>▸ シフト制勤務 → 最適化問題と直結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1A202C"/>
                </a:solidFill>
                <a:latin typeface="Yu Gothic"/>
              </a:rPr>
              <a:t>▸ 他科連携が多く横断的研究が可能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515600" cy="109728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486400"/>
            <a:ext cx="63500" cy="109728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57784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6CB0"/>
                </a:solidFill>
                <a:latin typeface="Yu Gothic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B6CB0"/>
                </a:solidFill>
                <a:latin typeface="Yu Gothic"/>
              </a:rPr>
              <a:t>データサイエンス × 麻酔科学</a:t>
            </a:r>
            <a:r>
              <a:rPr sz="1700">
                <a:solidFill>
                  <a:srgbClr val="1A202C"/>
                </a:solidFill>
                <a:latin typeface="Yu Gothic"/>
              </a:rPr>
              <a:t> の交差点に大きなポテンシャル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Yu Gothic"/>
              </a:defRPr>
            </a:pPr>
            <a: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  <a:latin typeface="Yu Gothic"/>
              </a:defRPr>
            </a:pPr>
            <a:r>
              <a:t>法人補助金の大学還流モデル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515600" cy="381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25603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965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  <a:latin typeface="Yu Gothic"/>
              </a:defRPr>
            </a:pPr>
            <a:r>
              <a:t>大学発ベンチャー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377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Yu Gothic"/>
              </a:defRPr>
            </a:pPr>
            <a:r>
              <a:t>技術・知見の事業化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828800"/>
            <a:ext cx="548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B6CB0"/>
                </a:solidFill>
                <a:latin typeface="Yu Gothic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828800"/>
            <a:ext cx="25603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779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  <a:latin typeface="Yu Gothic"/>
              </a:defRPr>
            </a:pPr>
            <a:r>
              <a:t>法人補助金取得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377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Yu Gothic"/>
              </a:defRPr>
            </a:pPr>
            <a:r>
              <a:t>公的資金の獲得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828800"/>
            <a:ext cx="548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B6CB0"/>
                </a:solidFill>
                <a:latin typeface="Yu Gothi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828800"/>
            <a:ext cx="256032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65D"/>
                </a:solidFill>
                <a:latin typeface="Yu Gothic"/>
              </a:defRPr>
            </a:pPr>
            <a:r>
              <a:t>大学への還流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377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4A5568"/>
                </a:solidFill>
                <a:latin typeface="Yu Gothic"/>
              </a:defRPr>
            </a:pPr>
            <a:r>
              <a:t>研究基盤の強化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91840"/>
            <a:ext cx="10515600" cy="1097280"/>
          </a:xfrm>
          <a:prstGeom prst="roundRect">
            <a:avLst/>
          </a:prstGeom>
          <a:solidFill>
            <a:srgbClr val="FEF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291840"/>
            <a:ext cx="63500" cy="109728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B7791F"/>
                </a:solidFill>
                <a:latin typeface="Yu Gothic"/>
              </a:defRPr>
            </a:pPr>
            <a:r>
              <a:t>ビジョン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5760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1A202C"/>
                </a:solidFill>
                <a:latin typeface="Yu Gothic"/>
              </a:rPr>
              <a:t>大学発ベンチャーが獲得した法人補助金を
</a:t>
            </a:r>
            <a:r>
              <a:rPr sz="1700" b="1">
                <a:solidFill>
                  <a:srgbClr val="2B6CB0"/>
                </a:solidFill>
                <a:latin typeface="Yu Gothic"/>
              </a:rPr>
              <a:t>大学の研究基盤に還流させるサステナブルなモデル</a:t>
            </a:r>
            <a:r>
              <a:rPr sz="1700">
                <a:solidFill>
                  <a:srgbClr val="1A202C"/>
                </a:solidFill>
                <a:latin typeface="Yu Gothic"/>
              </a:rPr>
              <a:t>を構築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02C"/>
                </a:solidFill>
                <a:latin typeface="Yu Gothic"/>
              </a:rPr>
              <a:t>産学連携の成果を大学運営に直接貢献させる仕組み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800" b="0">
                <a:solidFill>
                  <a:srgbClr val="1A202C"/>
                </a:solidFill>
                <a:latin typeface="Yu Gothic"/>
              </a:rPr>
              <a:t>ベンチャー → 補助金 → 大学 の好循環サイクル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Yu Gothic"/>
              </a:defRPr>
            </a:pPr>
            <a: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  <a:latin typeface="Yu Gothic"/>
              </a:defRPr>
            </a:pPr>
            <a:r>
              <a:t>産学連携の展開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515600" cy="381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63500" cy="41148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65D"/>
                </a:solidFill>
                <a:latin typeface="Yu Gothic"/>
              </a:defRPr>
            </a:pPr>
            <a:r>
              <a:t>シフト作成の最適化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Yu Gothic"/>
              </a:rPr>
              <a:t>▸ アプローチ：数値最適化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Yu Gothic"/>
              </a:rPr>
              <a:t>▸ 実績：導入実績あり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Yu Gothic"/>
              </a:rPr>
              <a:t>▸ 制約充足（公平性・連続勤務制限）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Yu Gothic"/>
              </a:rPr>
              <a:t>▸ 医療機関特有の複雑な制約に対応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Yu Gothic"/>
              </a:rPr>
              <a:t>▸ コスト削減と職員満足度の両立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754880"/>
            <a:ext cx="676656" cy="3200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773168"/>
            <a:ext cx="676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Yu Gothic"/>
              </a:defRPr>
            </a:pPr>
            <a:r>
              <a:t>最適化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3936" y="4754880"/>
            <a:ext cx="512064" cy="3200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73936" y="4773168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Yu Gothic"/>
              </a:defRPr>
            </a:pPr>
            <a:r>
              <a:t>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4754880"/>
            <a:ext cx="676656" cy="32004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0" y="4773168"/>
            <a:ext cx="676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Yu Gothic"/>
              </a:defRPr>
            </a:pPr>
            <a:r>
              <a:t>導入済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63040"/>
            <a:ext cx="512064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463040"/>
            <a:ext cx="63500" cy="411480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65D"/>
                </a:solidFill>
                <a:latin typeface="Yu Gothic"/>
              </a:defRPr>
            </a:pPr>
            <a:r>
              <a:t>学術支援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8600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Yu Gothic"/>
              </a:rPr>
              <a:t>▸ 実績：導入実績あり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Yu Gothic"/>
              </a:rPr>
              <a:t>▸ 論文執筆・データ解析支援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Yu Gothic"/>
              </a:rPr>
              <a:t>▸ 統計コンサルティング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Yu Gothic"/>
              </a:rPr>
              <a:t>▸ 研究デザインのアドバイス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1500" b="0">
                <a:solidFill>
                  <a:srgbClr val="1A202C"/>
                </a:solidFill>
                <a:latin typeface="Yu Gothic"/>
              </a:rPr>
              <a:t>▸ 再現可能な研究環境構築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4754880"/>
            <a:ext cx="512064" cy="3200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773168"/>
            <a:ext cx="5120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Yu Gothic"/>
              </a:defRPr>
            </a:pPr>
            <a:r>
              <a:t>統計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4754880"/>
            <a:ext cx="841247" cy="3200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95744" y="4773168"/>
            <a:ext cx="8412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Yu Gothic"/>
              </a:defRPr>
            </a:pPr>
            <a:r>
              <a:t>論文支援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1" y="4754880"/>
            <a:ext cx="676656" cy="3200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28431" y="4773168"/>
            <a:ext cx="6766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Yu Gothic"/>
              </a:defRPr>
            </a:pPr>
            <a:r>
              <a:t>導入済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60720"/>
            <a:ext cx="10515600" cy="1097280"/>
          </a:xfrm>
          <a:prstGeom prst="roundRect">
            <a:avLst/>
          </a:prstGeom>
          <a:solidFill>
            <a:srgbClr val="C6F6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760720"/>
            <a:ext cx="63500" cy="1097280"/>
          </a:xfrm>
          <a:prstGeom prst="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85216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6749"/>
                </a:solidFill>
                <a:latin typeface="Yu Gothic"/>
              </a:defRPr>
            </a:pPr>
            <a:r>
              <a:t>目標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612648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1A202C"/>
                </a:solidFill>
                <a:latin typeface="Yu Gothic"/>
              </a:rPr>
              <a:t>両分野の</a:t>
            </a:r>
            <a:r>
              <a:rPr sz="1700" b="1">
                <a:solidFill>
                  <a:srgbClr val="2B6CB0"/>
                </a:solidFill>
                <a:latin typeface="Yu Gothic"/>
              </a:rPr>
              <a:t>導入実績</a:t>
            </a:r>
            <a:r>
              <a:rPr sz="1700">
                <a:solidFill>
                  <a:srgbClr val="1A202C"/>
                </a:solidFill>
                <a:latin typeface="Yu Gothic"/>
              </a:rPr>
              <a:t>を基盤に、学内外への展開を推進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Yu Gothic"/>
              </a:defRPr>
            </a:pPr>
            <a: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  <a:latin typeface="Yu Gothic"/>
              </a:defRPr>
            </a:pPr>
            <a:r>
              <a:t>研究上の方針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515600" cy="381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515600" cy="109728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3500" cy="1097280"/>
          </a:xfrm>
          <a:prstGeom prst="rect">
            <a:avLst/>
          </a:prstGeom>
          <a:solidFill>
            <a:srgbClr val="9B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2C2C"/>
                </a:solidFill>
                <a:latin typeface="Yu Gothic"/>
              </a:defRPr>
            </a:pPr>
            <a:r>
              <a:t>留意事項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>
                <a:solidFill>
                  <a:srgbClr val="1A202C"/>
                </a:solidFill>
                <a:latin typeface="Yu Gothic"/>
              </a:rPr>
              <a:t>特定の研究者（佐藤俊哉氏）との共同研究は</a:t>
            </a:r>
            <a:r>
              <a:rPr sz="1700" b="1">
                <a:solidFill>
                  <a:srgbClr val="2B6CB0"/>
                </a:solidFill>
                <a:latin typeface="Yu Gothic"/>
              </a:rPr>
              <a:t>行わない</a:t>
            </a:r>
            <a:r>
              <a:rPr sz="1700">
                <a:solidFill>
                  <a:srgbClr val="1A202C"/>
                </a:solidFill>
                <a:latin typeface="Yu Gothic"/>
              </a:rPr>
              <a:t>方針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000" b="0">
                <a:solidFill>
                  <a:srgbClr val="1A202C"/>
                </a:solidFill>
                <a:latin typeface="Yu Gothic"/>
              </a:rPr>
              <a:t>独自の研究ラインを確立・維持する</a:t>
            </a:r>
          </a:p>
          <a:p>
            <a:pPr lvl="1">
              <a:spcBef>
                <a:spcPts val="200"/>
              </a:spcBef>
            </a:pPr>
            <a:r>
              <a:rPr sz="1400">
                <a:solidFill>
                  <a:srgbClr val="4A5568"/>
                </a:solidFill>
                <a:latin typeface="Yu Gothic"/>
              </a:rPr>
              <a:t>研究の独立性と方向性を自ら決定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000" b="0">
                <a:solidFill>
                  <a:srgbClr val="1A202C"/>
                </a:solidFill>
                <a:latin typeface="Yu Gothic"/>
              </a:rPr>
              <a:t>共同研究は研究ビジョンが合致する相手と進める</a:t>
            </a:r>
          </a:p>
          <a:p>
            <a:pPr lvl="1">
              <a:spcBef>
                <a:spcPts val="200"/>
              </a:spcBef>
            </a:pPr>
            <a:r>
              <a:rPr sz="1400">
                <a:solidFill>
                  <a:srgbClr val="4A5568"/>
                </a:solidFill>
                <a:latin typeface="Yu Gothic"/>
              </a:rPr>
              <a:t>相互補完的で建設的なパートナーシップを重視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Yu Gothic"/>
              </a:defRPr>
            </a:pPr>
            <a: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Yu Gothic"/>
              </a:defRPr>
            </a:pPr>
            <a:r>
              <a:t>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103120"/>
            <a:ext cx="210312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2560320"/>
            <a:ext cx="6675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000" b="0">
                <a:solidFill>
                  <a:srgbClr val="DDDDDD"/>
                </a:solidFill>
                <a:latin typeface="Yu Gothic"/>
              </a:rPr>
              <a:t>◆  AI前の実績に基づくコード能力の裏付け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000" b="0">
                <a:solidFill>
                  <a:srgbClr val="DDDDDD"/>
                </a:solidFill>
                <a:latin typeface="Yu Gothic"/>
              </a:rPr>
              <a:t>◆  Devin導入による大学DXの可能性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000" b="0">
                <a:solidFill>
                  <a:srgbClr val="DDDDDD"/>
                </a:solidFill>
                <a:latin typeface="Yu Gothic"/>
              </a:rPr>
              <a:t>◆  麻酔科 × データサイエンスの融合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000" b="0">
                <a:solidFill>
                  <a:srgbClr val="DDDDDD"/>
                </a:solidFill>
                <a:latin typeface="Yu Gothic"/>
              </a:rPr>
              <a:t>◆  法人補助金の大学還流モデル</a:t>
            </a:r>
          </a:p>
          <a:p>
            <a:pPr>
              <a:spcBef>
                <a:spcPts val="600"/>
              </a:spcBef>
              <a:spcAft>
                <a:spcPts val="400"/>
              </a:spcAft>
            </a:pPr>
            <a:r>
              <a:rPr sz="2000" b="0">
                <a:solidFill>
                  <a:srgbClr val="DDDDDD"/>
                </a:solidFill>
                <a:latin typeface="Yu Gothic"/>
              </a:rPr>
              <a:t>◆  シフト最適化・学術支援の実績を展開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99999"/>
                </a:solidFill>
                <a:latin typeface="Yu Gothic"/>
              </a:defRPr>
            </a:pPr>
            <a:r>
              <a:t>ご清聴ありがとうございました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Yu Gothic"/>
              </a:defRPr>
            </a:pPr>
            <a: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