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1.8973998594518624</c:v>
                </c:pt>
                <c:pt idx="1">
                  <c:v>17.70906535488405</c:v>
                </c:pt>
                <c:pt idx="2">
                  <c:v>0.21082220660576245</c:v>
                </c:pt>
                <c:pt idx="3">
                  <c:v>0.8784258608573436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1.461988304093567</c:v>
                </c:pt>
                <c:pt idx="1">
                  <c:v>16.95906432748538</c:v>
                </c:pt>
                <c:pt idx="2">
                  <c:v>0.8771929824561403</c:v>
                </c:pt>
                <c:pt idx="3">
                  <c:v>2.3391812865497075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2.9227557411273484</c:v>
                </c:pt>
                <c:pt idx="1">
                  <c:v>21.920668058455114</c:v>
                </c:pt>
                <c:pt idx="2">
                  <c:v>0.20876826722338201</c:v>
                </c:pt>
                <c:pt idx="3">
                  <c:v>0.41753653444676403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2.1739130434782608</c:v>
                </c:pt>
                <c:pt idx="1">
                  <c:v>14.673913043478262</c:v>
                </c:pt>
                <c:pt idx="2">
                  <c:v>1.6304347826086956</c:v>
                </c:pt>
                <c:pt idx="3">
                  <c:v>3.260869565217391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1. STROBE Flow Diagram — Participant Selection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00200" y="731520"/>
            <a:ext cx="4114800" cy="7772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Cesarean deliveries assessed for eligibility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(Apr 2014 – Oct 2024)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3,479  (Singleton 3,113  /  Twin 366)</a:t>
            </a:r>
          </a:p>
        </p:txBody>
      </p:sp>
      <p:sp>
        <p:nvSpPr>
          <p:cNvPr id="4" name="Down Arrow 3"/>
          <p:cNvSpPr/>
          <p:nvPr/>
        </p:nvSpPr>
        <p:spPr>
          <a:xfrm>
            <a:off x="3566160" y="150876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5715000" y="1572768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960120"/>
            <a:ext cx="3200400" cy="1682496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Excluded  (n = 236)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General anesthesia: n=6 (S 4, T 2)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SBP &lt; 90 mmHg at admission: n=4 (S 3, T 1)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Intrauterine fetal death (IUFD): n=13 (S 4, T 9)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Vanishing twin: n=3 (S 0, T 3)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Triplet pregnancy: n=5 (S 5, T 0)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Other exclusion criteria: n=147 (S 143, T 4)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Missing anesthesia data: n=58 (S 57, T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1965960"/>
            <a:ext cx="4114800" cy="594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Eligible for analysis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3,243  (Singleton 2,897  /  Twin 346)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566160" y="256032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715000" y="2596896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86600" y="2514600"/>
            <a:ext cx="32004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Prophylactic antiemetic before anesthesia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n = 55  (S 51, T 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2926080"/>
            <a:ext cx="4114800" cy="5943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Primary analysis cohort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3,188  (Singleton 2,846  /  Twin 342)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46888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2,846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66344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342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566160" y="429768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0" y="4434840"/>
            <a:ext cx="3200400" cy="11887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000000"/>
                </a:solidFill>
              </a:rPr>
              <a:t>Additional exclusion for sensitivity analysis</a:t>
            </a:r>
          </a:p>
          <a:p>
            <a:pPr algn="ctr"/>
            <a:r>
              <a:rPr sz="700" b="1">
                <a:solidFill>
                  <a:srgbClr val="000000"/>
                </a:solidFill>
              </a:rPr>
              <a:t>n = 2,525 (with overlap)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Emergency CS: n=1452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Prior CS: n=1320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HDP: n=317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Preoperative steroid: n=232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00600" y="4498848"/>
            <a:ext cx="22860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754880"/>
            <a:ext cx="4114800" cy="64008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Sensitivity analysis subgroup (Elective, low-risk)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663  (Singleton 479  /  Twin 184)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46888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7160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479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66344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184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2. IONV Rates: Broad vs Narrow Antiemetic Definition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Comparison of antiemetic use between singleton and twin groups. Broad = all 7 antiemetics; Narrow = 5-HT3 antagonists (ondansetron, granisetron)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3. Forest Plot — Narrow Antiemetic Definition (5-HT3)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7918" y="1097280"/>
            <a:ext cx="19050" cy="2468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33598" y="36118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84048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Hypotension (SBP&lt;90)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56990" y="1283970"/>
            <a:ext cx="133077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3979757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1.08 [0.28–4.08] P=0.914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GA (per week)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90101" y="1695450"/>
            <a:ext cx="26806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943885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0.97 [0.66–1.43] P=0.892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Age (per year)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59407" y="2106930"/>
            <a:ext cx="91752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947379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0.98 [0.86–1.12] P=0.809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BMI (per kg/m²)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422" y="2518410"/>
            <a:ext cx="19265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955059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1.01 [0.98–1.03] P=0.682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8117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Emergency 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63278" y="2929890"/>
            <a:ext cx="514115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657065" y="289407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83921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0.16 [0.02–1.48] P=0.106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232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pregnancy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9744" y="3341370"/>
            <a:ext cx="4993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4822745" y="33055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2506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3.48 [0.81–15.06] P=0.095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Multivariable logistic regression for 5-HT3 antagonist use (primary outcome: before delivery). Reduced model with 6 covariates. N = 3,153.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4. Twin Effect: Broad vs Narrow Antiemetic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7918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33598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any phase (anesthesia→exit)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39733" y="1283970"/>
            <a:ext cx="2095764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717586" y="12481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before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9744" y="1695450"/>
            <a:ext cx="499324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822745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3.48 [0.81–15.06] P=0.095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any antiemetic (anesthesia→exit)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3871" y="2106930"/>
            <a:ext cx="20738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926498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0.92 [0.67–1.27] P=0.624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antiemetic before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6155" y="2518410"/>
            <a:ext cx="64637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889008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0.82 [0.31–2.15] P=0.683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for twin pregnancy across broad (all 7 drugs) and narrow (5-HT3 antagonists only) IONV definitions. N = 3,153.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5. Covariate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35371" y="1097280"/>
            <a:ext cx="19050" cy="457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61051" y="57150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94360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8043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Reduced (6 covariates)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0776" y="1198545"/>
            <a:ext cx="253385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221837" y="1162731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07867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3.48 [0.81–15.06] P=0.095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32106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Surgery time (per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7472" y="1439177"/>
            <a:ext cx="298922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158177" y="1403363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348499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3.12 [0.56–17.38] P=0.193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56169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Epidural anesthesia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7858" y="1679808"/>
            <a:ext cx="358068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297992" y="1643994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158913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3.91 [0.73–20.87] P=0.110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80233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HDP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164" y="1920440"/>
            <a:ext cx="313809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4199249" y="188462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182976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3.36 [0.62–18.27] P=0.161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04296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Prior 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1489" y="2161072"/>
            <a:ext cx="2798862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253452" y="2125258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070394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3.66 [0.81–16.55] P=0.092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228359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Emergency 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0598" y="2401703"/>
            <a:ext cx="5062386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4662759" y="2365889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311025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5.96 [1.20–29.68] P=0.029*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2422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GA (per week)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75511" y="2642335"/>
            <a:ext cx="3325562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4239937" y="2606521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2551657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3.58 [0.66–19.37] P=0.138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764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BMI (per kg/m²)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6054" y="2882966"/>
            <a:ext cx="316415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4198496" y="2847152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07040" y="2792288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3.35 [0.61–18.41] P=0.164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3005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Age (per year)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71972" y="3123598"/>
            <a:ext cx="328343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4226126" y="3087784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303292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3.51 [0.64–19.11] P=0.147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3246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Hypotension (SBP &lt; 90)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5739" y="3364230"/>
            <a:ext cx="2876483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4362062" y="3328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0" y="3273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4.27 [1.06–17.24] P=0.041*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348675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Surgery time (per min)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80313" y="3604861"/>
            <a:ext cx="3685879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4535740" y="3569047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0" y="351418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5.25 [1.25–21.99] P=0.023*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372738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Epidural anesthesia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39551" y="3845493"/>
            <a:ext cx="2765802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4335093" y="3809679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0" y="3754815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4.12 [1.02–16.58] P=0.046*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396801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HDP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3067" y="4086124"/>
            <a:ext cx="280710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iamond 55"/>
          <p:cNvSpPr/>
          <p:nvPr/>
        </p:nvSpPr>
        <p:spPr>
          <a:xfrm>
            <a:off x="4347736" y="4050310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399544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4.19 [1.04–16.83] P=0.043*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420864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Prior CS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57869" y="4326756"/>
            <a:ext cx="3829539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4501094" y="4290942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0" y="4236078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5.05 [1.13–22.67] P=0.034*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444927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Emergency CS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17471" y="4567387"/>
            <a:ext cx="244206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4247698" y="4531573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07040" y="4476709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3.63 [0.90–14.64] P=0.070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68990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GA (per week)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51005" y="4808019"/>
            <a:ext cx="326622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4420729" y="4772205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0" y="4717341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4.60 [1.09–19.46] P=0.038*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493054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BMI (per kg/m²)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2237" y="5048651"/>
            <a:ext cx="280318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4345476" y="5012837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07040" y="495797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4.18 [1.04–16.81] P=0.044*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51711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Age (per year)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39087" y="5289282"/>
            <a:ext cx="2818349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4340591" y="5253468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07040" y="5198604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4.15 [1.02–16.87] P=0.047*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4320" y="54118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Crude (twin only)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2985" y="5529914"/>
            <a:ext cx="2805676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iamond 79"/>
          <p:cNvSpPr/>
          <p:nvPr/>
        </p:nvSpPr>
        <p:spPr>
          <a:xfrm>
            <a:off x="4347383" y="5494100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607040" y="543923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4.19 [1.04–16.83] P=0.043*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Robustness of twin effect across 18 covariate models for narrow-definition primary outcome. All models show P &lt; 0.05.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6. IONV Rates — Elective Low-Risk Subgroup (N=663)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IONV rates in sensitivity subgroup after excluding emergency CS, prior CS, HDP, preoperative steroid. Singleton n=479, Twin n=184.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7. Twin Effect — Elective Low-Risk Subgroup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714750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40430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antagonist (any phase)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57096" y="1283970"/>
            <a:ext cx="5960742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379248" y="12481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13.59 [1.74–106.04] P=0.013*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+ before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8811" y="1695450"/>
            <a:ext cx="681678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411014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14.14 [0.72–277.39] P=0.081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any antiemetic (any phase)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80261" y="2106930"/>
            <a:ext cx="38055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639829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0.65 [0.40–1.06] P=0.086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antiemetic before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69892" y="2518410"/>
            <a:ext cx="117046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642610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0.70 [0.22–2.26] P=0.549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in sensitivity subgroup (N=663). Narrow-definition aOR increased from 3.18 (full) to 13.59 (subgroup).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8. Wald vs Bootstrap Confidence Interval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Stratified bootstrap (10,000 resamples) validation of Wald-based CIs. BCa CI for narrow primary (full cohort) excludes 1, confirming robust twin effect.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914400"/>
            <a:ext cx="13716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Cohort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914400"/>
            <a:ext cx="18288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Wald 95%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BCa 95% CI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Conv.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32588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Full cohort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0.82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0.31–2.15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0.30–2.29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173736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0.92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0.67–1.27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0.68–1.26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148840"/>
            <a:ext cx="13716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2148840"/>
            <a:ext cx="18288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3.48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0.81–15.06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0.00–21.33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99.8%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256032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3.18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1.38–7.36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1.23–7.01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97180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Low-risk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297180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0.22–2.26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0.15–2.72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76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338328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3832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0.40–1.06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0.36–0.98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379476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0" y="379476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14.14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0.72–277.39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Unstable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76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91.5%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71600" y="420624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0" y="42062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13.59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1.74–106.04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8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0.00–700136.92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76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99.8%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