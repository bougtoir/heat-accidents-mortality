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1</a:t>
            </a:r>
          </a:p>
        </p:txBody>
      </p:sp>
      <p:pic>
        <p:nvPicPr>
          <p:cNvPr id="3" name="Picture 2" descr="fig1_neuropathic_unadjusted_en.png"/>
          <p:cNvPicPr>
            <a:picLocks noChangeAspect="1"/>
          </p:cNvPicPr>
          <p:nvPr/>
        </p:nvPicPr>
        <p:blipFill>
          <a:blip r:embed="rId2"/>
          <a:stretch>
            <a:fillRect/>
          </a:stretch>
        </p:blipFill>
        <p:spPr>
          <a:xfrm>
            <a:off x="1066647" y="731520"/>
            <a:ext cx="10058400" cy="4360748"/>
          </a:xfrm>
          <a:prstGeom prst="rect">
            <a:avLst/>
          </a:prstGeom>
        </p:spPr>
      </p:pic>
      <p:sp>
        <p:nvSpPr>
          <p:cNvPr id="4" name="TextBox 3"/>
          <p:cNvSpPr txBox="1"/>
          <p:nvPr/>
        </p:nvSpPr>
        <p:spPr>
          <a:xfrm>
            <a:off x="457200" y="5183708"/>
            <a:ext cx="10972800" cy="914400"/>
          </a:xfrm>
          <a:prstGeom prst="rect">
            <a:avLst/>
          </a:prstGeom>
          <a:noFill/>
        </p:spPr>
        <p:txBody>
          <a:bodyPr wrap="square">
            <a:spAutoFit/>
          </a:bodyPr>
          <a:lstStyle/>
          <a:p>
            <a:pPr>
              <a:defRPr sz="1200">
                <a:latin typeface="Arial"/>
              </a:defRPr>
            </a:pPr>
            <a:r>
              <a:t>Figure 1. Outpatient neuropathic pain drug prescribing per surgery by prefecture. Bars represent individual prefectures ordered by prescribing index. Bars are coloured by regional block. Dashed line indicates the national mean.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2</a:t>
            </a:r>
          </a:p>
        </p:txBody>
      </p:sp>
      <p:pic>
        <p:nvPicPr>
          <p:cNvPr id="3" name="Picture 2" descr="fig2_confounder_correlations_en.png"/>
          <p:cNvPicPr>
            <a:picLocks noChangeAspect="1"/>
          </p:cNvPicPr>
          <p:nvPr/>
        </p:nvPicPr>
        <p:blipFill>
          <a:blip r:embed="rId2"/>
          <a:stretch>
            <a:fillRect/>
          </a:stretch>
        </p:blipFill>
        <p:spPr>
          <a:xfrm>
            <a:off x="3300358" y="731520"/>
            <a:ext cx="5590979"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2. Correlation between neuropathic pain prescribing and confounder disease proxies across 47 prefectures. Each dot represents one prefecture. Diabetes drugs show the strongest correlation (r=0.87).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3</a:t>
            </a:r>
          </a:p>
        </p:txBody>
      </p:sp>
      <p:pic>
        <p:nvPicPr>
          <p:cNvPr id="3" name="Picture 2" descr="fig4_region_unadj_vs_adj_en.png"/>
          <p:cNvPicPr>
            <a:picLocks noChangeAspect="1"/>
          </p:cNvPicPr>
          <p:nvPr/>
        </p:nvPicPr>
        <p:blipFill>
          <a:blip r:embed="rId2"/>
          <a:stretch>
            <a:fillRect/>
          </a:stretch>
        </p:blipFill>
        <p:spPr>
          <a:xfrm>
            <a:off x="1066647" y="731520"/>
            <a:ext cx="10058400" cy="4364966"/>
          </a:xfrm>
          <a:prstGeom prst="rect">
            <a:avLst/>
          </a:prstGeom>
        </p:spPr>
      </p:pic>
      <p:sp>
        <p:nvSpPr>
          <p:cNvPr id="4" name="TextBox 3"/>
          <p:cNvSpPr txBox="1"/>
          <p:nvPr/>
        </p:nvSpPr>
        <p:spPr>
          <a:xfrm>
            <a:off x="457200" y="5187926"/>
            <a:ext cx="10972800" cy="914400"/>
          </a:xfrm>
          <a:prstGeom prst="rect">
            <a:avLst/>
          </a:prstGeom>
          <a:noFill/>
        </p:spPr>
        <p:txBody>
          <a:bodyPr wrap="square">
            <a:spAutoFit/>
          </a:bodyPr>
          <a:lstStyle/>
          <a:p>
            <a:pPr>
              <a:defRPr sz="1200">
                <a:latin typeface="Arial"/>
              </a:defRPr>
            </a:pPr>
            <a:r>
              <a:t>Figure 3. Regional comparison of neuropathic pain prescribing: (a) unadjusted and (b) after adjustment for confounding disease proxies. Error bars indicate SD.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4</a:t>
            </a:r>
          </a:p>
        </p:txBody>
      </p:sp>
      <p:pic>
        <p:nvPicPr>
          <p:cNvPr id="3" name="Picture 2" descr="fig_cslc_demand_supply_en.png"/>
          <p:cNvPicPr>
            <a:picLocks noChangeAspect="1"/>
          </p:cNvPicPr>
          <p:nvPr/>
        </p:nvPicPr>
        <p:blipFill>
          <a:blip r:embed="rId2"/>
          <a:stretch>
            <a:fillRect/>
          </a:stretch>
        </p:blipFill>
        <p:spPr>
          <a:xfrm>
            <a:off x="2486199" y="731520"/>
            <a:ext cx="7219296"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4. Demand–supply dissociation: CSLC symptom prevalence rate (per 1,000 population) vs acute analgesic prescribing per surgery across 47 prefectures. Each dot represents one prefecture, coloured by regional block. The near-zero correlation (r=0.03, P=0.85) indicates that prescribing variation is dissociated from symptom burden.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