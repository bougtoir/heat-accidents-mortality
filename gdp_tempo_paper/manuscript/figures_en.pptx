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In-sample 1-year GDP growth RMSE across M0-M4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M0-M4 for 39 countries (lower is better).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Out-of-sample MAPE on 2015-19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2015-19 held-out window; M2 achieves 13% relative improvement vs M0.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PIM stock K_tang+betaK_I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stock K_tang+betaK_I versus CWON PCA (within-country demeaned log).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gamma_price sensitivity of PIM/CWON log-ratio; Japan gap closes around gamma=+0.02.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gamma_price sensitivity of PIM/CWON log-ratio; Japan gap closes around gamma=+0.02.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6. Relational PIM diagnostics: rho_2 across 39 countries under M0 vs M4.</a:t>
            </a:r>
          </a:p>
        </p:txBody>
      </p:sp>
      <p:pic>
        <p:nvPicPr>
          <p:cNvPr id="3" name="Picture 2" descr="fig6_rpi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Relational PIM diagnostics: rho_2 across 39 countries under M0 vs M4.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7. Delta-mu sensitivity: mu_hat under +/-20% depreciation perturbation.</a:t>
            </a:r>
          </a:p>
        </p:txBody>
      </p:sp>
      <p:pic>
        <p:nvPicPr>
          <p:cNvPr id="3" name="Picture 2" descr="fig7_delta_sensitiv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Delta-mu sensitivity: mu_hat under +/-20% depreciation perturbation.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8. Conditional OOS evaluation: interior-solution vs boundary countries.</a:t>
            </a:r>
          </a:p>
        </p:txBody>
      </p:sp>
      <p:pic>
        <p:nvPicPr>
          <p:cNvPr id="3" name="Picture 2" descr="fig8_conditional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Conditional OOS evaluation: interior-solution vs boundary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9. Cross-sectional regression of rho_2 on R&amp;D intensity.</a:t>
            </a:r>
          </a:p>
        </p:txBody>
      </p:sp>
      <p:pic>
        <p:nvPicPr>
          <p:cNvPr id="3" name="Picture 2" descr="fig9_rho2_regress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Cross-sectional regression of rho_2 on R&amp;D intensity.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10. Capital-stock divergence: K_obs vs K_M0 over time for six representative countries.</a:t>
            </a:r>
          </a:p>
        </p:txBody>
      </p:sp>
      <p:pic>
        <p:nvPicPr>
          <p:cNvPr id="3" name="Picture 2" descr="fig10_k_divergen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Capital-stock divergence: K_obs vs K_M0 over time for six representative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11. Measurement consequence: K-level change vs TFP shift (country means, 2010-2019).</a:t>
            </a:r>
          </a:p>
        </p:txBody>
      </p:sp>
      <p:pic>
        <p:nvPicPr>
          <p:cNvPr id="3" name="Picture 2" descr="fig11_tfp_consequen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Measurement consequence: K-level change vs TFP shift (country means, 2010-2019).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12. Implied labour-share correction from tempo-adjusted capital (country means, 2010-2019).</a:t>
            </a:r>
          </a:p>
        </p:txBody>
      </p:sp>
      <p:pic>
        <p:nvPicPr>
          <p:cNvPr id="3" name="Picture 2" descr="fig12_labor_sh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Implied labour-share correction from tempo-adjusted capital (country means, 2010-2019).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13. Solow-residual decomposition: M0 vs tempo-adjusted (M2) vs joint (M4) for six representative countries.</a:t>
            </a:r>
          </a:p>
        </p:txBody>
      </p:sp>
      <p:pic>
        <p:nvPicPr>
          <p:cNvPr id="3" name="Picture 2" descr="fig13_solow_decom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Solow-residual decomposition: M0 vs tempo-adjusted (M2) vs joint (M4) for six representative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14. National wealth: CWON official vs intangible-adjusted produced capital (2019).</a:t>
            </a:r>
          </a:p>
        </p:txBody>
      </p:sp>
      <p:pic>
        <p:nvPicPr>
          <p:cNvPr id="3" name="Picture 2" descr="fig14_counterfactual_wealth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National wealth: CWON official vs intangible-adjusted produced capital (2019).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