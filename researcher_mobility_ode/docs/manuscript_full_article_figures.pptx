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Sustaining Heterogeneity through Interventions in Global AI/ML Researcher Mobility: A Transition-Rate Framework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Data-driven manuscript figures and tables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1: Equilibrium T vs minimum viable threshold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1_equilibrium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2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Blue bars: equilibrium T; orange bars: threshold M. All groups remain above the threshold, but margins vary widely.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2: Closest point-of-no-return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2_pnr_proxim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Smaller values mean a smaller proportional change in the listed rate is required to reach the threshold for the stated target pool.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3: Historical counterfactual margin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3_historical_mar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8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Positive values mean the late-window rates would produce a larger safety margin than the early-window rates if they persisted; negative values mean the margin would shrink. The comparison is across point estimates; uncertainty is substantial.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4: Bootstrap 95% CI for equilibrium 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4_bootstrap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103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Intervals are asymmetric and wide, reflecting model uncertainty.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1: Descriptive cohort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5097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  <a:gridCol w="11887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career_start_mean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abroad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2011.5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2009.0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2006.4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2: Equilibrium and inflow parameters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110996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  <a:gridCol w="123444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T_eq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T/M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r_obs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r_crit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6.27929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0.00510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9.36261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0.11765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22.67343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7.05353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0.01985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4.09717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0.00620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4.06036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0.17647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8.97530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0.12059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0.00281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15.87655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0.10294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5.81317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3: Top transition-rate elasticities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2nd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3rd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el3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beta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-2.317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-2.124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4: Closest point of no return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98755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  <a:gridCol w="164592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Current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Crit.factor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Proximity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0.756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2.7692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0.828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1.5548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0.841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1.1638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0.858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0.8723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2.8237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0.893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2.3837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0.937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domestic_active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1.5156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0.956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5: Saturating inflow extension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73152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Linear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Saturating 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ε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0.01429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0.00870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0.01538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0.01818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0.02222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0.01000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0.00714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6: Historical counterfactual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53619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70"/>
              </a:tblGrid>
              <a:tr h="548639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n_late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delta_T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ΔT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M_late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early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late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Δ margin</a:t>
                      </a:r>
                    </a:p>
                  </a:txBody>
                  <a:tcPr/>
                </a:tc>
              </a:tr>
              <a:tr h="548639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-325.68763060327603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-29.2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129.0692124105012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-325.7</a:t>
                      </a:r>
                    </a:p>
                  </a:txBody>
                  <a:tcPr/>
                </a:tc>
              </a:tr>
              <a:tr h="548641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-456.1706420459126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-32.8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112.34408602150538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-456.2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7: Top policy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9728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Lever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Direction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Change (%)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Margin gain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Gain per 10%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88.9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141.0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168.3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101.2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49.4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58.3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202.6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decrease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92.0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8: Bootstrap 95% CI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1005840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T 95% CI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 95% CI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[260, 1595]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[207, 1517]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1214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[761, 5174]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1532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[638, 5072]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[1492, 1502]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[1366, 1446]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[883, 899]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[691, 851]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[96, 470]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[46, 402]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[189, 895]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[144, 848]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[506, 518]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[356, 473]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1785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[842, 3659]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2210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[756, 3586]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[412, 2521]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[334, 2438]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5: Observed and projected transition rates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rates_by_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9190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mark observed 2000-2016 rates; dashed lines mark projected 2017-2026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6: Inter-civilisation abroad author-years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interciv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6431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Rows are origin civilisations; columns are destination civilisations approximated by recent_group.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7: Observed vs projected compartment counts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annual_projection_vs_observ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83459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Solid lines are observed counts; dashed lines are 2017-2026 projections. The vertical dotted line is 2016.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8: Japan compartment model and cross-civilisation transition-rate ladders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8_japan_compartmen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50436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Left: Japan's six compartments; right: Japan highlighted against other civilisations on each transition rate.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Figure 9: T/M safety margin versus closest PNR proximity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pic>
        <p:nvPicPr>
          <p:cNvPr id="5" name="Picture 4" descr="fig9_tm_pnr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144000" cy="711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371600" y="5486400"/>
            <a:ext cx="91440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Lower-left points are the most fragile. Japan is highlighted in red.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9: Mean observed annual transition rates, 2000-2016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8961119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59"/>
                <a:gridCol w="1280159"/>
                <a:gridCol w="1280159"/>
                <a:gridCol w="1280159"/>
                <a:gridCol w="1280159"/>
                <a:gridCol w="1280159"/>
                <a:gridCol w="1280165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I_total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0.1129176379176379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0.15173091365625077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0.1417249417249417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0.06086050415316485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0.041833207061297735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1.588235294117647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0.047545598762704575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0.13902267736763677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0.12181336418611399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0.06799587647162213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0.02681241691779005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0.06396181707275748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0.18984126984126978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0.13046281630447018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0.07486960638957495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0.05741241221177246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1.5294117647058822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0.08205568021963228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0.29100529100529093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0.1326110541617339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0.07790892074769187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0.15885368948496636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1.25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0.05340135985824978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0.3333333333333333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0.10170404247700691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0.072498564486719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0.04921779348050002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1.5294117647058822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0.09591154459575511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0.24004884004884006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0.1285588680325522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0.08731763592444705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0.08033585418713651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1.1764705882352942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0.09078955232801385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0.21396825396825397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0.19933058394596853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0.06507524037958819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0.0881659023795685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0.8823529411764706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0.04506616990458503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0.20043186340764194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0.08705484019374365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0.05182305235562991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0.036227248090891374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2.411764705882353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0.0691164519185129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0.16127421339903422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0.15765794688955578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0.04848176699156801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0.02323216194912871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2.8823529411764706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10: Top origin-destination abroad author-year pairs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5486400" cy="603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548640">
                <a:tc>
                  <a:txBody>
                    <a:bodyPr/>
                    <a:lstStyle/>
                    <a:p>
                      <a:r>
                        <a:t>Origin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Destination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Author-years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61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59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52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48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43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40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11: Projection accuracy by civilisation,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Group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Anglosphere ex-US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25.2%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Continental Europe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27.2%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Hindu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39.4%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Islamic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4.99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68.9%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Japanese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32.1%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Civilizations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37.6%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Other Western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42.9%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Sinic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70.9%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United States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38.2%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Table 12: Projection accuracy by compartment, 2017-2023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097280"/>
          <a:ext cx="60350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011680"/>
              </a:tblGrid>
              <a:tr h="548640">
                <a:tc>
                  <a:txBody>
                    <a:bodyPr/>
                    <a:lstStyle/>
                    <a:p>
                      <a:r>
                        <a:t>Compartment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RMSE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MAPE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72.1%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29.4%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28.9%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44.2%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47.0%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P_D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33.3%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