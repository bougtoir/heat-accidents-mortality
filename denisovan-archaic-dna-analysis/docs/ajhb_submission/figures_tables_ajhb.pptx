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1</a:t>
            </a:r>
          </a:p>
        </p:txBody>
      </p:sp>
      <p:pic>
        <p:nvPicPr>
          <p:cNvPr id="3" name="Picture 2" descr="fig1_sharing_vs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03" y="777240"/>
            <a:ext cx="11050913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Archaic-segment profile similarity and geographic distance. Each point is a dependent population pair. Lines are descriptive distance-only fits; reported P values use population-label quadratic assignment permutations.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2</a:t>
            </a:r>
          </a:p>
        </p:txBody>
      </p:sp>
      <p:pic>
        <p:nvPicPr>
          <p:cNvPr id="3" name="Picture 2" descr="fig2_sharing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Pairwise archaic-segment profile similarity for 31 prespecified populations. The subset is displayed for legibility; all 66 populations were analyzed.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3</a:t>
            </a:r>
          </a:p>
        </p:txBody>
      </p:sp>
      <p:pic>
        <p:nvPicPr>
          <p:cNvPr id="3" name="Picture 2" descr="fig4_sensitivity_admi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158" y="777240"/>
            <a:ext cx="8719202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Sensitivity of the descriptive Neanderthal distance correlation to exclusion of designated recently admixed populations.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4</a:t>
            </a:r>
          </a:p>
        </p:txBody>
      </p:sp>
      <p:pic>
        <p:nvPicPr>
          <p:cNvPr id="3" name="Picture 2" descr="fig5_windo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856" y="777240"/>
            <a:ext cx="809580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geographic distance correlations at 250-kb, 500-kb, and 1-Mb window sizes. Quadratic assignment procedure results are tabulated in Supplementary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5</a:t>
            </a:r>
          </a:p>
        </p:txBody>
      </p:sp>
      <p:pic>
        <p:nvPicPr>
          <p:cNvPr id="3" name="Picture 2" descr="fig5_abo_subline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19920"/>
            <a:ext cx="11155680" cy="448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ABO-centered analysis preserving the historical grouped-bar and segment-map layout. Equal maximum-similarity ties are excluded from the displayed three-reference proportions and retained in Supplementary Data. The Pima segment overlaps ABO; the Maya segment is within the wider interval but does not overlap the gene. Counts are segments, not regional frequencies.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S1</a:t>
            </a:r>
          </a:p>
        </p:txBody>
      </p:sp>
      <p:pic>
        <p:nvPicPr>
          <p:cNvPr id="3" name="Picture 2" descr="figS1_ful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57" y="777240"/>
            <a:ext cx="11127805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Complete 66-population Neanderthal and Denisovan profile-similarity matrices.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S2</a:t>
            </a:r>
          </a:p>
        </p:txBody>
      </p:sp>
      <p:pic>
        <p:nvPicPr>
          <p:cNvPr id="3" name="Picture 2" descr="fig3_minard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90" y="777240"/>
            <a:ext cx="943473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Minard-style schematic of human dispersal and archaic introgression. Band widths, branch positions, and event placement are illustrative and do not estimate migration magnitude, ancestry proportion, or a route supported by the present analysis.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S3</a:t>
            </a:r>
          </a:p>
        </p:txBody>
      </p:sp>
      <p:pic>
        <p:nvPicPr>
          <p:cNvPr id="3" name="Picture 2" descr="fig6_o2_int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22707"/>
            <a:ext cx="11155680" cy="48754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O2 blood-group subtype-defining allele frequencies and ABO-window segment-carrier frequencies. The panels use different sources and are not an association analysis; proximity does not establish that the O2 allele is Neanderthal-derived.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S4</a:t>
            </a:r>
          </a:p>
        </p:txBody>
      </p:sp>
      <p:pic>
        <p:nvPicPr>
          <p:cNvPr id="3" name="Picture 2" descr="fig7_ane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3769" y="777240"/>
            <a:ext cx="8033980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Ancient North Eurasian contextual hypothesis. Dashed arrows represent a testable narrative, not evidence that either observed segment followed the illustrated route.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S5</a:t>
            </a:r>
          </a:p>
        </p:txBody>
      </p:sp>
      <p:pic>
        <p:nvPicPr>
          <p:cNvPr id="3" name="Picture 2" descr="fig8_temporal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620" y="777240"/>
            <a:ext cx="10238278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Descriptive ancient and modern ABO-window summaries generated by different pipelines; no formal temporal comparison is made.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Figure S6</a:t>
            </a:r>
          </a:p>
        </p:txBody>
      </p:sp>
      <p:pic>
        <p:nvPicPr>
          <p:cNvPr id="3" name="Picture 2" descr="fig9_bivariate_world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376" y="777239"/>
            <a:ext cx="8530766" cy="5166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Literature-derived global context. Circle size represents approximate Neanderthal ancestry and color intensity represents approximate Denisovan ancestry. Values were not used in the pairwise statistical models.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1. Positive-residual Neanderthal pairs after false discovery rate control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794"/>
                <a:gridCol w="1619794"/>
                <a:gridCol w="1619794"/>
                <a:gridCol w="1619794"/>
                <a:gridCol w="1619794"/>
                <a:gridCol w="1619794"/>
                <a:gridCol w="1619796"/>
              </a:tblGrid>
              <a:tr h="251460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Population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1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 2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Distance (km)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Sharing (r)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z-score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251460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qualifying pair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No z&gt;2 and q&lt;0.10 result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The prespecified family contains all non-admixed population pairs. No pair met both z&gt;2 and Benjamini-Hochberg q&lt;0.10; the Denisovan analysis likewise identified no qualifying pair. Complete nominal rankings and dependence-aware model results are provided in Supplementary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0972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latin typeface="Arial"/>
              </a:defRPr>
            </a:pPr>
            <a:r>
              <a:t>Table 2. ABO-window Neanderthal-reference composition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14400"/>
          <a:ext cx="11338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7712"/>
                <a:gridCol w="2267712"/>
                <a:gridCol w="2267712"/>
                <a:gridCol w="2267712"/>
                <a:gridCol w="2267712"/>
              </a:tblGrid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Altai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Vindija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latin typeface="Arial"/>
                        </a:defRPr>
                      </a:pPr>
                      <a:r>
                        <a:t>Chagyrskaya %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East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Europe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46.2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Indigenous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Admixed Americas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61.2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Central/South Asia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Middle 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52.3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36.4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Oceania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latin typeface="Arial"/>
                        </a:defRPr>
                      </a:pPr>
                      <a:r>
                        <a:t>100.0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59893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>
                <a:latin typeface="Arial"/>
              </a:defRPr>
            </a:pPr>
            <a:r>
              <a:t>Note. Counts are classifiable segments, not individuals. Percentages use the three-reference denominator shown by n. Equal maximum-similarity ties are excluded from these percentages but retained in Supplementary Data. The 2/2 Indigenous American value is not a regional frequency estimate; only one segment overlaps ABO.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