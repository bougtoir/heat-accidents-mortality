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38560" cy="502920"/>
          </a:xfrm>
          <a:prstGeom prst="rect">
            <a:avLst/>
          </a:prstGeom>
          <a:noFill/>
        </p:spPr>
        <p:txBody>
          <a:bodyPr wrap="none">
            <a:spAutoFit/>
          </a:bodyPr>
          <a:lstStyle/>
          <a:p>
            <a:pPr algn="ctr">
              <a:defRPr sz="2200" b="1">
                <a:latin typeface="Arial"/>
              </a:defRPr>
            </a:pPr>
            <a:r>
              <a:t>Figure 1</a:t>
            </a:r>
          </a:p>
        </p:txBody>
      </p:sp>
      <p:pic>
        <p:nvPicPr>
          <p:cNvPr id="3" name="Picture 2" descr="fig1_sharing_vs_distance.png"/>
          <p:cNvPicPr>
            <a:picLocks noChangeAspect="1"/>
          </p:cNvPicPr>
          <p:nvPr/>
        </p:nvPicPr>
        <p:blipFill>
          <a:blip r:embed="rId2"/>
          <a:stretch>
            <a:fillRect/>
          </a:stretch>
        </p:blipFill>
        <p:spPr>
          <a:xfrm>
            <a:off x="554144" y="777240"/>
            <a:ext cx="11053230" cy="5166360"/>
          </a:xfrm>
          <a:prstGeom prst="rect">
            <a:avLst/>
          </a:prstGeom>
        </p:spPr>
      </p:pic>
      <p:sp>
        <p:nvSpPr>
          <p:cNvPr id="4" name="TextBox 3"/>
          <p:cNvSpPr txBox="1"/>
          <p:nvPr/>
        </p:nvSpPr>
        <p:spPr>
          <a:xfrm>
            <a:off x="502920" y="6108192"/>
            <a:ext cx="11155680" cy="530352"/>
          </a:xfrm>
          <a:prstGeom prst="rect">
            <a:avLst/>
          </a:prstGeom>
          <a:noFill/>
        </p:spPr>
        <p:txBody>
          <a:bodyPr wrap="none">
            <a:spAutoFit/>
          </a:bodyPr>
          <a:lstStyle/>
          <a:p>
            <a:pPr algn="l">
              <a:defRPr sz="900">
                <a:latin typeface="Arial"/>
              </a:defRPr>
            </a:pPr>
            <a:r>
              <a:t>Archaic-segment sharing and geographic distance. Each point is a population pair. Lines summarize distance associations for Neanderthal and Denisovan sharing. Source identifiers in selected labels include CHS (Southern Han Chinese), FIN (Finnish), and PEL (Peruvian in Lima). Pairwise rows are dependent and are not interpreted as independent observations.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38560" cy="502920"/>
          </a:xfrm>
          <a:prstGeom prst="rect">
            <a:avLst/>
          </a:prstGeom>
          <a:noFill/>
        </p:spPr>
        <p:txBody>
          <a:bodyPr wrap="none">
            <a:spAutoFit/>
          </a:bodyPr>
          <a:lstStyle/>
          <a:p>
            <a:pPr algn="ctr">
              <a:defRPr sz="2200" b="1">
                <a:latin typeface="Arial"/>
              </a:defRPr>
            </a:pPr>
            <a:r>
              <a:t>Figure 2</a:t>
            </a:r>
          </a:p>
        </p:txBody>
      </p:sp>
      <p:pic>
        <p:nvPicPr>
          <p:cNvPr id="3" name="Picture 2" descr="fig2_sharing_heatmap.png"/>
          <p:cNvPicPr>
            <a:picLocks noChangeAspect="1"/>
          </p:cNvPicPr>
          <p:nvPr/>
        </p:nvPicPr>
        <p:blipFill>
          <a:blip r:embed="rId2"/>
          <a:stretch>
            <a:fillRect/>
          </a:stretch>
        </p:blipFill>
        <p:spPr>
          <a:xfrm>
            <a:off x="518555" y="777240"/>
            <a:ext cx="11124408" cy="5166360"/>
          </a:xfrm>
          <a:prstGeom prst="rect">
            <a:avLst/>
          </a:prstGeom>
        </p:spPr>
      </p:pic>
      <p:sp>
        <p:nvSpPr>
          <p:cNvPr id="4" name="TextBox 3"/>
          <p:cNvSpPr txBox="1"/>
          <p:nvPr/>
        </p:nvSpPr>
        <p:spPr>
          <a:xfrm>
            <a:off x="502920" y="6108192"/>
            <a:ext cx="11155680" cy="530352"/>
          </a:xfrm>
          <a:prstGeom prst="rect">
            <a:avLst/>
          </a:prstGeom>
          <a:noFill/>
        </p:spPr>
        <p:txBody>
          <a:bodyPr wrap="none">
            <a:spAutoFit/>
          </a:bodyPr>
          <a:lstStyle/>
          <a:p>
            <a:pPr algn="l">
              <a:defRPr sz="900">
                <a:latin typeface="Arial"/>
              </a:defRPr>
            </a:pPr>
            <a:r>
              <a:t>Pairwise sharing heat maps for 31 representative populations. Axis labels are source population identifiers. The displayed subset improves legibility; regression and Mantel analyses used all 66 populations.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38560" cy="502920"/>
          </a:xfrm>
          <a:prstGeom prst="rect">
            <a:avLst/>
          </a:prstGeom>
          <a:noFill/>
        </p:spPr>
        <p:txBody>
          <a:bodyPr wrap="none">
            <a:spAutoFit/>
          </a:bodyPr>
          <a:lstStyle/>
          <a:p>
            <a:pPr algn="ctr">
              <a:defRPr sz="2200" b="1">
                <a:latin typeface="Arial"/>
              </a:defRPr>
            </a:pPr>
            <a:r>
              <a:t>Figure 3</a:t>
            </a:r>
          </a:p>
        </p:txBody>
      </p:sp>
      <p:pic>
        <p:nvPicPr>
          <p:cNvPr id="3" name="Picture 2" descr="fig3_minard_migration.png"/>
          <p:cNvPicPr>
            <a:picLocks noChangeAspect="1"/>
          </p:cNvPicPr>
          <p:nvPr/>
        </p:nvPicPr>
        <p:blipFill>
          <a:blip r:embed="rId2"/>
          <a:stretch>
            <a:fillRect/>
          </a:stretch>
        </p:blipFill>
        <p:spPr>
          <a:xfrm>
            <a:off x="1094917" y="777240"/>
            <a:ext cx="9971685" cy="5166360"/>
          </a:xfrm>
          <a:prstGeom prst="rect">
            <a:avLst/>
          </a:prstGeom>
        </p:spPr>
      </p:pic>
      <p:sp>
        <p:nvSpPr>
          <p:cNvPr id="4" name="TextBox 3"/>
          <p:cNvSpPr txBox="1"/>
          <p:nvPr/>
        </p:nvSpPr>
        <p:spPr>
          <a:xfrm>
            <a:off x="502920" y="6108192"/>
            <a:ext cx="11155680" cy="530352"/>
          </a:xfrm>
          <a:prstGeom prst="rect">
            <a:avLst/>
          </a:prstGeom>
          <a:noFill/>
        </p:spPr>
        <p:txBody>
          <a:bodyPr wrap="none">
            <a:spAutoFit/>
          </a:bodyPr>
          <a:lstStyle/>
          <a:p>
            <a:pPr algn="l">
              <a:defRPr sz="900">
                <a:latin typeface="Arial"/>
              </a:defRPr>
            </a:pPr>
            <a:r>
              <a:t>Schematic context for human dispersal and archaic introgression. Line widths and branch positions are illustrative and do not estimate migration magnitude, ancestry proportion, or event timing beyond the labeled broad intervals.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38560" cy="502920"/>
          </a:xfrm>
          <a:prstGeom prst="rect">
            <a:avLst/>
          </a:prstGeom>
          <a:noFill/>
        </p:spPr>
        <p:txBody>
          <a:bodyPr wrap="none">
            <a:spAutoFit/>
          </a:bodyPr>
          <a:lstStyle/>
          <a:p>
            <a:pPr algn="ctr">
              <a:defRPr sz="2200" b="1">
                <a:latin typeface="Arial"/>
              </a:defRPr>
            </a:pPr>
            <a:r>
              <a:t>Figure 4</a:t>
            </a:r>
          </a:p>
        </p:txBody>
      </p:sp>
      <p:pic>
        <p:nvPicPr>
          <p:cNvPr id="3" name="Picture 2" descr="fig4_sensitivity_admixed.png"/>
          <p:cNvPicPr>
            <a:picLocks noChangeAspect="1"/>
          </p:cNvPicPr>
          <p:nvPr/>
        </p:nvPicPr>
        <p:blipFill>
          <a:blip r:embed="rId2"/>
          <a:stretch>
            <a:fillRect/>
          </a:stretch>
        </p:blipFill>
        <p:spPr>
          <a:xfrm>
            <a:off x="1724202" y="777240"/>
            <a:ext cx="8713115" cy="5166360"/>
          </a:xfrm>
          <a:prstGeom prst="rect">
            <a:avLst/>
          </a:prstGeom>
        </p:spPr>
      </p:pic>
      <p:sp>
        <p:nvSpPr>
          <p:cNvPr id="4" name="TextBox 3"/>
          <p:cNvSpPr txBox="1"/>
          <p:nvPr/>
        </p:nvSpPr>
        <p:spPr>
          <a:xfrm>
            <a:off x="502920" y="6108192"/>
            <a:ext cx="11155680" cy="530352"/>
          </a:xfrm>
          <a:prstGeom prst="rect">
            <a:avLst/>
          </a:prstGeom>
          <a:noFill/>
        </p:spPr>
        <p:txBody>
          <a:bodyPr wrap="none">
            <a:spAutoFit/>
          </a:bodyPr>
          <a:lstStyle/>
          <a:p>
            <a:pPr algn="l">
              <a:defRPr sz="900">
                <a:latin typeface="Arial"/>
              </a:defRPr>
            </a:pPr>
            <a:r>
              <a:t>Sensitivity of Neanderthal sharing-distance correlation to exclusion of designated admixed populations. Correlations describe pairwise rows and are accompanied by matrix-level tests in the main analysis.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38560" cy="502920"/>
          </a:xfrm>
          <a:prstGeom prst="rect">
            <a:avLst/>
          </a:prstGeom>
          <a:noFill/>
        </p:spPr>
        <p:txBody>
          <a:bodyPr wrap="none">
            <a:spAutoFit/>
          </a:bodyPr>
          <a:lstStyle/>
          <a:p>
            <a:pPr algn="ctr">
              <a:defRPr sz="2200" b="1">
                <a:latin typeface="Arial"/>
              </a:defRPr>
            </a:pPr>
            <a:r>
              <a:t>Figure 5</a:t>
            </a:r>
          </a:p>
        </p:txBody>
      </p:sp>
      <p:pic>
        <p:nvPicPr>
          <p:cNvPr id="3" name="Picture 2" descr="fig5_abo_sublineage.png"/>
          <p:cNvPicPr>
            <a:picLocks noChangeAspect="1"/>
          </p:cNvPicPr>
          <p:nvPr/>
        </p:nvPicPr>
        <p:blipFill>
          <a:blip r:embed="rId2"/>
          <a:stretch>
            <a:fillRect/>
          </a:stretch>
        </p:blipFill>
        <p:spPr>
          <a:xfrm>
            <a:off x="972872" y="777240"/>
            <a:ext cx="10215775" cy="5166360"/>
          </a:xfrm>
          <a:prstGeom prst="rect">
            <a:avLst/>
          </a:prstGeom>
        </p:spPr>
      </p:pic>
      <p:sp>
        <p:nvSpPr>
          <p:cNvPr id="4" name="TextBox 3"/>
          <p:cNvSpPr txBox="1"/>
          <p:nvPr/>
        </p:nvSpPr>
        <p:spPr>
          <a:xfrm>
            <a:off x="502920" y="6108192"/>
            <a:ext cx="11155680" cy="530352"/>
          </a:xfrm>
          <a:prstGeom prst="rect">
            <a:avLst/>
          </a:prstGeom>
          <a:noFill/>
        </p:spPr>
        <p:txBody>
          <a:bodyPr wrap="none">
            <a:spAutoFit/>
          </a:bodyPr>
          <a:lstStyle/>
          <a:p>
            <a:pPr algn="l">
              <a:defRPr sz="900">
                <a:latin typeface="Arial"/>
              </a:defRPr>
            </a:pPr>
            <a:r>
              <a:t>Neanderthal-like segments in the 500-kb ABO-centered interval. (A) Closest-reference composition retains tied maxima. n denotes segments, not individuals. (B) Traceable segments for selected HGDP individuals. The Pima and one Bougainville segment overlap ABO; the Maya segment is within the interval but downstream of the gene.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38560" cy="502920"/>
          </a:xfrm>
          <a:prstGeom prst="rect">
            <a:avLst/>
          </a:prstGeom>
          <a:noFill/>
        </p:spPr>
        <p:txBody>
          <a:bodyPr wrap="none">
            <a:spAutoFit/>
          </a:bodyPr>
          <a:lstStyle/>
          <a:p>
            <a:pPr algn="ctr">
              <a:defRPr sz="2200" b="1">
                <a:latin typeface="Arial"/>
              </a:defRPr>
            </a:pPr>
            <a:r>
              <a:t>Figure 6</a:t>
            </a:r>
          </a:p>
        </p:txBody>
      </p:sp>
      <p:pic>
        <p:nvPicPr>
          <p:cNvPr id="3" name="Picture 2" descr="fig6_o2_introgression.png"/>
          <p:cNvPicPr>
            <a:picLocks noChangeAspect="1"/>
          </p:cNvPicPr>
          <p:nvPr/>
        </p:nvPicPr>
        <p:blipFill>
          <a:blip r:embed="rId2"/>
          <a:stretch>
            <a:fillRect/>
          </a:stretch>
        </p:blipFill>
        <p:spPr>
          <a:xfrm>
            <a:off x="1120195" y="777240"/>
            <a:ext cx="9921128" cy="5166360"/>
          </a:xfrm>
          <a:prstGeom prst="rect">
            <a:avLst/>
          </a:prstGeom>
        </p:spPr>
      </p:pic>
      <p:sp>
        <p:nvSpPr>
          <p:cNvPr id="4" name="TextBox 3"/>
          <p:cNvSpPr txBox="1"/>
          <p:nvPr/>
        </p:nvSpPr>
        <p:spPr>
          <a:xfrm>
            <a:off x="502920" y="6108192"/>
            <a:ext cx="11155680" cy="530352"/>
          </a:xfrm>
          <a:prstGeom prst="rect">
            <a:avLst/>
          </a:prstGeom>
          <a:noFill/>
        </p:spPr>
        <p:txBody>
          <a:bodyPr wrap="none">
            <a:spAutoFit/>
          </a:bodyPr>
          <a:lstStyle/>
          <a:p>
            <a:pPr algn="l">
              <a:defRPr sz="900">
                <a:latin typeface="Arial"/>
              </a:defRPr>
            </a:pPr>
            <a:r>
              <a:t>Distinct summaries of the O2-defining allele and ABO-window introgression. (A) rs41302905 T-allele frequencies from Ensembl/1000 Genomes and Ohashi et al. (2006). (B) Frequency of individuals carrying any Neanderthal-like segment in chr9:133.0-133.5 Mb. The panels use different sources and are not an association analysis.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38560" cy="502920"/>
          </a:xfrm>
          <a:prstGeom prst="rect">
            <a:avLst/>
          </a:prstGeom>
          <a:noFill/>
        </p:spPr>
        <p:txBody>
          <a:bodyPr wrap="none">
            <a:spAutoFit/>
          </a:bodyPr>
          <a:lstStyle/>
          <a:p>
            <a:pPr algn="ctr">
              <a:defRPr sz="2200" b="1">
                <a:latin typeface="Arial"/>
              </a:defRPr>
            </a:pPr>
            <a:r>
              <a:t>Figure 7</a:t>
            </a:r>
          </a:p>
        </p:txBody>
      </p:sp>
      <p:pic>
        <p:nvPicPr>
          <p:cNvPr id="3" name="Picture 2" descr="fig7_ane_model.png"/>
          <p:cNvPicPr>
            <a:picLocks noChangeAspect="1"/>
          </p:cNvPicPr>
          <p:nvPr/>
        </p:nvPicPr>
        <p:blipFill>
          <a:blip r:embed="rId2"/>
          <a:stretch>
            <a:fillRect/>
          </a:stretch>
        </p:blipFill>
        <p:spPr>
          <a:xfrm>
            <a:off x="1438523" y="777240"/>
            <a:ext cx="9284473" cy="5166360"/>
          </a:xfrm>
          <a:prstGeom prst="rect">
            <a:avLst/>
          </a:prstGeom>
        </p:spPr>
      </p:pic>
      <p:sp>
        <p:nvSpPr>
          <p:cNvPr id="4" name="TextBox 3"/>
          <p:cNvSpPr txBox="1"/>
          <p:nvPr/>
        </p:nvSpPr>
        <p:spPr>
          <a:xfrm>
            <a:off x="502920" y="6108192"/>
            <a:ext cx="11155680" cy="530352"/>
          </a:xfrm>
          <a:prstGeom prst="rect">
            <a:avLst/>
          </a:prstGeom>
          <a:noFill/>
        </p:spPr>
        <p:txBody>
          <a:bodyPr wrap="none">
            <a:spAutoFit/>
          </a:bodyPr>
          <a:lstStyle/>
          <a:p>
            <a:pPr algn="l">
              <a:defRPr sz="900">
                <a:latin typeface="Arial"/>
              </a:defRPr>
            </a:pPr>
            <a:r>
              <a:t>Ancient North Eurasian pathway hypothesis. Dashed arrows connect a published broad ancestry model to the modern ABO-window observation. The diagram is hypothesis-generating and does not infer that either segment followed a particular route.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38560" cy="502920"/>
          </a:xfrm>
          <a:prstGeom prst="rect">
            <a:avLst/>
          </a:prstGeom>
          <a:noFill/>
        </p:spPr>
        <p:txBody>
          <a:bodyPr wrap="none">
            <a:spAutoFit/>
          </a:bodyPr>
          <a:lstStyle/>
          <a:p>
            <a:pPr algn="ctr">
              <a:defRPr sz="2200" b="1">
                <a:latin typeface="Arial"/>
              </a:defRPr>
            </a:pPr>
            <a:r>
              <a:t>Figure 8</a:t>
            </a:r>
          </a:p>
        </p:txBody>
      </p:sp>
      <p:pic>
        <p:nvPicPr>
          <p:cNvPr id="3" name="Picture 2" descr="fig8_temporal_dynamics.png"/>
          <p:cNvPicPr>
            <a:picLocks noChangeAspect="1"/>
          </p:cNvPicPr>
          <p:nvPr/>
        </p:nvPicPr>
        <p:blipFill>
          <a:blip r:embed="rId2"/>
          <a:stretch>
            <a:fillRect/>
          </a:stretch>
        </p:blipFill>
        <p:spPr>
          <a:xfrm>
            <a:off x="1161860" y="777240"/>
            <a:ext cx="9837799" cy="5166360"/>
          </a:xfrm>
          <a:prstGeom prst="rect">
            <a:avLst/>
          </a:prstGeom>
        </p:spPr>
      </p:pic>
      <p:sp>
        <p:nvSpPr>
          <p:cNvPr id="4" name="TextBox 3"/>
          <p:cNvSpPr txBox="1"/>
          <p:nvPr/>
        </p:nvSpPr>
        <p:spPr>
          <a:xfrm>
            <a:off x="502920" y="6108192"/>
            <a:ext cx="11155680" cy="530352"/>
          </a:xfrm>
          <a:prstGeom prst="rect">
            <a:avLst/>
          </a:prstGeom>
          <a:noFill/>
        </p:spPr>
        <p:txBody>
          <a:bodyPr wrap="none">
            <a:spAutoFit/>
          </a:bodyPr>
          <a:lstStyle/>
          <a:p>
            <a:pPr algn="l">
              <a:defRPr sz="900">
                <a:latin typeface="Arial"/>
              </a:defRPr>
            </a:pPr>
            <a:r>
              <a:t>Descriptive ancient and modern ABO-window summaries. Ancient observations were secondarily extracted from public outputs associated with Iasi et al. (2024); modern calls use hmmix. Different pipelines and coverage preclude a formal temporal comparison.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38560" cy="502920"/>
          </a:xfrm>
          <a:prstGeom prst="rect">
            <a:avLst/>
          </a:prstGeom>
          <a:noFill/>
        </p:spPr>
        <p:txBody>
          <a:bodyPr wrap="none">
            <a:spAutoFit/>
          </a:bodyPr>
          <a:lstStyle/>
          <a:p>
            <a:pPr algn="ctr">
              <a:defRPr sz="2200" b="1">
                <a:latin typeface="Arial"/>
              </a:defRPr>
            </a:pPr>
            <a:r>
              <a:t>Figure 9</a:t>
            </a:r>
          </a:p>
        </p:txBody>
      </p:sp>
      <p:pic>
        <p:nvPicPr>
          <p:cNvPr id="3" name="Picture 2" descr="fig9_bivariate_world_map.png"/>
          <p:cNvPicPr>
            <a:picLocks noChangeAspect="1"/>
          </p:cNvPicPr>
          <p:nvPr/>
        </p:nvPicPr>
        <p:blipFill>
          <a:blip r:embed="rId2"/>
          <a:stretch>
            <a:fillRect/>
          </a:stretch>
        </p:blipFill>
        <p:spPr>
          <a:xfrm>
            <a:off x="1815376" y="777239"/>
            <a:ext cx="8530766" cy="5166360"/>
          </a:xfrm>
          <a:prstGeom prst="rect">
            <a:avLst/>
          </a:prstGeom>
        </p:spPr>
      </p:pic>
      <p:sp>
        <p:nvSpPr>
          <p:cNvPr id="4" name="TextBox 3"/>
          <p:cNvSpPr txBox="1"/>
          <p:nvPr/>
        </p:nvSpPr>
        <p:spPr>
          <a:xfrm>
            <a:off x="502920" y="6108192"/>
            <a:ext cx="11155680" cy="530352"/>
          </a:xfrm>
          <a:prstGeom prst="rect">
            <a:avLst/>
          </a:prstGeom>
          <a:noFill/>
        </p:spPr>
        <p:txBody>
          <a:bodyPr wrap="none">
            <a:spAutoFit/>
          </a:bodyPr>
          <a:lstStyle/>
          <a:p>
            <a:pPr algn="l">
              <a:defRPr sz="900">
                <a:latin typeface="Arial"/>
              </a:defRPr>
            </a:pPr>
            <a:r>
              <a:t>Literature-derived bivariate global context. Circle size represents approximate Neanderthal ancestry and color intensity represents approximate Denisovan ancestry. Source identifiers shown in parentheses are FIN (Finnish), GBR (British), CEU (Utah residents with Northern and Western European ancestry), FRA (French), IBS (Iberian), and TSI (Toscani). Values are contextual approximations from published studies and were not used in the pairwise statistical models.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38560" cy="502920"/>
          </a:xfrm>
          <a:prstGeom prst="rect">
            <a:avLst/>
          </a:prstGeom>
          <a:noFill/>
        </p:spPr>
        <p:txBody>
          <a:bodyPr wrap="none">
            <a:spAutoFit/>
          </a:bodyPr>
          <a:lstStyle/>
          <a:p>
            <a:pPr algn="ctr">
              <a:defRPr sz="2200" b="1">
                <a:latin typeface="Arial"/>
              </a:defRPr>
            </a:pPr>
            <a:r>
              <a:t>Table 1. Corrected geographic-distance models and matrix-level tests</a:t>
            </a:r>
          </a:p>
        </p:txBody>
      </p:sp>
      <p:graphicFrame>
        <p:nvGraphicFramePr>
          <p:cNvPr id="3" name="Table 2"/>
          <p:cNvGraphicFramePr>
            <a:graphicFrameLocks noGrp="1"/>
          </p:cNvGraphicFramePr>
          <p:nvPr/>
        </p:nvGraphicFramePr>
        <p:xfrm>
          <a:off x="411480" y="914400"/>
          <a:ext cx="11338560" cy="5029200"/>
        </p:xfrm>
        <a:graphic>
          <a:graphicData uri="http://schemas.openxmlformats.org/drawingml/2006/table">
            <a:tbl>
              <a:tblPr firstRow="1" bandRow="1">
                <a:tableStyleId>{5C22544A-7EE6-4342-B048-85BDC9FD1C3A}</a:tableStyleId>
              </a:tblPr>
              <a:tblGrid>
                <a:gridCol w="2834640"/>
                <a:gridCol w="2834640"/>
                <a:gridCol w="2834640"/>
                <a:gridCol w="2834640"/>
              </a:tblGrid>
              <a:tr h="558800">
                <a:tc>
                  <a:txBody>
                    <a:bodyPr/>
                    <a:lstStyle/>
                    <a:p>
                      <a:pPr>
                        <a:defRPr sz="900" b="1">
                          <a:latin typeface="Arial"/>
                        </a:defRPr>
                      </a:pPr>
                      <a:r>
                        <a:t>Metric</a:t>
                      </a:r>
                    </a:p>
                  </a:txBody>
                  <a:tcPr>
                    <a:solidFill>
                      <a:srgbClr val="D9EAF7"/>
                    </a:solidFill>
                  </a:tcPr>
                </a:tc>
                <a:tc>
                  <a:txBody>
                    <a:bodyPr/>
                    <a:lstStyle/>
                    <a:p>
                      <a:pPr>
                        <a:defRPr sz="900" b="1">
                          <a:latin typeface="Arial"/>
                        </a:defRPr>
                      </a:pPr>
                      <a:r>
                        <a:t>Neanderthal</a:t>
                      </a:r>
                    </a:p>
                  </a:txBody>
                  <a:tcPr>
                    <a:solidFill>
                      <a:srgbClr val="D9EAF7"/>
                    </a:solidFill>
                  </a:tcPr>
                </a:tc>
                <a:tc>
                  <a:txBody>
                    <a:bodyPr/>
                    <a:lstStyle/>
                    <a:p>
                      <a:pPr>
                        <a:defRPr sz="900" b="1">
                          <a:latin typeface="Arial"/>
                        </a:defRPr>
                      </a:pPr>
                      <a:r>
                        <a:t>Denisovan</a:t>
                      </a:r>
                    </a:p>
                  </a:txBody>
                  <a:tcPr>
                    <a:solidFill>
                      <a:srgbClr val="D9EAF7"/>
                    </a:solidFill>
                  </a:tcPr>
                </a:tc>
                <a:tc>
                  <a:txBody>
                    <a:bodyPr/>
                    <a:lstStyle/>
                    <a:p>
                      <a:pPr>
                        <a:defRPr sz="900" b="1">
                          <a:latin typeface="Arial"/>
                        </a:defRPr>
                      </a:pPr>
                      <a:r>
                        <a:t>Interpretation</a:t>
                      </a:r>
                    </a:p>
                  </a:txBody>
                  <a:tcPr>
                    <a:solidFill>
                      <a:srgbClr val="D9EAF7"/>
                    </a:solidFill>
                  </a:tcPr>
                </a:tc>
              </a:tr>
              <a:tr h="558800">
                <a:tc>
                  <a:txBody>
                    <a:bodyPr/>
                    <a:lstStyle/>
                    <a:p>
                      <a:pPr>
                        <a:defRPr sz="900" b="0">
                          <a:latin typeface="Arial"/>
                        </a:defRPr>
                      </a:pPr>
                      <a:r>
                        <a:t>Populations / unique pairs</a:t>
                      </a:r>
                    </a:p>
                  </a:txBody>
                  <a:tcPr>
                    <a:solidFill>
                      <a:srgbClr val="FFFFFF"/>
                    </a:solidFill>
                  </a:tcPr>
                </a:tc>
                <a:tc>
                  <a:txBody>
                    <a:bodyPr/>
                    <a:lstStyle/>
                    <a:p>
                      <a:pPr>
                        <a:defRPr sz="900" b="0">
                          <a:latin typeface="Arial"/>
                        </a:defRPr>
                      </a:pPr>
                      <a:r>
                        <a:t>66 / 2,145</a:t>
                      </a:r>
                    </a:p>
                  </a:txBody>
                  <a:tcPr>
                    <a:solidFill>
                      <a:srgbClr val="FFFFFF"/>
                    </a:solidFill>
                  </a:tcPr>
                </a:tc>
                <a:tc>
                  <a:txBody>
                    <a:bodyPr/>
                    <a:lstStyle/>
                    <a:p>
                      <a:pPr>
                        <a:defRPr sz="900" b="0">
                          <a:latin typeface="Arial"/>
                        </a:defRPr>
                      </a:pPr>
                      <a:r>
                        <a:t>66 / 2,145</a:t>
                      </a:r>
                    </a:p>
                  </a:txBody>
                  <a:tcPr>
                    <a:solidFill>
                      <a:srgbClr val="FFFFFF"/>
                    </a:solidFill>
                  </a:tcPr>
                </a:tc>
                <a:tc>
                  <a:txBody>
                    <a:bodyPr/>
                    <a:lstStyle/>
                    <a:p>
                      <a:pPr>
                        <a:defRPr sz="900" b="0">
                          <a:latin typeface="Arial"/>
                        </a:defRPr>
                      </a:pPr>
                      <a:r>
                        <a:t>Same pair set</a:t>
                      </a:r>
                    </a:p>
                  </a:txBody>
                  <a:tcPr>
                    <a:solidFill>
                      <a:srgbClr val="FFFFFF"/>
                    </a:solidFill>
                  </a:tcPr>
                </a:tc>
              </a:tr>
              <a:tr h="558800">
                <a:tc>
                  <a:txBody>
                    <a:bodyPr/>
                    <a:lstStyle/>
                    <a:p>
                      <a:pPr>
                        <a:defRPr sz="900" b="0">
                          <a:latin typeface="Arial"/>
                        </a:defRPr>
                      </a:pPr>
                      <a:r>
                        <a:t>Raw sharing-distance r</a:t>
                      </a:r>
                    </a:p>
                  </a:txBody>
                  <a:tcPr>
                    <a:solidFill>
                      <a:srgbClr val="FFFFFF"/>
                    </a:solidFill>
                  </a:tcPr>
                </a:tc>
                <a:tc>
                  <a:txBody>
                    <a:bodyPr/>
                    <a:lstStyle/>
                    <a:p>
                      <a:pPr>
                        <a:defRPr sz="900" b="0">
                          <a:latin typeface="Arial"/>
                        </a:defRPr>
                      </a:pPr>
                      <a:r>
                        <a:t>-0.4847</a:t>
                      </a:r>
                    </a:p>
                  </a:txBody>
                  <a:tcPr>
                    <a:solidFill>
                      <a:srgbClr val="FFFFFF"/>
                    </a:solidFill>
                  </a:tcPr>
                </a:tc>
                <a:tc>
                  <a:txBody>
                    <a:bodyPr/>
                    <a:lstStyle/>
                    <a:p>
                      <a:pPr>
                        <a:defRPr sz="900" b="0">
                          <a:latin typeface="Arial"/>
                        </a:defRPr>
                      </a:pPr>
                      <a:r>
                        <a:t>-0.4656</a:t>
                      </a:r>
                    </a:p>
                  </a:txBody>
                  <a:tcPr>
                    <a:solidFill>
                      <a:srgbClr val="FFFFFF"/>
                    </a:solidFill>
                  </a:tcPr>
                </a:tc>
                <a:tc>
                  <a:txBody>
                    <a:bodyPr/>
                    <a:lstStyle/>
                    <a:p>
                      <a:pPr>
                        <a:defRPr sz="900" b="0">
                          <a:latin typeface="Arial"/>
                        </a:defRPr>
                      </a:pPr>
                      <a:r>
                        <a:t>Pairwise descriptive correlation</a:t>
                      </a:r>
                    </a:p>
                  </a:txBody>
                  <a:tcPr>
                    <a:solidFill>
                      <a:srgbClr val="FFFFFF"/>
                    </a:solidFill>
                  </a:tcPr>
                </a:tc>
              </a:tr>
              <a:tr h="558800">
                <a:tc>
                  <a:txBody>
                    <a:bodyPr/>
                    <a:lstStyle/>
                    <a:p>
                      <a:pPr>
                        <a:defRPr sz="900" b="0">
                          <a:latin typeface="Arial"/>
                        </a:defRPr>
                      </a:pPr>
                      <a:r>
                        <a:t>Partial r</a:t>
                      </a:r>
                    </a:p>
                  </a:txBody>
                  <a:tcPr>
                    <a:solidFill>
                      <a:srgbClr val="FFFFFF"/>
                    </a:solidFill>
                  </a:tcPr>
                </a:tc>
                <a:tc>
                  <a:txBody>
                    <a:bodyPr/>
                    <a:lstStyle/>
                    <a:p>
                      <a:pPr>
                        <a:defRPr sz="900" b="0">
                          <a:latin typeface="Arial"/>
                        </a:defRPr>
                      </a:pPr>
                      <a:r>
                        <a:t>-0.3105</a:t>
                      </a:r>
                    </a:p>
                  </a:txBody>
                  <a:tcPr>
                    <a:solidFill>
                      <a:srgbClr val="FFFFFF"/>
                    </a:solidFill>
                  </a:tcPr>
                </a:tc>
                <a:tc>
                  <a:txBody>
                    <a:bodyPr/>
                    <a:lstStyle/>
                    <a:p>
                      <a:pPr>
                        <a:defRPr sz="900" b="0">
                          <a:latin typeface="Arial"/>
                        </a:defRPr>
                      </a:pPr>
                      <a:r>
                        <a:t>-0.3001</a:t>
                      </a:r>
                    </a:p>
                  </a:txBody>
                  <a:tcPr>
                    <a:solidFill>
                      <a:srgbClr val="FFFFFF"/>
                    </a:solidFill>
                  </a:tcPr>
                </a:tc>
                <a:tc>
                  <a:txBody>
                    <a:bodyPr/>
                    <a:lstStyle/>
                    <a:p>
                      <a:pPr>
                        <a:defRPr sz="900" b="0">
                          <a:latin typeface="Arial"/>
                        </a:defRPr>
                      </a:pPr>
                      <a:r>
                        <a:t>Controls maximum admixture and same continent</a:t>
                      </a:r>
                    </a:p>
                  </a:txBody>
                  <a:tcPr>
                    <a:solidFill>
                      <a:srgbClr val="FFFFFF"/>
                    </a:solidFill>
                  </a:tcPr>
                </a:tc>
              </a:tr>
              <a:tr h="558800">
                <a:tc>
                  <a:txBody>
                    <a:bodyPr/>
                    <a:lstStyle/>
                    <a:p>
                      <a:pPr>
                        <a:defRPr sz="900" b="0">
                          <a:latin typeface="Arial"/>
                        </a:defRPr>
                      </a:pPr>
                      <a:r>
                        <a:t>Distance-only R²</a:t>
                      </a:r>
                    </a:p>
                  </a:txBody>
                  <a:tcPr>
                    <a:solidFill>
                      <a:srgbClr val="FFFFFF"/>
                    </a:solidFill>
                  </a:tcPr>
                </a:tc>
                <a:tc>
                  <a:txBody>
                    <a:bodyPr/>
                    <a:lstStyle/>
                    <a:p>
                      <a:pPr>
                        <a:defRPr sz="900" b="0">
                          <a:latin typeface="Arial"/>
                        </a:defRPr>
                      </a:pPr>
                      <a:r>
                        <a:t>0.2350</a:t>
                      </a:r>
                    </a:p>
                  </a:txBody>
                  <a:tcPr>
                    <a:solidFill>
                      <a:srgbClr val="FFFFFF"/>
                    </a:solidFill>
                  </a:tcPr>
                </a:tc>
                <a:tc>
                  <a:txBody>
                    <a:bodyPr/>
                    <a:lstStyle/>
                    <a:p>
                      <a:pPr>
                        <a:defRPr sz="900" b="0">
                          <a:latin typeface="Arial"/>
                        </a:defRPr>
                      </a:pPr>
                      <a:r>
                        <a:t>0.2167</a:t>
                      </a:r>
                    </a:p>
                  </a:txBody>
                  <a:tcPr>
                    <a:solidFill>
                      <a:srgbClr val="FFFFFF"/>
                    </a:solidFill>
                  </a:tcPr>
                </a:tc>
                <a:tc>
                  <a:txBody>
                    <a:bodyPr/>
                    <a:lstStyle/>
                    <a:p>
                      <a:pPr>
                        <a:defRPr sz="900" b="0">
                          <a:latin typeface="Arial"/>
                        </a:defRPr>
                      </a:pPr>
                      <a:r>
                        <a:t>Uncorrected model</a:t>
                      </a:r>
                    </a:p>
                  </a:txBody>
                  <a:tcPr>
                    <a:solidFill>
                      <a:srgbClr val="FFFFFF"/>
                    </a:solidFill>
                  </a:tcPr>
                </a:tc>
              </a:tr>
              <a:tr h="558800">
                <a:tc>
                  <a:txBody>
                    <a:bodyPr/>
                    <a:lstStyle/>
                    <a:p>
                      <a:pPr>
                        <a:defRPr sz="900" b="0">
                          <a:latin typeface="Arial"/>
                        </a:defRPr>
                      </a:pPr>
                      <a:r>
                        <a:t>Corrected R²</a:t>
                      </a:r>
                    </a:p>
                  </a:txBody>
                  <a:tcPr>
                    <a:solidFill>
                      <a:srgbClr val="FFFFFF"/>
                    </a:solidFill>
                  </a:tcPr>
                </a:tc>
                <a:tc>
                  <a:txBody>
                    <a:bodyPr/>
                    <a:lstStyle/>
                    <a:p>
                      <a:pPr>
                        <a:defRPr sz="900" b="0">
                          <a:latin typeface="Arial"/>
                        </a:defRPr>
                      </a:pPr>
                      <a:r>
                        <a:t>0.5100</a:t>
                      </a:r>
                    </a:p>
                  </a:txBody>
                  <a:tcPr>
                    <a:solidFill>
                      <a:srgbClr val="FFFFFF"/>
                    </a:solidFill>
                  </a:tcPr>
                </a:tc>
                <a:tc>
                  <a:txBody>
                    <a:bodyPr/>
                    <a:lstStyle/>
                    <a:p>
                      <a:pPr>
                        <a:defRPr sz="900" b="0">
                          <a:latin typeface="Arial"/>
                        </a:defRPr>
                      </a:pPr>
                      <a:r>
                        <a:t>0.4953</a:t>
                      </a:r>
                    </a:p>
                  </a:txBody>
                  <a:tcPr>
                    <a:solidFill>
                      <a:srgbClr val="FFFFFF"/>
                    </a:solidFill>
                  </a:tcPr>
                </a:tc>
                <a:tc>
                  <a:txBody>
                    <a:bodyPr/>
                    <a:lstStyle/>
                    <a:p>
                      <a:pPr>
                        <a:defRPr sz="900" b="0">
                          <a:latin typeface="Arial"/>
                        </a:defRPr>
                      </a:pPr>
                      <a:r>
                        <a:t>Distance plus two confounders</a:t>
                      </a:r>
                    </a:p>
                  </a:txBody>
                  <a:tcPr>
                    <a:solidFill>
                      <a:srgbClr val="FFFFFF"/>
                    </a:solidFill>
                  </a:tcPr>
                </a:tc>
              </a:tr>
              <a:tr h="558800">
                <a:tc>
                  <a:txBody>
                    <a:bodyPr/>
                    <a:lstStyle/>
                    <a:p>
                      <a:pPr>
                        <a:defRPr sz="900" b="0">
                          <a:latin typeface="Arial"/>
                        </a:defRPr>
                      </a:pPr>
                      <a:r>
                        <a:t>Non-admixed Mantel r</a:t>
                      </a:r>
                    </a:p>
                  </a:txBody>
                  <a:tcPr>
                    <a:solidFill>
                      <a:srgbClr val="FFFFFF"/>
                    </a:solidFill>
                  </a:tcPr>
                </a:tc>
                <a:tc>
                  <a:txBody>
                    <a:bodyPr/>
                    <a:lstStyle/>
                    <a:p>
                      <a:pPr>
                        <a:defRPr sz="900" b="0">
                          <a:latin typeface="Arial"/>
                        </a:defRPr>
                      </a:pPr>
                      <a:r>
                        <a:t>-0.6157</a:t>
                      </a:r>
                    </a:p>
                  </a:txBody>
                  <a:tcPr>
                    <a:solidFill>
                      <a:srgbClr val="FFFFFF"/>
                    </a:solidFill>
                  </a:tcPr>
                </a:tc>
                <a:tc>
                  <a:txBody>
                    <a:bodyPr/>
                    <a:lstStyle/>
                    <a:p>
                      <a:pPr>
                        <a:defRPr sz="900" b="0">
                          <a:latin typeface="Arial"/>
                        </a:defRPr>
                      </a:pPr>
                      <a:r>
                        <a:t>-0.5809</a:t>
                      </a:r>
                    </a:p>
                  </a:txBody>
                  <a:tcPr>
                    <a:solidFill>
                      <a:srgbClr val="FFFFFF"/>
                    </a:solidFill>
                  </a:tcPr>
                </a:tc>
                <a:tc>
                  <a:txBody>
                    <a:bodyPr/>
                    <a:lstStyle/>
                    <a:p>
                      <a:pPr>
                        <a:defRPr sz="900" b="0">
                          <a:latin typeface="Arial"/>
                        </a:defRPr>
                      </a:pPr>
                      <a:r>
                        <a:t>9,999 label permutations</a:t>
                      </a:r>
                    </a:p>
                  </a:txBody>
                  <a:tcPr>
                    <a:solidFill>
                      <a:srgbClr val="FFFFFF"/>
                    </a:solidFill>
                  </a:tcPr>
                </a:tc>
              </a:tr>
              <a:tr h="558800">
                <a:tc>
                  <a:txBody>
                    <a:bodyPr/>
                    <a:lstStyle/>
                    <a:p>
                      <a:pPr>
                        <a:defRPr sz="900" b="0">
                          <a:latin typeface="Arial"/>
                        </a:defRPr>
                      </a:pPr>
                      <a:r>
                        <a:t>Mantel p</a:t>
                      </a:r>
                    </a:p>
                  </a:txBody>
                  <a:tcPr>
                    <a:solidFill>
                      <a:srgbClr val="FFFFFF"/>
                    </a:solidFill>
                  </a:tcPr>
                </a:tc>
                <a:tc>
                  <a:txBody>
                    <a:bodyPr/>
                    <a:lstStyle/>
                    <a:p>
                      <a:pPr>
                        <a:defRPr sz="900" b="0">
                          <a:latin typeface="Arial"/>
                        </a:defRPr>
                      </a:pPr>
                      <a:r>
                        <a:t>0.0001</a:t>
                      </a:r>
                    </a:p>
                  </a:txBody>
                  <a:tcPr>
                    <a:solidFill>
                      <a:srgbClr val="FFFFFF"/>
                    </a:solidFill>
                  </a:tcPr>
                </a:tc>
                <a:tc>
                  <a:txBody>
                    <a:bodyPr/>
                    <a:lstStyle/>
                    <a:p>
                      <a:pPr>
                        <a:defRPr sz="900" b="0">
                          <a:latin typeface="Arial"/>
                        </a:defRPr>
                      </a:pPr>
                      <a:r>
                        <a:t>0.0001</a:t>
                      </a:r>
                    </a:p>
                  </a:txBody>
                  <a:tcPr>
                    <a:solidFill>
                      <a:srgbClr val="FFFFFF"/>
                    </a:solidFill>
                  </a:tcPr>
                </a:tc>
                <a:tc>
                  <a:txBody>
                    <a:bodyPr/>
                    <a:lstStyle/>
                    <a:p>
                      <a:pPr>
                        <a:defRPr sz="900" b="0">
                          <a:latin typeface="Arial"/>
                        </a:defRPr>
                      </a:pPr>
                      <a:r>
                        <a:t>Matrix-level inference</a:t>
                      </a:r>
                    </a:p>
                  </a:txBody>
                  <a:tcPr>
                    <a:solidFill>
                      <a:srgbClr val="FFFFFF"/>
                    </a:solidFill>
                  </a:tcPr>
                </a:tc>
              </a:tr>
              <a:tr h="558800">
                <a:tc>
                  <a:txBody>
                    <a:bodyPr/>
                    <a:lstStyle/>
                    <a:p>
                      <a:pPr>
                        <a:defRPr sz="900" b="0">
                          <a:latin typeface="Arial"/>
                        </a:defRPr>
                      </a:pPr>
                      <a:r>
                        <a:t>FDR q&lt;0.10 positive outliers</a:t>
                      </a:r>
                    </a:p>
                  </a:txBody>
                  <a:tcPr>
                    <a:solidFill>
                      <a:srgbClr val="FFFFFF"/>
                    </a:solidFill>
                  </a:tcPr>
                </a:tc>
                <a:tc>
                  <a:txBody>
                    <a:bodyPr/>
                    <a:lstStyle/>
                    <a:p>
                      <a:pPr>
                        <a:defRPr sz="900" b="0">
                          <a:latin typeface="Arial"/>
                        </a:defRPr>
                      </a:pPr>
                      <a:r>
                        <a:t>0</a:t>
                      </a:r>
                    </a:p>
                  </a:txBody>
                  <a:tcPr>
                    <a:solidFill>
                      <a:srgbClr val="FFFFFF"/>
                    </a:solidFill>
                  </a:tcPr>
                </a:tc>
                <a:tc>
                  <a:txBody>
                    <a:bodyPr/>
                    <a:lstStyle/>
                    <a:p>
                      <a:pPr>
                        <a:defRPr sz="900" b="0">
                          <a:latin typeface="Arial"/>
                        </a:defRPr>
                      </a:pPr>
                      <a:r>
                        <a:t>0</a:t>
                      </a:r>
                    </a:p>
                  </a:txBody>
                  <a:tcPr>
                    <a:solidFill>
                      <a:srgbClr val="FFFFFF"/>
                    </a:solidFill>
                  </a:tcPr>
                </a:tc>
                <a:tc>
                  <a:txBody>
                    <a:bodyPr/>
                    <a:lstStyle/>
                    <a:p>
                      <a:pPr>
                        <a:defRPr sz="900" b="0">
                          <a:latin typeface="Arial"/>
                        </a:defRPr>
                      </a:pPr>
                      <a:r>
                        <a:t>Non-admixed pairs</a:t>
                      </a:r>
                    </a:p>
                  </a:txBody>
                  <a:tcPr>
                    <a:solidFill>
                      <a:srgbClr val="FFFFFF"/>
                    </a:solidFill>
                  </a:tcPr>
                </a:tc>
              </a:tr>
            </a:tbl>
          </a:graphicData>
        </a:graphic>
      </p:graphicFrame>
      <p:sp>
        <p:nvSpPr>
          <p:cNvPr id="4" name="TextBox 3"/>
          <p:cNvSpPr txBox="1"/>
          <p:nvPr/>
        </p:nvSpPr>
        <p:spPr>
          <a:xfrm>
            <a:off x="502920" y="6108192"/>
            <a:ext cx="11155680" cy="530352"/>
          </a:xfrm>
          <a:prstGeom prst="rect">
            <a:avLst/>
          </a:prstGeom>
          <a:noFill/>
        </p:spPr>
        <p:txBody>
          <a:bodyPr wrap="none">
            <a:spAutoFit/>
          </a:bodyPr>
          <a:lstStyle/>
          <a:p>
            <a:pPr algn="l">
              <a:defRPr sz="900">
                <a:latin typeface="Arial"/>
              </a:defRPr>
            </a:pPr>
            <a:r>
              <a:t>Note. Partial correlations use pairwise rows and should not be interpreted as independent-sample inference. Mantel tests used non-admixed population matrices.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38560" cy="502920"/>
          </a:xfrm>
          <a:prstGeom prst="rect">
            <a:avLst/>
          </a:prstGeom>
          <a:noFill/>
        </p:spPr>
        <p:txBody>
          <a:bodyPr wrap="none">
            <a:spAutoFit/>
          </a:bodyPr>
          <a:lstStyle/>
          <a:p>
            <a:pPr algn="ctr">
              <a:defRPr sz="2200" b="1">
                <a:latin typeface="Arial"/>
              </a:defRPr>
            </a:pPr>
            <a:r>
              <a:t>Table 2. Descriptive Neanderthal-reference composition in the 500-kb ABO-centered interval</a:t>
            </a:r>
          </a:p>
        </p:txBody>
      </p:sp>
      <p:graphicFrame>
        <p:nvGraphicFramePr>
          <p:cNvPr id="3" name="Table 2"/>
          <p:cNvGraphicFramePr>
            <a:graphicFrameLocks noGrp="1"/>
          </p:cNvGraphicFramePr>
          <p:nvPr/>
        </p:nvGraphicFramePr>
        <p:xfrm>
          <a:off x="411480" y="914400"/>
          <a:ext cx="11338560" cy="5029200"/>
        </p:xfrm>
        <a:graphic>
          <a:graphicData uri="http://schemas.openxmlformats.org/drawingml/2006/table">
            <a:tbl>
              <a:tblPr firstRow="1" bandRow="1">
                <a:tableStyleId>{5C22544A-7EE6-4342-B048-85BDC9FD1C3A}</a:tableStyleId>
              </a:tblPr>
              <a:tblGrid>
                <a:gridCol w="1619794"/>
                <a:gridCol w="1619794"/>
                <a:gridCol w="1619794"/>
                <a:gridCol w="1619794"/>
                <a:gridCol w="1619794"/>
                <a:gridCol w="1619794"/>
                <a:gridCol w="1619796"/>
              </a:tblGrid>
              <a:tr h="628650">
                <a:tc>
                  <a:txBody>
                    <a:bodyPr/>
                    <a:lstStyle/>
                    <a:p>
                      <a:pPr>
                        <a:defRPr sz="900" b="1">
                          <a:latin typeface="Arial"/>
                        </a:defRPr>
                      </a:pPr>
                      <a:r>
                        <a:t>Group</a:t>
                      </a:r>
                    </a:p>
                  </a:txBody>
                  <a:tcPr>
                    <a:solidFill>
                      <a:srgbClr val="D9EAF7"/>
                    </a:solidFill>
                  </a:tcPr>
                </a:tc>
                <a:tc>
                  <a:txBody>
                    <a:bodyPr/>
                    <a:lstStyle/>
                    <a:p>
                      <a:pPr>
                        <a:defRPr sz="900" b="1">
                          <a:latin typeface="Arial"/>
                        </a:defRPr>
                      </a:pPr>
                      <a:r>
                        <a:t>Segments</a:t>
                      </a:r>
                    </a:p>
                  </a:txBody>
                  <a:tcPr>
                    <a:solidFill>
                      <a:srgbClr val="D9EAF7"/>
                    </a:solidFill>
                  </a:tcPr>
                </a:tc>
                <a:tc>
                  <a:txBody>
                    <a:bodyPr/>
                    <a:lstStyle/>
                    <a:p>
                      <a:pPr>
                        <a:defRPr sz="900" b="1">
                          <a:latin typeface="Arial"/>
                        </a:defRPr>
                      </a:pPr>
                      <a:r>
                        <a:t>Vindija %</a:t>
                      </a:r>
                    </a:p>
                  </a:txBody>
                  <a:tcPr>
                    <a:solidFill>
                      <a:srgbClr val="D9EAF7"/>
                    </a:solidFill>
                  </a:tcPr>
                </a:tc>
                <a:tc>
                  <a:txBody>
                    <a:bodyPr/>
                    <a:lstStyle/>
                    <a:p>
                      <a:pPr>
                        <a:defRPr sz="900" b="1">
                          <a:latin typeface="Arial"/>
                        </a:defRPr>
                      </a:pPr>
                      <a:r>
                        <a:t>Altai %</a:t>
                      </a:r>
                    </a:p>
                  </a:txBody>
                  <a:tcPr>
                    <a:solidFill>
                      <a:srgbClr val="D9EAF7"/>
                    </a:solidFill>
                  </a:tcPr>
                </a:tc>
                <a:tc>
                  <a:txBody>
                    <a:bodyPr/>
                    <a:lstStyle/>
                    <a:p>
                      <a:pPr>
                        <a:defRPr sz="900" b="1">
                          <a:latin typeface="Arial"/>
                        </a:defRPr>
                      </a:pPr>
                      <a:r>
                        <a:t>Chagyrskaya %</a:t>
                      </a:r>
                    </a:p>
                  </a:txBody>
                  <a:tcPr>
                    <a:solidFill>
                      <a:srgbClr val="D9EAF7"/>
                    </a:solidFill>
                  </a:tcPr>
                </a:tc>
                <a:tc>
                  <a:txBody>
                    <a:bodyPr/>
                    <a:lstStyle/>
                    <a:p>
                      <a:pPr>
                        <a:defRPr sz="900" b="1">
                          <a:latin typeface="Arial"/>
                        </a:defRPr>
                      </a:pPr>
                      <a:r>
                        <a:t>Tie %</a:t>
                      </a:r>
                    </a:p>
                  </a:txBody>
                  <a:tcPr>
                    <a:solidFill>
                      <a:srgbClr val="D9EAF7"/>
                    </a:solidFill>
                  </a:tcPr>
                </a:tc>
                <a:tc>
                  <a:txBody>
                    <a:bodyPr/>
                    <a:lstStyle/>
                    <a:p>
                      <a:pPr>
                        <a:defRPr sz="900" b="1">
                          <a:latin typeface="Arial"/>
                        </a:defRPr>
                      </a:pPr>
                      <a:r>
                        <a:t>Strict ABO overlap</a:t>
                      </a:r>
                    </a:p>
                  </a:txBody>
                  <a:tcPr>
                    <a:solidFill>
                      <a:srgbClr val="D9EAF7"/>
                    </a:solidFill>
                  </a:tcPr>
                </a:tc>
              </a:tr>
              <a:tr h="628650">
                <a:tc>
                  <a:txBody>
                    <a:bodyPr/>
                    <a:lstStyle/>
                    <a:p>
                      <a:pPr>
                        <a:defRPr sz="900" b="0">
                          <a:latin typeface="Arial"/>
                        </a:defRPr>
                      </a:pPr>
                      <a:r>
                        <a:t>Europe</a:t>
                      </a:r>
                    </a:p>
                  </a:txBody>
                  <a:tcPr>
                    <a:solidFill>
                      <a:srgbClr val="FFFFFF"/>
                    </a:solidFill>
                  </a:tcPr>
                </a:tc>
                <a:tc>
                  <a:txBody>
                    <a:bodyPr/>
                    <a:lstStyle/>
                    <a:p>
                      <a:pPr>
                        <a:defRPr sz="900" b="0">
                          <a:latin typeface="Arial"/>
                        </a:defRPr>
                      </a:pPr>
                      <a:r>
                        <a:t>388</a:t>
                      </a:r>
                    </a:p>
                  </a:txBody>
                  <a:tcPr>
                    <a:solidFill>
                      <a:srgbClr val="FFFFFF"/>
                    </a:solidFill>
                  </a:tcPr>
                </a:tc>
                <a:tc>
                  <a:txBody>
                    <a:bodyPr/>
                    <a:lstStyle/>
                    <a:p>
                      <a:pPr>
                        <a:defRPr sz="900" b="0">
                          <a:latin typeface="Arial"/>
                        </a:defRPr>
                      </a:pPr>
                      <a:r>
                        <a:t>33.0</a:t>
                      </a:r>
                    </a:p>
                  </a:txBody>
                  <a:tcPr>
                    <a:solidFill>
                      <a:srgbClr val="FFFFFF"/>
                    </a:solidFill>
                  </a:tcPr>
                </a:tc>
                <a:tc>
                  <a:txBody>
                    <a:bodyPr/>
                    <a:lstStyle/>
                    <a:p>
                      <a:pPr>
                        <a:defRPr sz="900" b="0">
                          <a:latin typeface="Arial"/>
                        </a:defRPr>
                      </a:pPr>
                      <a:r>
                        <a:t>5.2</a:t>
                      </a:r>
                    </a:p>
                  </a:txBody>
                  <a:tcPr>
                    <a:solidFill>
                      <a:srgbClr val="FFFFFF"/>
                    </a:solidFill>
                  </a:tcPr>
                </a:tc>
                <a:tc>
                  <a:txBody>
                    <a:bodyPr/>
                    <a:lstStyle/>
                    <a:p>
                      <a:pPr>
                        <a:defRPr sz="900" b="0">
                          <a:latin typeface="Arial"/>
                        </a:defRPr>
                      </a:pPr>
                      <a:r>
                        <a:t>32.7</a:t>
                      </a:r>
                    </a:p>
                  </a:txBody>
                  <a:tcPr>
                    <a:solidFill>
                      <a:srgbClr val="FFFFFF"/>
                    </a:solidFill>
                  </a:tcPr>
                </a:tc>
                <a:tc>
                  <a:txBody>
                    <a:bodyPr/>
                    <a:lstStyle/>
                    <a:p>
                      <a:pPr>
                        <a:defRPr sz="900" b="0">
                          <a:latin typeface="Arial"/>
                        </a:defRPr>
                      </a:pPr>
                      <a:r>
                        <a:t>29.1</a:t>
                      </a:r>
                    </a:p>
                  </a:txBody>
                  <a:tcPr>
                    <a:solidFill>
                      <a:srgbClr val="FFFFFF"/>
                    </a:solidFill>
                  </a:tcPr>
                </a:tc>
                <a:tc>
                  <a:txBody>
                    <a:bodyPr/>
                    <a:lstStyle/>
                    <a:p>
                      <a:pPr>
                        <a:defRPr sz="900" b="0">
                          <a:latin typeface="Arial"/>
                        </a:defRPr>
                      </a:pPr>
                      <a:r>
                        <a:t>56</a:t>
                      </a:r>
                    </a:p>
                  </a:txBody>
                  <a:tcPr>
                    <a:solidFill>
                      <a:srgbClr val="FFFFFF"/>
                    </a:solidFill>
                  </a:tcPr>
                </a:tc>
              </a:tr>
              <a:tr h="628650">
                <a:tc>
                  <a:txBody>
                    <a:bodyPr/>
                    <a:lstStyle/>
                    <a:p>
                      <a:pPr>
                        <a:defRPr sz="900" b="0">
                          <a:latin typeface="Arial"/>
                        </a:defRPr>
                      </a:pPr>
                      <a:r>
                        <a:t>Middle East</a:t>
                      </a:r>
                    </a:p>
                  </a:txBody>
                  <a:tcPr>
                    <a:solidFill>
                      <a:srgbClr val="FFFFFF"/>
                    </a:solidFill>
                  </a:tcPr>
                </a:tc>
                <a:tc>
                  <a:txBody>
                    <a:bodyPr/>
                    <a:lstStyle/>
                    <a:p>
                      <a:pPr>
                        <a:defRPr sz="900" b="0">
                          <a:latin typeface="Arial"/>
                        </a:defRPr>
                      </a:pPr>
                      <a:r>
                        <a:t>59</a:t>
                      </a:r>
                    </a:p>
                  </a:txBody>
                  <a:tcPr>
                    <a:solidFill>
                      <a:srgbClr val="FFFFFF"/>
                    </a:solidFill>
                  </a:tcPr>
                </a:tc>
                <a:tc>
                  <a:txBody>
                    <a:bodyPr/>
                    <a:lstStyle/>
                    <a:p>
                      <a:pPr>
                        <a:defRPr sz="900" b="0">
                          <a:latin typeface="Arial"/>
                        </a:defRPr>
                      </a:pPr>
                      <a:r>
                        <a:t>39.0</a:t>
                      </a:r>
                    </a:p>
                  </a:txBody>
                  <a:tcPr>
                    <a:solidFill>
                      <a:srgbClr val="FFFFFF"/>
                    </a:solidFill>
                  </a:tcPr>
                </a:tc>
                <a:tc>
                  <a:txBody>
                    <a:bodyPr/>
                    <a:lstStyle/>
                    <a:p>
                      <a:pPr>
                        <a:defRPr sz="900" b="0">
                          <a:latin typeface="Arial"/>
                        </a:defRPr>
                      </a:pPr>
                      <a:r>
                        <a:t>8.5</a:t>
                      </a:r>
                    </a:p>
                  </a:txBody>
                  <a:tcPr>
                    <a:solidFill>
                      <a:srgbClr val="FFFFFF"/>
                    </a:solidFill>
                  </a:tcPr>
                </a:tc>
                <a:tc>
                  <a:txBody>
                    <a:bodyPr/>
                    <a:lstStyle/>
                    <a:p>
                      <a:pPr>
                        <a:defRPr sz="900" b="0">
                          <a:latin typeface="Arial"/>
                        </a:defRPr>
                      </a:pPr>
                      <a:r>
                        <a:t>27.1</a:t>
                      </a:r>
                    </a:p>
                  </a:txBody>
                  <a:tcPr>
                    <a:solidFill>
                      <a:srgbClr val="FFFFFF"/>
                    </a:solidFill>
                  </a:tcPr>
                </a:tc>
                <a:tc>
                  <a:txBody>
                    <a:bodyPr/>
                    <a:lstStyle/>
                    <a:p>
                      <a:pPr>
                        <a:defRPr sz="900" b="0">
                          <a:latin typeface="Arial"/>
                        </a:defRPr>
                      </a:pPr>
                      <a:r>
                        <a:t>25.4</a:t>
                      </a:r>
                    </a:p>
                  </a:txBody>
                  <a:tcPr>
                    <a:solidFill>
                      <a:srgbClr val="FFFFFF"/>
                    </a:solidFill>
                  </a:tcPr>
                </a:tc>
                <a:tc>
                  <a:txBody>
                    <a:bodyPr/>
                    <a:lstStyle/>
                    <a:p>
                      <a:pPr>
                        <a:defRPr sz="900" b="0">
                          <a:latin typeface="Arial"/>
                        </a:defRPr>
                      </a:pPr>
                      <a:r>
                        <a:t>8</a:t>
                      </a:r>
                    </a:p>
                  </a:txBody>
                  <a:tcPr>
                    <a:solidFill>
                      <a:srgbClr val="FFFFFF"/>
                    </a:solidFill>
                  </a:tcPr>
                </a:tc>
              </a:tr>
              <a:tr h="628650">
                <a:tc>
                  <a:txBody>
                    <a:bodyPr/>
                    <a:lstStyle/>
                    <a:p>
                      <a:pPr>
                        <a:defRPr sz="900" b="0">
                          <a:latin typeface="Arial"/>
                        </a:defRPr>
                      </a:pPr>
                      <a:r>
                        <a:t>Central/South Asia</a:t>
                      </a:r>
                    </a:p>
                  </a:txBody>
                  <a:tcPr>
                    <a:solidFill>
                      <a:srgbClr val="FFFFFF"/>
                    </a:solidFill>
                  </a:tcPr>
                </a:tc>
                <a:tc>
                  <a:txBody>
                    <a:bodyPr/>
                    <a:lstStyle/>
                    <a:p>
                      <a:pPr>
                        <a:defRPr sz="900" b="0">
                          <a:latin typeface="Arial"/>
                        </a:defRPr>
                      </a:pPr>
                      <a:r>
                        <a:t>140</a:t>
                      </a:r>
                    </a:p>
                  </a:txBody>
                  <a:tcPr>
                    <a:solidFill>
                      <a:srgbClr val="FFFFFF"/>
                    </a:solidFill>
                  </a:tcPr>
                </a:tc>
                <a:tc>
                  <a:txBody>
                    <a:bodyPr/>
                    <a:lstStyle/>
                    <a:p>
                      <a:pPr>
                        <a:defRPr sz="900" b="0">
                          <a:latin typeface="Arial"/>
                        </a:defRPr>
                      </a:pPr>
                      <a:r>
                        <a:t>31.4</a:t>
                      </a:r>
                    </a:p>
                  </a:txBody>
                  <a:tcPr>
                    <a:solidFill>
                      <a:srgbClr val="FFFFFF"/>
                    </a:solidFill>
                  </a:tcPr>
                </a:tc>
                <a:tc>
                  <a:txBody>
                    <a:bodyPr/>
                    <a:lstStyle/>
                    <a:p>
                      <a:pPr>
                        <a:defRPr sz="900" b="0">
                          <a:latin typeface="Arial"/>
                        </a:defRPr>
                      </a:pPr>
                      <a:r>
                        <a:t>6.4</a:t>
                      </a:r>
                    </a:p>
                  </a:txBody>
                  <a:tcPr>
                    <a:solidFill>
                      <a:srgbClr val="FFFFFF"/>
                    </a:solidFill>
                  </a:tcPr>
                </a:tc>
                <a:tc>
                  <a:txBody>
                    <a:bodyPr/>
                    <a:lstStyle/>
                    <a:p>
                      <a:pPr>
                        <a:defRPr sz="900" b="0">
                          <a:latin typeface="Arial"/>
                        </a:defRPr>
                      </a:pPr>
                      <a:r>
                        <a:t>32.1</a:t>
                      </a:r>
                    </a:p>
                  </a:txBody>
                  <a:tcPr>
                    <a:solidFill>
                      <a:srgbClr val="FFFFFF"/>
                    </a:solidFill>
                  </a:tcPr>
                </a:tc>
                <a:tc>
                  <a:txBody>
                    <a:bodyPr/>
                    <a:lstStyle/>
                    <a:p>
                      <a:pPr>
                        <a:defRPr sz="900" b="0">
                          <a:latin typeface="Arial"/>
                        </a:defRPr>
                      </a:pPr>
                      <a:r>
                        <a:t>30.0</a:t>
                      </a:r>
                    </a:p>
                  </a:txBody>
                  <a:tcPr>
                    <a:solidFill>
                      <a:srgbClr val="FFFFFF"/>
                    </a:solidFill>
                  </a:tcPr>
                </a:tc>
                <a:tc>
                  <a:txBody>
                    <a:bodyPr/>
                    <a:lstStyle/>
                    <a:p>
                      <a:pPr>
                        <a:defRPr sz="900" b="0">
                          <a:latin typeface="Arial"/>
                        </a:defRPr>
                      </a:pPr>
                      <a:r>
                        <a:t>31</a:t>
                      </a:r>
                    </a:p>
                  </a:txBody>
                  <a:tcPr>
                    <a:solidFill>
                      <a:srgbClr val="FFFFFF"/>
                    </a:solidFill>
                  </a:tcPr>
                </a:tc>
              </a:tr>
              <a:tr h="628650">
                <a:tc>
                  <a:txBody>
                    <a:bodyPr/>
                    <a:lstStyle/>
                    <a:p>
                      <a:pPr>
                        <a:defRPr sz="900" b="0">
                          <a:latin typeface="Arial"/>
                        </a:defRPr>
                      </a:pPr>
                      <a:r>
                        <a:t>East Asia</a:t>
                      </a:r>
                    </a:p>
                  </a:txBody>
                  <a:tcPr>
                    <a:solidFill>
                      <a:srgbClr val="FFFFFF"/>
                    </a:solidFill>
                  </a:tcPr>
                </a:tc>
                <a:tc>
                  <a:txBody>
                    <a:bodyPr/>
                    <a:lstStyle/>
                    <a:p>
                      <a:pPr>
                        <a:defRPr sz="900" b="0">
                          <a:latin typeface="Arial"/>
                        </a:defRPr>
                      </a:pPr>
                      <a:r>
                        <a:t>69</a:t>
                      </a:r>
                    </a:p>
                  </a:txBody>
                  <a:tcPr>
                    <a:solidFill>
                      <a:srgbClr val="FFFFFF"/>
                    </a:solidFill>
                  </a:tcPr>
                </a:tc>
                <a:tc>
                  <a:txBody>
                    <a:bodyPr/>
                    <a:lstStyle/>
                    <a:p>
                      <a:pPr>
                        <a:defRPr sz="900" b="0">
                          <a:latin typeface="Arial"/>
                        </a:defRPr>
                      </a:pPr>
                      <a:r>
                        <a:t>1.4</a:t>
                      </a:r>
                    </a:p>
                  </a:txBody>
                  <a:tcPr>
                    <a:solidFill>
                      <a:srgbClr val="FFFFFF"/>
                    </a:solidFill>
                  </a:tcPr>
                </a:tc>
                <a:tc>
                  <a:txBody>
                    <a:bodyPr/>
                    <a:lstStyle/>
                    <a:p>
                      <a:pPr>
                        <a:defRPr sz="900" b="0">
                          <a:latin typeface="Arial"/>
                        </a:defRPr>
                      </a:pPr>
                      <a:r>
                        <a:t>44.9</a:t>
                      </a:r>
                    </a:p>
                  </a:txBody>
                  <a:tcPr>
                    <a:solidFill>
                      <a:srgbClr val="FFFFFF"/>
                    </a:solidFill>
                  </a:tcPr>
                </a:tc>
                <a:tc>
                  <a:txBody>
                    <a:bodyPr/>
                    <a:lstStyle/>
                    <a:p>
                      <a:pPr>
                        <a:defRPr sz="900" b="0">
                          <a:latin typeface="Arial"/>
                        </a:defRPr>
                      </a:pPr>
                      <a:r>
                        <a:t>36.2</a:t>
                      </a:r>
                    </a:p>
                  </a:txBody>
                  <a:tcPr>
                    <a:solidFill>
                      <a:srgbClr val="FFFFFF"/>
                    </a:solidFill>
                  </a:tcPr>
                </a:tc>
                <a:tc>
                  <a:txBody>
                    <a:bodyPr/>
                    <a:lstStyle/>
                    <a:p>
                      <a:pPr>
                        <a:defRPr sz="900" b="0">
                          <a:latin typeface="Arial"/>
                        </a:defRPr>
                      </a:pPr>
                      <a:r>
                        <a:t>17.4</a:t>
                      </a:r>
                    </a:p>
                  </a:txBody>
                  <a:tcPr>
                    <a:solidFill>
                      <a:srgbClr val="FFFFFF"/>
                    </a:solidFill>
                  </a:tcPr>
                </a:tc>
                <a:tc>
                  <a:txBody>
                    <a:bodyPr/>
                    <a:lstStyle/>
                    <a:p>
                      <a:pPr>
                        <a:defRPr sz="900" b="0">
                          <a:latin typeface="Arial"/>
                        </a:defRPr>
                      </a:pPr>
                      <a:r>
                        <a:t>12</a:t>
                      </a:r>
                    </a:p>
                  </a:txBody>
                  <a:tcPr>
                    <a:solidFill>
                      <a:srgbClr val="FFFFFF"/>
                    </a:solidFill>
                  </a:tcPr>
                </a:tc>
              </a:tr>
              <a:tr h="628650">
                <a:tc>
                  <a:txBody>
                    <a:bodyPr/>
                    <a:lstStyle/>
                    <a:p>
                      <a:pPr>
                        <a:defRPr sz="900" b="0">
                          <a:latin typeface="Arial"/>
                        </a:defRPr>
                      </a:pPr>
                      <a:r>
                        <a:t>Oceania</a:t>
                      </a:r>
                    </a:p>
                  </a:txBody>
                  <a:tcPr>
                    <a:solidFill>
                      <a:srgbClr val="FFFFFF"/>
                    </a:solidFill>
                  </a:tcPr>
                </a:tc>
                <a:tc>
                  <a:txBody>
                    <a:bodyPr/>
                    <a:lstStyle/>
                    <a:p>
                      <a:pPr>
                        <a:defRPr sz="900" b="0">
                          <a:latin typeface="Arial"/>
                        </a:defRPr>
                      </a:pPr>
                      <a:r>
                        <a:t>26</a:t>
                      </a:r>
                    </a:p>
                  </a:txBody>
                  <a:tcPr>
                    <a:solidFill>
                      <a:srgbClr val="FFFFFF"/>
                    </a:solidFill>
                  </a:tcPr>
                </a:tc>
                <a:tc>
                  <a:txBody>
                    <a:bodyPr/>
                    <a:lstStyle/>
                    <a:p>
                      <a:pPr>
                        <a:defRPr sz="900" b="0">
                          <a:latin typeface="Arial"/>
                        </a:defRPr>
                      </a:pPr>
                      <a:r>
                        <a:t>0.0</a:t>
                      </a:r>
                    </a:p>
                  </a:txBody>
                  <a:tcPr>
                    <a:solidFill>
                      <a:srgbClr val="FFFFFF"/>
                    </a:solidFill>
                  </a:tcPr>
                </a:tc>
                <a:tc>
                  <a:txBody>
                    <a:bodyPr/>
                    <a:lstStyle/>
                    <a:p>
                      <a:pPr>
                        <a:defRPr sz="900" b="0">
                          <a:latin typeface="Arial"/>
                        </a:defRPr>
                      </a:pPr>
                      <a:r>
                        <a:t>0.0</a:t>
                      </a:r>
                    </a:p>
                  </a:txBody>
                  <a:tcPr>
                    <a:solidFill>
                      <a:srgbClr val="FFFFFF"/>
                    </a:solidFill>
                  </a:tcPr>
                </a:tc>
                <a:tc>
                  <a:txBody>
                    <a:bodyPr/>
                    <a:lstStyle/>
                    <a:p>
                      <a:pPr>
                        <a:defRPr sz="900" b="0">
                          <a:latin typeface="Arial"/>
                        </a:defRPr>
                      </a:pPr>
                      <a:r>
                        <a:t>50.0</a:t>
                      </a:r>
                    </a:p>
                  </a:txBody>
                  <a:tcPr>
                    <a:solidFill>
                      <a:srgbClr val="FFFFFF"/>
                    </a:solidFill>
                  </a:tcPr>
                </a:tc>
                <a:tc>
                  <a:txBody>
                    <a:bodyPr/>
                    <a:lstStyle/>
                    <a:p>
                      <a:pPr>
                        <a:defRPr sz="900" b="0">
                          <a:latin typeface="Arial"/>
                        </a:defRPr>
                      </a:pPr>
                      <a:r>
                        <a:t>50.0</a:t>
                      </a:r>
                    </a:p>
                  </a:txBody>
                  <a:tcPr>
                    <a:solidFill>
                      <a:srgbClr val="FFFFFF"/>
                    </a:solidFill>
                  </a:tcPr>
                </a:tc>
                <a:tc>
                  <a:txBody>
                    <a:bodyPr/>
                    <a:lstStyle/>
                    <a:p>
                      <a:pPr>
                        <a:defRPr sz="900" b="0">
                          <a:latin typeface="Arial"/>
                        </a:defRPr>
                      </a:pPr>
                      <a:r>
                        <a:t>1</a:t>
                      </a:r>
                    </a:p>
                  </a:txBody>
                  <a:tcPr>
                    <a:solidFill>
                      <a:srgbClr val="FFFFFF"/>
                    </a:solidFill>
                  </a:tcPr>
                </a:tc>
              </a:tr>
              <a:tr h="628650">
                <a:tc>
                  <a:txBody>
                    <a:bodyPr/>
                    <a:lstStyle/>
                    <a:p>
                      <a:pPr>
                        <a:defRPr sz="900" b="0">
                          <a:latin typeface="Arial"/>
                        </a:defRPr>
                      </a:pPr>
                      <a:r>
                        <a:t>Admixed Americas</a:t>
                      </a:r>
                    </a:p>
                  </a:txBody>
                  <a:tcPr>
                    <a:solidFill>
                      <a:srgbClr val="FFFFFF"/>
                    </a:solidFill>
                  </a:tcPr>
                </a:tc>
                <a:tc>
                  <a:txBody>
                    <a:bodyPr/>
                    <a:lstStyle/>
                    <a:p>
                      <a:pPr>
                        <a:defRPr sz="900" b="0">
                          <a:latin typeface="Arial"/>
                        </a:defRPr>
                      </a:pPr>
                      <a:r>
                        <a:t>150</a:t>
                      </a:r>
                    </a:p>
                  </a:txBody>
                  <a:tcPr>
                    <a:solidFill>
                      <a:srgbClr val="FFFFFF"/>
                    </a:solidFill>
                  </a:tcPr>
                </a:tc>
                <a:tc>
                  <a:txBody>
                    <a:bodyPr/>
                    <a:lstStyle/>
                    <a:p>
                      <a:pPr>
                        <a:defRPr sz="900" b="0">
                          <a:latin typeface="Arial"/>
                        </a:defRPr>
                      </a:pPr>
                      <a:r>
                        <a:t>40.0</a:t>
                      </a:r>
                    </a:p>
                  </a:txBody>
                  <a:tcPr>
                    <a:solidFill>
                      <a:srgbClr val="FFFFFF"/>
                    </a:solidFill>
                  </a:tcPr>
                </a:tc>
                <a:tc>
                  <a:txBody>
                    <a:bodyPr/>
                    <a:lstStyle/>
                    <a:p>
                      <a:pPr>
                        <a:defRPr sz="900" b="0">
                          <a:latin typeface="Arial"/>
                        </a:defRPr>
                      </a:pPr>
                      <a:r>
                        <a:t>2.0</a:t>
                      </a:r>
                    </a:p>
                  </a:txBody>
                  <a:tcPr>
                    <a:solidFill>
                      <a:srgbClr val="FFFFFF"/>
                    </a:solidFill>
                  </a:tcPr>
                </a:tc>
                <a:tc>
                  <a:txBody>
                    <a:bodyPr/>
                    <a:lstStyle/>
                    <a:p>
                      <a:pPr>
                        <a:defRPr sz="900" b="0">
                          <a:latin typeface="Arial"/>
                        </a:defRPr>
                      </a:pPr>
                      <a:r>
                        <a:t>23.3</a:t>
                      </a:r>
                    </a:p>
                  </a:txBody>
                  <a:tcPr>
                    <a:solidFill>
                      <a:srgbClr val="FFFFFF"/>
                    </a:solidFill>
                  </a:tcPr>
                </a:tc>
                <a:tc>
                  <a:txBody>
                    <a:bodyPr/>
                    <a:lstStyle/>
                    <a:p>
                      <a:pPr>
                        <a:defRPr sz="900" b="0">
                          <a:latin typeface="Arial"/>
                        </a:defRPr>
                      </a:pPr>
                      <a:r>
                        <a:t>34.7</a:t>
                      </a:r>
                    </a:p>
                  </a:txBody>
                  <a:tcPr>
                    <a:solidFill>
                      <a:srgbClr val="FFFFFF"/>
                    </a:solidFill>
                  </a:tcPr>
                </a:tc>
                <a:tc>
                  <a:txBody>
                    <a:bodyPr/>
                    <a:lstStyle/>
                    <a:p>
                      <a:pPr>
                        <a:defRPr sz="900" b="0">
                          <a:latin typeface="Arial"/>
                        </a:defRPr>
                      </a:pPr>
                      <a:r>
                        <a:t>20</a:t>
                      </a:r>
                    </a:p>
                  </a:txBody>
                  <a:tcPr>
                    <a:solidFill>
                      <a:srgbClr val="FFFFFF"/>
                    </a:solidFill>
                  </a:tcPr>
                </a:tc>
              </a:tr>
              <a:tr h="628650">
                <a:tc>
                  <a:txBody>
                    <a:bodyPr/>
                    <a:lstStyle/>
                    <a:p>
                      <a:pPr>
                        <a:defRPr sz="900" b="0">
                          <a:latin typeface="Arial"/>
                        </a:defRPr>
                      </a:pPr>
                      <a:r>
                        <a:t>Indigenous Americas</a:t>
                      </a:r>
                    </a:p>
                  </a:txBody>
                  <a:tcPr>
                    <a:solidFill>
                      <a:srgbClr val="FFFFFF"/>
                    </a:solidFill>
                  </a:tcPr>
                </a:tc>
                <a:tc>
                  <a:txBody>
                    <a:bodyPr/>
                    <a:lstStyle/>
                    <a:p>
                      <a:pPr>
                        <a:defRPr sz="900" b="0">
                          <a:latin typeface="Arial"/>
                        </a:defRPr>
                      </a:pPr>
                      <a:r>
                        <a:t>2</a:t>
                      </a:r>
                    </a:p>
                  </a:txBody>
                  <a:tcPr>
                    <a:solidFill>
                      <a:srgbClr val="FFFFFF"/>
                    </a:solidFill>
                  </a:tcPr>
                </a:tc>
                <a:tc>
                  <a:txBody>
                    <a:bodyPr/>
                    <a:lstStyle/>
                    <a:p>
                      <a:pPr>
                        <a:defRPr sz="900" b="0">
                          <a:latin typeface="Arial"/>
                        </a:defRPr>
                      </a:pPr>
                      <a:r>
                        <a:t>100.0</a:t>
                      </a:r>
                    </a:p>
                  </a:txBody>
                  <a:tcPr>
                    <a:solidFill>
                      <a:srgbClr val="FFFFFF"/>
                    </a:solidFill>
                  </a:tcPr>
                </a:tc>
                <a:tc>
                  <a:txBody>
                    <a:bodyPr/>
                    <a:lstStyle/>
                    <a:p>
                      <a:pPr>
                        <a:defRPr sz="900" b="0">
                          <a:latin typeface="Arial"/>
                        </a:defRPr>
                      </a:pPr>
                      <a:r>
                        <a:t>0.0</a:t>
                      </a:r>
                    </a:p>
                  </a:txBody>
                  <a:tcPr>
                    <a:solidFill>
                      <a:srgbClr val="FFFFFF"/>
                    </a:solidFill>
                  </a:tcPr>
                </a:tc>
                <a:tc>
                  <a:txBody>
                    <a:bodyPr/>
                    <a:lstStyle/>
                    <a:p>
                      <a:pPr>
                        <a:defRPr sz="900" b="0">
                          <a:latin typeface="Arial"/>
                        </a:defRPr>
                      </a:pPr>
                      <a:r>
                        <a:t>0.0</a:t>
                      </a:r>
                    </a:p>
                  </a:txBody>
                  <a:tcPr>
                    <a:solidFill>
                      <a:srgbClr val="FFFFFF"/>
                    </a:solidFill>
                  </a:tcPr>
                </a:tc>
                <a:tc>
                  <a:txBody>
                    <a:bodyPr/>
                    <a:lstStyle/>
                    <a:p>
                      <a:pPr>
                        <a:defRPr sz="900" b="0">
                          <a:latin typeface="Arial"/>
                        </a:defRPr>
                      </a:pPr>
                      <a:r>
                        <a:t>0.0</a:t>
                      </a:r>
                    </a:p>
                  </a:txBody>
                  <a:tcPr>
                    <a:solidFill>
                      <a:srgbClr val="FFFFFF"/>
                    </a:solidFill>
                  </a:tcPr>
                </a:tc>
                <a:tc>
                  <a:txBody>
                    <a:bodyPr/>
                    <a:lstStyle/>
                    <a:p>
                      <a:pPr>
                        <a:defRPr sz="900" b="0">
                          <a:latin typeface="Arial"/>
                        </a:defRPr>
                      </a:pPr>
                      <a:r>
                        <a:t>1</a:t>
                      </a:r>
                    </a:p>
                  </a:txBody>
                  <a:tcPr>
                    <a:solidFill>
                      <a:srgbClr val="FFFFFF"/>
                    </a:solidFill>
                  </a:tcPr>
                </a:tc>
              </a:tr>
            </a:tbl>
          </a:graphicData>
        </a:graphic>
      </p:graphicFrame>
      <p:sp>
        <p:nvSpPr>
          <p:cNvPr id="4" name="TextBox 3"/>
          <p:cNvSpPr txBox="1"/>
          <p:nvPr/>
        </p:nvSpPr>
        <p:spPr>
          <a:xfrm>
            <a:off x="502920" y="6108192"/>
            <a:ext cx="11155680" cy="530352"/>
          </a:xfrm>
          <a:prstGeom prst="rect">
            <a:avLst/>
          </a:prstGeom>
          <a:noFill/>
        </p:spPr>
        <p:txBody>
          <a:bodyPr wrap="none">
            <a:spAutoFit/>
          </a:bodyPr>
          <a:lstStyle/>
          <a:p>
            <a:pPr algn="l">
              <a:defRPr sz="900">
                <a:latin typeface="Arial"/>
              </a:defRPr>
            </a:pPr>
            <a:r>
              <a:t>Note. Counts are segments, not individuals. Equal maximum similarity counts are reported as ties. The Indigenous American row contains two segments, only one of which overlaps ABO.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