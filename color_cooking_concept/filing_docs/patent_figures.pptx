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【図1】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20000"/>
            <a:ext cx="7920000" cy="52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792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</a:rPr>
              <a:t>調理タイミング判定装置 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1260000"/>
            <a:ext cx="1980000" cy="14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色彩センサー部 110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RGBCセンサー 111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(TCS3472)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白色LED照明 112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0000" y="1260000"/>
            <a:ext cx="2520000" cy="14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マイクロコントローラ部 120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(ESP32-S3)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色空間変換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(RGB -&gt; XYZ -&gt; L*a*b*)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色差ΔE算出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時系列追跡(環状バッファ)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予測通知(変化率推定)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0000" y="1260000"/>
            <a:ext cx="1980000" cy="9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入力手段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(タッチパネル)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3060000"/>
            <a:ext cx="1980000" cy="12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表示部 130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(タッチスクリーン)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プリセット選択メニュー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ΔEプログレスバー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トレンドグラフ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0" y="3060000"/>
            <a:ext cx="1620000" cy="12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通知部 140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スピーカー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(880Hz / 1100Hz)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- Wi-Fi / 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0000" y="3060000"/>
            <a:ext cx="2880000" cy="12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記憶部 150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(不揮発性メモリ)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目標色プリセット辞書: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きつね色  [68.5, 12.3, 42.1]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飴色      [73.2,  8.7, 38.5]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ハシバミ色 [65.0, 10.1, 30.2]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4860000"/>
            <a:ext cx="1620000" cy="7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食品表面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(被計測対象)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0000" y="4860000"/>
            <a:ext cx="1620000" cy="7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白色基準面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(キャリブレーション用)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8000" y="1728000"/>
            <a:ext cx="9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0000"/>
                </a:solidFill>
              </a:rPr>
              <a:t>I2C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00000" y="1908000"/>
            <a:ext cx="36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700000" y="2700000"/>
            <a:ext cx="360000" cy="54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60000" y="2700000"/>
            <a:ext cx="360000" cy="36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80000" y="2700000"/>
            <a:ext cx="540000" cy="36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620000" y="2700000"/>
            <a:ext cx="0" cy="216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1980000" y="2700000"/>
            <a:ext cx="1080000" cy="216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【図2】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0" y="900000"/>
            <a:ext cx="5400000" cy="61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TCS3472 RGBC値取得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(R, G, B, C)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00000" y="1512000"/>
            <a:ext cx="0" cy="10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800000" y="1620000"/>
            <a:ext cx="5400000" cy="61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正規化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r = R/C,  g = G/C,  b = B/C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00000" y="2232000"/>
            <a:ext cx="0" cy="10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800000" y="2340000"/>
            <a:ext cx="5400000" cy="61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ホワイトバランス補正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r' = r x coeff_R,  g' = g x coeff_G,  b' = b x coeff_B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00000" y="2952000"/>
            <a:ext cx="0" cy="10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0000" y="3060000"/>
            <a:ext cx="5400000" cy="82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逆sRGBコンパンディング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c &gt; 0.04045 : ((c+0.055)/1.055)^2.4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c &lt;= 0.04045 : c / 12.92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0000" y="3887999"/>
            <a:ext cx="0" cy="10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00000" y="3995999"/>
            <a:ext cx="5400000" cy="61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線形RGB -&gt; CIE XYZ (D65)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3x3 マトリクス変換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00000" y="4607999"/>
            <a:ext cx="0" cy="10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00000" y="4715999"/>
            <a:ext cx="5400000" cy="82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CIE XYZ -&gt; L*a*b* (D65白色点)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L* = 116 f(Y/Yn) - 16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a* = 500 (f(X/Xn) - f(Y/Yn))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b* = 200 (f(Y/Yn) - f(Z/Zn))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00000" y="5543998"/>
            <a:ext cx="0" cy="10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800000" y="5651998"/>
            <a:ext cx="5400000" cy="61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出力: L*, a*, b*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【図3】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0000" y="1080000"/>
          <a:ext cx="79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/>
                <a:gridCol w="1260000"/>
                <a:gridCol w="1260000"/>
                <a:gridCol w="720000"/>
                <a:gridCol w="720000"/>
                <a:gridCol w="720000"/>
                <a:gridCol w="900000"/>
                <a:gridCol w="1800000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色名(JA)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色名(EN)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L*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b*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ΔE閾値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きつね色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Golden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68.5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42.1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揚げ物・焼き物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飴色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Caramel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73.2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38.5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炒め物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ハシバミ色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Hazelnut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65.0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30.2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焼き菓子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こんがり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Toasted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15.2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35.8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パン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べっこう色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55.0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20.3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カラメル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焦がしバター色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Beurre Noisette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ソース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(ユーザー定義)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(user-defined)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</a:rPr>
                        <a:t>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【図4】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40000" y="900000"/>
            <a:ext cx="2520000" cy="43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000000"/>
                </a:solidFill>
              </a:rPr>
              <a:t>開始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00000" y="1332000"/>
            <a:ext cx="0" cy="18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00000" y="1512000"/>
            <a:ext cx="3600000" cy="468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S1: プリセットから目標色を選択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00000" y="1980000"/>
            <a:ext cx="0" cy="144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00000" y="2124000"/>
            <a:ext cx="3600000" cy="468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S2: 白色基準面の計測 -&gt; 補正係数算出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00000" y="2592000"/>
            <a:ext cx="0" cy="144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00000" y="2736000"/>
            <a:ext cx="3600000" cy="468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S3: 食品初期色を計測 -&gt; 初期ΔE算出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0000" y="3204000"/>
            <a:ext cx="0" cy="144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00000" y="3348000"/>
            <a:ext cx="3600000" cy="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S4: 食品色の連続計測ループ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RGBC -&gt; L*a*b* -&gt; ΔE算出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00000" y="3888000"/>
            <a:ext cx="0" cy="216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/>
          <p:cNvSpPr/>
          <p:nvPr/>
        </p:nvSpPr>
        <p:spPr>
          <a:xfrm>
            <a:off x="3420000" y="4104000"/>
            <a:ext cx="2160000" cy="900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000" b="1">
                <a:solidFill>
                  <a:srgbClr val="000000"/>
                </a:solidFill>
              </a:rPr>
              <a:t>ΔE &lt; 閾値?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0" y="4392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</a:rPr>
              <a:t>No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80000" y="4572000"/>
            <a:ext cx="90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480000" y="3600000"/>
            <a:ext cx="0" cy="9720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6300000" y="3600000"/>
            <a:ext cx="18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0000" y="4212000"/>
            <a:ext cx="2340000" cy="7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0">
                <a:solidFill>
                  <a:srgbClr val="000000"/>
                </a:solidFill>
              </a:rPr>
              <a:t>予測: 残りサイクル &lt; 5 ?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-&gt; 予告通知出力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880000" y="4572000"/>
            <a:ext cx="54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40000" y="4968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</a:rPr>
              <a:t>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00000" y="5004000"/>
            <a:ext cx="0" cy="324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700000" y="5328000"/>
            <a:ext cx="3600000" cy="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S5: 目標色到達通知</a:t>
            </a:r>
          </a:p>
          <a:p>
            <a:pPr algn="ctr"/>
            <a:r>
              <a:rPr sz="900" b="0">
                <a:solidFill>
                  <a:srgbClr val="000000"/>
                </a:solidFill>
              </a:rPr>
              <a:t>アラーム音出力 / 到達画面表示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00000" y="5868000"/>
            <a:ext cx="0" cy="18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240000" y="6048000"/>
            <a:ext cx="2520000" cy="43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000000"/>
                </a:solidFill>
              </a:rPr>
              <a:t>終了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【図5】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260000" y="1080000"/>
            <a:ext cx="0" cy="45000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90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</a:rPr>
              <a:t>ΔE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60000" y="5580000"/>
            <a:ext cx="66600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00000" y="5652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</a:rPr>
              <a:t>時間 (計測サイクル)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260000"/>
            <a:ext cx="5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50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000" y="1332000"/>
            <a:ext cx="72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20000" y="1908000"/>
            <a:ext cx="5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40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000" y="1980000"/>
            <a:ext cx="72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20000" y="2556000"/>
            <a:ext cx="5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30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000" y="2628000"/>
            <a:ext cx="72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20000" y="3240000"/>
            <a:ext cx="5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20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88000" y="3312000"/>
            <a:ext cx="72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0000" y="4248000"/>
            <a:ext cx="5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10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4320000"/>
            <a:ext cx="72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0000" y="4752000"/>
            <a:ext cx="5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88000" y="4824000"/>
            <a:ext cx="72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88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0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2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4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0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2000" y="5580000"/>
            <a:ext cx="4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</a:rPr>
              <a:t>35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60000" y="4824000"/>
            <a:ext cx="6660000" cy="0"/>
          </a:xfrm>
          <a:prstGeom prst="line">
            <a:avLst/>
          </a:prstGeom>
          <a:ln w="190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60000" y="4608000"/>
            <a:ext cx="1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0000"/>
                </a:solidFill>
              </a:rPr>
              <a:t>ΔE閾値 = 5.0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440000" y="1368000"/>
            <a:ext cx="540000" cy="252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980000" y="1620000"/>
            <a:ext cx="540000" cy="324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20000" y="1944000"/>
            <a:ext cx="540000" cy="39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60000" y="2340000"/>
            <a:ext cx="540000" cy="360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600000" y="2700000"/>
            <a:ext cx="540000" cy="39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140000" y="3096000"/>
            <a:ext cx="540000" cy="432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680000" y="3528000"/>
            <a:ext cx="540000" cy="360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220000" y="3888000"/>
            <a:ext cx="540000" cy="360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60000" y="4248000"/>
            <a:ext cx="540000" cy="324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00000" y="4572000"/>
            <a:ext cx="540000" cy="21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840000" y="4788000"/>
            <a:ext cx="360000" cy="3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396800" y="1324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36800" y="1576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476800" y="1900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016800" y="2296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56800" y="2656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96800" y="3052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36800" y="3484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176800" y="3844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716800" y="4204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256800" y="4528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796800" y="4744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156800" y="4780800"/>
            <a:ext cx="86400" cy="864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30000" y="3798000"/>
            <a:ext cx="180000" cy="18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00000" y="3672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(P) 予告通知発動 (残り約5サイクル)</a:t>
            </a:r>
          </a:p>
        </p:txBody>
      </p:sp>
      <p:sp>
        <p:nvSpPr>
          <p:cNvPr id="54" name="Oval 53"/>
          <p:cNvSpPr/>
          <p:nvPr/>
        </p:nvSpPr>
        <p:spPr>
          <a:xfrm>
            <a:off x="7092000" y="4716000"/>
            <a:ext cx="216000" cy="216000"/>
          </a:xfrm>
          <a:prstGeom prst="ellipse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46000" y="4770000"/>
            <a:ext cx="108000" cy="1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0" y="5040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0000"/>
                </a:solidFill>
              </a:rPr>
              <a:t>(R) 目標到達 -&gt; アラーム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0000" y="594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凡例:  --- ΔE計測値   (P) 予告通知発動点   (R) 目標到達 (ΔE &lt; 閾値)   - - - ΔE閾値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【図6】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0" y="900000"/>
            <a:ext cx="2520000" cy="1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900" b="0">
                <a:solidFill>
                  <a:srgbClr val="000000"/>
                </a:solidFill>
              </a:rPr>
              <a:t>表示部 130 / CoreS3</a:t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>  dE: 12.3</a:t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>  [========&gt;        ] 62%</a:t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>  目標: きつね色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0000" y="1260000"/>
            <a:ext cx="2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&lt;- タッチスクリーン (2インチ)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0000" y="2592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</a:rPr>
              <a:t>Groveケーブル (I2C)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00000" y="2520000"/>
            <a:ext cx="0" cy="3600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0" y="2880000"/>
            <a:ext cx="1800000" cy="9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900" b="0">
                <a:solidFill>
                  <a:srgbClr val="000000"/>
                </a:solidFill>
              </a:rPr>
              <a:t>センサー部 110</a:t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>(o) RGBCセンサー 111</a:t>
            </a:r>
          </a:p>
          <a:p>
            <a:pPr algn="l"/>
            <a:r>
              <a:rPr sz="900" b="0">
                <a:solidFill>
                  <a:srgbClr val="000000"/>
                </a:solidFill>
              </a:rPr>
              <a:t>(o) 白色LED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0" y="3960000"/>
            <a:ext cx="3240000" cy="216000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0" y="3780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</a:rPr>
              <a:t>&lt;- クリップ機構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0000" y="4176000"/>
            <a:ext cx="3600000" cy="43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鍋 / フライパンの縁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4788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</a:rPr>
              <a:t>照射・計測方向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00000" y="5040000"/>
            <a:ext cx="0" cy="288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700000" y="5328000"/>
            <a:ext cx="3600000" cy="7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000" b="0">
                <a:solidFill>
                  <a:srgbClr val="000000"/>
                </a:solidFill>
              </a:rPr>
              <a:t>調理中の食品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(被計測対象)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060000"/>
            <a:ext cx="23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計測距離: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数cm - 10cm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照明: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白色LED内蔵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(照明条件を統一)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82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【図7】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1080000"/>
            <a:ext cx="1980000" cy="21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MENU画面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TONGE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&gt; きつね色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&gt; 飴色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&gt; ハシバミ色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&gt; こんがり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&gt; べっこう色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  &gt; 焦がしバター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0" y="1080000"/>
            <a:ext cx="1980000" cy="1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CALIBRATE画面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白い面を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センサーに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かざしてください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[タッチで開始]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0" y="3240000"/>
            <a:ext cx="1980000" cy="21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MONITORING画面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計測色:   目標色: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dE: 15.2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[========&gt;        ] 62%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L*=62  a*=11  b*=35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[トレンドグラフ]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[タッチ: 停止]</a:t>
            </a:r>
          </a:p>
        </p:txBody>
      </p:sp>
      <p:sp>
        <p:nvSpPr>
          <p:cNvPr id="6" name="Rectangle 5"/>
          <p:cNvSpPr/>
          <p:nvPr/>
        </p:nvSpPr>
        <p:spPr>
          <a:xfrm>
            <a:off x="6840000" y="3240000"/>
            <a:ext cx="1980000" cy="18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800" b="0">
                <a:solidFill>
                  <a:srgbClr val="000000"/>
                </a:solidFill>
              </a:rPr>
              <a:t>REACHED画面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きつね色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到達!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Time: 05:23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dE: 4.8</a:t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800" b="0">
                <a:solidFill>
                  <a:srgbClr val="000000"/>
                </a:solidFill>
              </a:rPr>
              <a:t>アラーム鳴動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8000" y="1620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長押し -&gt;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40000" y="1872000"/>
            <a:ext cx="126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51999" y="2808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タッチ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0000" y="2700000"/>
            <a:ext cx="0" cy="54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52000" y="38880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ΔE&lt;閾値 -&gt;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80000" y="4140000"/>
            <a:ext cx="126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00000" y="5580000"/>
            <a:ext cx="2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&lt;-- タッチ: メニューに戻る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40000" y="5040000"/>
            <a:ext cx="0" cy="7200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60000" y="5760000"/>
            <a:ext cx="64800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260000" y="3240000"/>
            <a:ext cx="0" cy="252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00000" y="4140000"/>
            <a:ext cx="1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00000"/>
                </a:solidFill>
              </a:rPr>
              <a:t>タッチ(停止)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2340000" y="3240000"/>
            <a:ext cx="1260000" cy="108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