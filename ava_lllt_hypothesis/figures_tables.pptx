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Figure 1. Proposed mechanism of PBM-induced AVA vasodilation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PBM Irradiation (630–850 nm, 20–100 mW/cm²)</a:t>
            </a:r>
          </a:p>
          <a:p>
            <a:pPr>
              <a:defRPr sz="1400">
                <a:solidFill>
                  <a:srgbClr val="0070C0"/>
                </a:solidFill>
              </a:defRPr>
            </a:pPr>
            <a:r>
              <a:t>        ↓</a:t>
            </a:r>
          </a:p>
          <a:p>
            <a:pPr>
              <a:defRPr sz="1400"/>
            </a:pPr>
            <a:r>
              <a:t>Photon absorption by CcO / nitrosyl-Hb in dermal vessels</a:t>
            </a:r>
          </a:p>
          <a:p>
            <a:pPr>
              <a:defRPr sz="1400">
                <a:solidFill>
                  <a:srgbClr val="0070C0"/>
                </a:solidFill>
              </a:defRPr>
            </a:pPr>
            <a:r>
              <a:t>        ↓</a:t>
            </a:r>
          </a:p>
          <a:p>
            <a:pPr>
              <a:defRPr sz="1400"/>
            </a:pPr>
            <a:r>
              <a:t>NO release from endothelial stores (S-nitrosothiols)</a:t>
            </a:r>
          </a:p>
          <a:p>
            <a:pPr>
              <a:defRPr sz="1400">
                <a:solidFill>
                  <a:srgbClr val="0070C0"/>
                </a:solidFill>
              </a:defRPr>
            </a:pPr>
            <a:r>
              <a:t>        ↓</a:t>
            </a:r>
          </a:p>
          <a:p>
            <a:pPr>
              <a:defRPr sz="1400"/>
            </a:pPr>
            <a:r>
              <a:t>sGC activation → cGMP↑ → PKG activation</a:t>
            </a:r>
          </a:p>
          <a:p>
            <a:pPr>
              <a:defRPr sz="1400">
                <a:solidFill>
                  <a:srgbClr val="0070C0"/>
                </a:solidFill>
              </a:defRPr>
            </a:pPr>
            <a:r>
              <a:t>        ↓</a:t>
            </a:r>
          </a:p>
          <a:p>
            <a:pPr>
              <a:defRPr sz="1400" b="1"/>
            </a:pPr>
            <a:r>
              <a:t>AVA smooth muscle relaxation → AVA DILATION</a:t>
            </a:r>
          </a:p>
          <a:p>
            <a:pPr>
              <a:defRPr sz="1400">
                <a:solidFill>
                  <a:srgbClr val="0070C0"/>
                </a:solidFill>
              </a:defRPr>
            </a:pPr>
            <a:r>
              <a:t>        ↓</a:t>
            </a:r>
          </a:p>
          <a:p>
            <a:pPr>
              <a:defRPr sz="1400"/>
            </a:pPr>
            <a:r>
              <a:t>Parallel low-resistance pathways added to systemic circulation</a:t>
            </a:r>
          </a:p>
          <a:p>
            <a:pPr>
              <a:defRPr sz="1400">
                <a:solidFill>
                  <a:srgbClr val="0070C0"/>
                </a:solidFill>
              </a:defRPr>
            </a:pPr>
            <a:r>
              <a:t>        ↓</a:t>
            </a:r>
          </a:p>
          <a:p>
            <a:pPr>
              <a:defRPr sz="1400"/>
            </a:pPr>
            <a:r>
              <a:t>TPR reduction (estimated 5–10%)</a:t>
            </a:r>
          </a:p>
          <a:p>
            <a:pPr>
              <a:defRPr sz="1400">
                <a:solidFill>
                  <a:srgbClr val="0070C0"/>
                </a:solidFill>
              </a:defRPr>
            </a:pPr>
            <a:r>
              <a:t>        ↓</a:t>
            </a:r>
          </a:p>
          <a:p>
            <a:pPr>
              <a:defRPr sz="1400" b="1"/>
            </a:pPr>
            <a:r>
              <a:t>ΔMAP = −4.5 to −9 mmHg (clinically significant)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/>
            </a:pPr>
            <a:r>
              <a:t>Fig. 1. Schematic of proposed causal chain from photobiomodulation to blood pressure reduction via AVA vasodilation. CcO = cytochrome c oxidase; Hb = hemoglobin; NO = nitric oxide; sGC = soluble guanylate cyclase; cGMP = cyclic guanosine monophosphate; PKG = protein kinase G; AVA = arteriovenous anastomosis; TPR = total peripheral resistance; MAP = mean arterial pressure.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Table 1. Comparison of arteriovenous shunt-based blood pressure reduction strategies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Mechanism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BP reduction</a:t>
                      </a:r>
                    </a:p>
                    <a:p>
                      <a:pPr algn="ctr">
                        <a:defRPr sz="1100" b="1"/>
                      </a:pPr>
                      <a:r>
                        <a:t>(SBP, mmHg)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Invasiveness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Evidence level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ROX Coupler</a:t>
                      </a:r>
                    </a:p>
                    <a:p>
                      <a:pPr algn="ctr">
                        <a:defRPr sz="1000"/>
                      </a:pPr>
                      <a:r>
                        <a:t>(iliac AV fistula)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Surgically created</a:t>
                      </a:r>
                    </a:p>
                    <a:p>
                      <a:pPr algn="ctr">
                        <a:defRPr sz="1000"/>
                      </a:pPr>
                      <a:r>
                        <a:t>fixed AV shunt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−26.9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Invasive</a:t>
                      </a:r>
                    </a:p>
                    <a:p>
                      <a:pPr algn="ctr">
                        <a:defRPr sz="1000"/>
                      </a:pPr>
                      <a:r>
                        <a:t>(catheter)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RCT (n=83)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AVACEN 100</a:t>
                      </a:r>
                    </a:p>
                    <a:p>
                      <a:pPr algn="ctr">
                        <a:defRPr sz="1000"/>
                      </a:pPr>
                      <a:r>
                        <a:t>(palm heating +</a:t>
                      </a:r>
                    </a:p>
                    <a:p>
                      <a:pPr algn="ctr">
                        <a:defRPr sz="1000"/>
                      </a:pPr>
                      <a:r>
                        <a:t>neg. pressure)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Conductive heat +</a:t>
                      </a:r>
                    </a:p>
                    <a:p>
                      <a:pPr algn="ctr">
                        <a:defRPr sz="1000"/>
                      </a:pPr>
                      <a:r>
                        <a:t>vacuum → AVA dilation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Under</a:t>
                      </a:r>
                    </a:p>
                    <a:p>
                      <a:pPr algn="ctr">
                        <a:defRPr sz="1000"/>
                      </a:pPr>
                      <a:r>
                        <a:t>investigation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Non-invasive</a:t>
                      </a:r>
                    </a:p>
                    <a:p>
                      <a:pPr algn="ctr">
                        <a:defRPr sz="1000"/>
                      </a:pPr>
                      <a:r>
                        <a:t>(stationary)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Pilot studies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Selective thermal</a:t>
                      </a:r>
                    </a:p>
                    <a:p>
                      <a:pPr algn="ctr">
                        <a:defRPr sz="1000"/>
                      </a:pPr>
                      <a:r>
                        <a:t>stimulation</a:t>
                      </a:r>
                    </a:p>
                    <a:p>
                      <a:pPr algn="ctr">
                        <a:defRPr sz="1000"/>
                      </a:pPr>
                      <a:r>
                        <a:t>(Diller, 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Spinal heating →</a:t>
                      </a:r>
                    </a:p>
                    <a:p>
                      <a:pPr algn="ctr">
                        <a:defRPr sz="1000"/>
                      </a:pPr>
                      <a:r>
                        <a:t>hypothalamic reflex</a:t>
                      </a:r>
                    </a:p>
                    <a:p>
                      <a:pPr algn="ctr">
                        <a:defRPr sz="1000"/>
                      </a:pPr>
                      <a:r>
                        <a:t>→ AVA dilation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Not yet</a:t>
                      </a:r>
                    </a:p>
                    <a:p>
                      <a:pPr algn="ctr">
                        <a:defRPr sz="1000"/>
                      </a:pPr>
                      <a:r>
                        <a:t>reported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Non-invasive</a:t>
                      </a:r>
                    </a:p>
                    <a:p>
                      <a:pPr algn="ctr">
                        <a:defRPr sz="1000"/>
                      </a:pPr>
                      <a:r>
                        <a:t>(bed-integrated)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POC (n=10)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PBM-AVA device</a:t>
                      </a:r>
                    </a:p>
                    <a:p>
                      <a:pPr algn="ctr">
                        <a:defRPr sz="1000"/>
                      </a:pPr>
                      <a:r>
                        <a:t>(proposed)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PBM → NO release</a:t>
                      </a:r>
                    </a:p>
                    <a:p>
                      <a:pPr algn="ctr">
                        <a:defRPr sz="1000"/>
                      </a:pPr>
                      <a:r>
                        <a:t>→ AVA dilation</a:t>
                      </a:r>
                    </a:p>
                    <a:p>
                      <a:pPr algn="ctr">
                        <a:defRPr sz="1000"/>
                      </a:pPr>
                      <a:r>
                        <a:t>→ TPR↓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Predicted:</a:t>
                      </a:r>
                    </a:p>
                    <a:p>
                      <a:pPr algn="ctr">
                        <a:defRPr sz="1000"/>
                      </a:pPr>
                      <a:r>
                        <a:t>−5 to −10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Non-invasive</a:t>
                      </a:r>
                    </a:p>
                    <a:p>
                      <a:pPr algn="ctr">
                        <a:defRPr sz="1000"/>
                      </a:pPr>
                      <a:r>
                        <a:t>(wearable)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Hypothesis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