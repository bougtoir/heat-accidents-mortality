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gt;&gt;"/>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32720" cy="1828800"/>
          </a:xfrm>
          <a:prstGeom prst="rect">
            <a:avLst/>
          </a:prstGeom>
          <a:noFill/>
        </p:spPr>
        <p:txBody>
          <a:bodyPr wrap="square">
            <a:spAutoFit/>
          </a:bodyPr>
          <a:lstStyle/>
          <a:p>
            <a:pPr algn="ctr">
              <a:defRPr sz="2800" b="1">
                <a:solidFill>
                  <a:srgbClr val="1A1A2E"/>
                </a:solidFill>
                <a:latin typeface="Times New Roman"/>
              </a:defRPr>
            </a:pPr>
            <a:r>
              <a:t>医療安全事故が日本の12診療科における医師数および医療施設数に与える影響：分割時系列分析</a:t>
            </a:r>
          </a:p>
        </p:txBody>
      </p:sp>
      <p:sp>
        <p:nvSpPr>
          <p:cNvPr id="3" name="TextBox 2"/>
          <p:cNvSpPr txBox="1"/>
          <p:nvPr/>
        </p:nvSpPr>
        <p:spPr>
          <a:xfrm>
            <a:off x="1828800" y="4114800"/>
            <a:ext cx="8503920" cy="914400"/>
          </a:xfrm>
          <a:prstGeom prst="rect">
            <a:avLst/>
          </a:prstGeom>
          <a:noFill/>
        </p:spPr>
        <p:txBody>
          <a:bodyPr wrap="square">
            <a:spAutoFit/>
          </a:bodyPr>
          <a:lstStyle/>
          <a:p>
            <a:pPr algn="ctr">
              <a:defRPr sz="1800">
                <a:solidFill>
                  <a:srgbClr val="00528A"/>
                </a:solidFill>
                <a:latin typeface="Times New Roman"/>
              </a:defRPr>
            </a:pPr>
            <a:r>
              <a:t>BMJ投稿用 図表一覧</a:t>
            </a:r>
          </a:p>
          <a:p>
            <a:pPr algn="ctr">
              <a:defRPr sz="1400">
                <a:solidFill>
                  <a:srgbClr val="888888"/>
                </a:solidFill>
                <a:latin typeface="Times New Roman"/>
              </a:defRPr>
            </a:pPr>
            <a:r>
              <a:t>[著者名：記入予定]</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pPr algn="l">
              <a:defRPr sz="2200" b="1">
                <a:solidFill>
                  <a:srgbClr val="1A1A2E"/>
                </a:solidFill>
                <a:latin typeface="Times New Roman"/>
              </a:defRPr>
            </a:pPr>
            <a:r>
              <a:t>図1. 診療科別・定義別の医療安全事故件数の推移</a:t>
            </a:r>
          </a:p>
        </p:txBody>
      </p:sp>
      <p:pic>
        <p:nvPicPr>
          <p:cNvPr id="3" name="Picture 2" descr="accident_trends.png"/>
          <p:cNvPicPr>
            <a:picLocks noChangeAspect="1"/>
          </p:cNvPicPr>
          <p:nvPr/>
        </p:nvPicPr>
        <p:blipFill>
          <a:blip r:embed="rId2"/>
          <a:stretch>
            <a:fillRect/>
          </a:stretch>
        </p:blipFill>
        <p:spPr>
          <a:xfrm>
            <a:off x="3548834" y="1097280"/>
            <a:ext cx="5094026" cy="5029200"/>
          </a:xfrm>
          <a:prstGeom prst="rect">
            <a:avLst/>
          </a:prstGeom>
        </p:spPr>
      </p:pic>
      <p:sp>
        <p:nvSpPr>
          <p:cNvPr id="4" name="TextBox 3"/>
          <p:cNvSpPr txBox="1"/>
          <p:nvPr/>
        </p:nvSpPr>
        <p:spPr>
          <a:xfrm>
            <a:off x="457200" y="6217920"/>
            <a:ext cx="11247120" cy="548640"/>
          </a:xfrm>
          <a:prstGeom prst="rect">
            <a:avLst/>
          </a:prstGeom>
          <a:noFill/>
        </p:spPr>
        <p:txBody>
          <a:bodyPr wrap="square">
            <a:spAutoFit/>
          </a:bodyPr>
          <a:lstStyle/>
          <a:p>
            <a:pPr algn="l">
              <a:defRPr sz="1100" i="1">
                <a:solidFill>
                  <a:srgbClr val="555555"/>
                </a:solidFill>
                <a:latin typeface="Times New Roman"/>
              </a:defRPr>
            </a:pPr>
            <a:r>
              <a:t>パネルA：医療事故調査制度（日本医療安全調査機構）による義務的報告（2015〜2025年）。パネルB：医事関係訴訟統計（最高裁判所、2004〜2023年）。事故件数上位5診療科をハイライト表示。</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pPr algn="l">
              <a:defRPr sz="2200" b="1">
                <a:solidFill>
                  <a:srgbClr val="1A1A2E"/>
                </a:solidFill>
                <a:latin typeface="Times New Roman"/>
              </a:defRPr>
            </a:pPr>
            <a:r>
              <a:t>図2. 分割時系列：医師数 vs 医療事故調査制度報告件数</a:t>
            </a:r>
          </a:p>
        </p:txBody>
      </p:sp>
      <p:pic>
        <p:nvPicPr>
          <p:cNvPr id="3" name="Picture 2" descr="its_physicians_def1.png"/>
          <p:cNvPicPr>
            <a:picLocks noChangeAspect="1"/>
          </p:cNvPicPr>
          <p:nvPr/>
        </p:nvPicPr>
        <p:blipFill>
          <a:blip r:embed="rId2"/>
          <a:stretch>
            <a:fillRect/>
          </a:stretch>
        </p:blipFill>
        <p:spPr>
          <a:xfrm>
            <a:off x="3973087" y="1097280"/>
            <a:ext cx="4245520" cy="5029200"/>
          </a:xfrm>
          <a:prstGeom prst="rect">
            <a:avLst/>
          </a:prstGeom>
        </p:spPr>
      </p:pic>
      <p:sp>
        <p:nvSpPr>
          <p:cNvPr id="4" name="TextBox 3"/>
          <p:cNvSpPr txBox="1"/>
          <p:nvPr/>
        </p:nvSpPr>
        <p:spPr>
          <a:xfrm>
            <a:off x="457200" y="6217920"/>
            <a:ext cx="11247120" cy="548640"/>
          </a:xfrm>
          <a:prstGeom prst="rect">
            <a:avLst/>
          </a:prstGeom>
          <a:noFill/>
        </p:spPr>
        <p:txBody>
          <a:bodyPr wrap="square">
            <a:spAutoFit/>
          </a:bodyPr>
          <a:lstStyle/>
          <a:p>
            <a:pPr algn="l">
              <a:defRPr sz="1100" i="1">
                <a:solidFill>
                  <a:srgbClr val="555555"/>
                </a:solidFill>
                <a:latin typeface="Times New Roman"/>
              </a:defRPr>
            </a:pPr>
            <a:r>
              <a:t>12主要診療科の分割回帰適合線。垂直破線は介入年（各診療科の事故報告ピーク年）を示す。</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pPr algn="l">
              <a:defRPr sz="2200" b="1">
                <a:solidFill>
                  <a:srgbClr val="1A1A2E"/>
                </a:solidFill>
                <a:latin typeface="Times New Roman"/>
              </a:defRPr>
            </a:pPr>
            <a:r>
              <a:t>図3. 分割時系列：医師数 vs 訴訟統計</a:t>
            </a:r>
          </a:p>
        </p:txBody>
      </p:sp>
      <p:pic>
        <p:nvPicPr>
          <p:cNvPr id="3" name="Picture 2" descr="its_physicians_def2.png"/>
          <p:cNvPicPr>
            <a:picLocks noChangeAspect="1"/>
          </p:cNvPicPr>
          <p:nvPr/>
        </p:nvPicPr>
        <p:blipFill>
          <a:blip r:embed="rId2"/>
          <a:stretch>
            <a:fillRect/>
          </a:stretch>
        </p:blipFill>
        <p:spPr>
          <a:xfrm>
            <a:off x="3973087" y="1097280"/>
            <a:ext cx="4245520" cy="5029200"/>
          </a:xfrm>
          <a:prstGeom prst="rect">
            <a:avLst/>
          </a:prstGeom>
        </p:spPr>
      </p:pic>
      <p:sp>
        <p:nvSpPr>
          <p:cNvPr id="4" name="TextBox 3"/>
          <p:cNvSpPr txBox="1"/>
          <p:nvPr/>
        </p:nvSpPr>
        <p:spPr>
          <a:xfrm>
            <a:off x="457200" y="6217920"/>
            <a:ext cx="11247120" cy="548640"/>
          </a:xfrm>
          <a:prstGeom prst="rect">
            <a:avLst/>
          </a:prstGeom>
          <a:noFill/>
        </p:spPr>
        <p:txBody>
          <a:bodyPr wrap="square">
            <a:spAutoFit/>
          </a:bodyPr>
          <a:lstStyle/>
          <a:p>
            <a:pPr algn="l">
              <a:defRPr sz="1100" i="1">
                <a:solidFill>
                  <a:srgbClr val="555555"/>
                </a:solidFill>
                <a:latin typeface="Times New Roman"/>
              </a:defRPr>
            </a:pPr>
            <a:r>
              <a:t>12主要診療科の分割回帰適合線（定義2：最高裁判所訴訟統計使用）。垂直破線は介入年を示す。</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pPr algn="l">
              <a:defRPr sz="2200" b="1">
                <a:solidFill>
                  <a:srgbClr val="1A1A2E"/>
                </a:solidFill>
                <a:latin typeface="Times New Roman"/>
              </a:defRPr>
            </a:pPr>
            <a:r>
              <a:t>図4. 分割時系列：施設数 vs 医療事故調査制度報告件数</a:t>
            </a:r>
          </a:p>
        </p:txBody>
      </p:sp>
      <p:pic>
        <p:nvPicPr>
          <p:cNvPr id="3" name="Picture 2" descr="its_facilities_def1.png"/>
          <p:cNvPicPr>
            <a:picLocks noChangeAspect="1"/>
          </p:cNvPicPr>
          <p:nvPr/>
        </p:nvPicPr>
        <p:blipFill>
          <a:blip r:embed="rId2"/>
          <a:stretch>
            <a:fillRect/>
          </a:stretch>
        </p:blipFill>
        <p:spPr>
          <a:xfrm>
            <a:off x="3973087" y="1097280"/>
            <a:ext cx="4245520" cy="5029200"/>
          </a:xfrm>
          <a:prstGeom prst="rect">
            <a:avLst/>
          </a:prstGeom>
        </p:spPr>
      </p:pic>
      <p:sp>
        <p:nvSpPr>
          <p:cNvPr id="4" name="TextBox 3"/>
          <p:cNvSpPr txBox="1"/>
          <p:nvPr/>
        </p:nvSpPr>
        <p:spPr>
          <a:xfrm>
            <a:off x="457200" y="6217920"/>
            <a:ext cx="11247120" cy="548640"/>
          </a:xfrm>
          <a:prstGeom prst="rect">
            <a:avLst/>
          </a:prstGeom>
          <a:noFill/>
        </p:spPr>
        <p:txBody>
          <a:bodyPr wrap="square">
            <a:spAutoFit/>
          </a:bodyPr>
          <a:lstStyle/>
          <a:p>
            <a:pPr algn="l">
              <a:defRPr sz="1100" i="1">
                <a:solidFill>
                  <a:srgbClr val="555555"/>
                </a:solidFill>
                <a:latin typeface="Times New Roman"/>
              </a:defRPr>
            </a:pPr>
            <a:r>
              <a:t>12主要診療科の医療施設数に対する分割回帰適合線。垂直破線は介入年を示す。</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pPr algn="l">
              <a:defRPr sz="2200" b="1">
                <a:solidFill>
                  <a:srgbClr val="1A1A2E"/>
                </a:solidFill>
                <a:latin typeface="Times New Roman"/>
              </a:defRPr>
            </a:pPr>
            <a:r>
              <a:t>図5. 相互相関分析による推定リードタイム（年）のヒートマップ</a:t>
            </a:r>
          </a:p>
        </p:txBody>
      </p:sp>
      <p:pic>
        <p:nvPicPr>
          <p:cNvPr id="3" name="Picture 2" descr="lead_time_heatmap.png"/>
          <p:cNvPicPr>
            <a:picLocks noChangeAspect="1"/>
          </p:cNvPicPr>
          <p:nvPr/>
        </p:nvPicPr>
        <p:blipFill>
          <a:blip r:embed="rId2"/>
          <a:stretch>
            <a:fillRect/>
          </a:stretch>
        </p:blipFill>
        <p:spPr>
          <a:xfrm>
            <a:off x="1124039" y="1097280"/>
            <a:ext cx="9943616" cy="5029200"/>
          </a:xfrm>
          <a:prstGeom prst="rect">
            <a:avLst/>
          </a:prstGeom>
        </p:spPr>
      </p:pic>
      <p:sp>
        <p:nvSpPr>
          <p:cNvPr id="4" name="TextBox 3"/>
          <p:cNvSpPr txBox="1"/>
          <p:nvPr/>
        </p:nvSpPr>
        <p:spPr>
          <a:xfrm>
            <a:off x="457200" y="6217920"/>
            <a:ext cx="11247120" cy="548640"/>
          </a:xfrm>
          <a:prstGeom prst="rect">
            <a:avLst/>
          </a:prstGeom>
          <a:noFill/>
        </p:spPr>
        <p:txBody>
          <a:bodyPr wrap="square">
            <a:spAutoFit/>
          </a:bodyPr>
          <a:lstStyle/>
          <a:p>
            <a:pPr algn="l">
              <a:defRPr sz="1100" i="1">
                <a:solidFill>
                  <a:srgbClr val="555555"/>
                </a:solidFill>
                <a:latin typeface="Times New Roman"/>
              </a:defRPr>
            </a:pPr>
            <a:r>
              <a:t>行：診療科、列：事故定義*アウトカムの組み合わせ。濃い色はより強い逆相関を示す。正のラグ値は事故件数の変化がアウトカムの変化に先行することを示す。</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pPr algn="l">
              <a:defRPr sz="2200" b="1">
                <a:solidFill>
                  <a:srgbClr val="1A1A2E"/>
                </a:solidFill>
                <a:latin typeface="Times New Roman"/>
              </a:defRPr>
            </a:pPr>
            <a:r>
              <a:t>図6. 診療科別の予測医師数（2025〜2034年）</a:t>
            </a:r>
          </a:p>
        </p:txBody>
      </p:sp>
      <p:pic>
        <p:nvPicPr>
          <p:cNvPr id="3" name="Picture 2" descr="forecast_physicians.png"/>
          <p:cNvPicPr>
            <a:picLocks noChangeAspect="1"/>
          </p:cNvPicPr>
          <p:nvPr/>
        </p:nvPicPr>
        <p:blipFill>
          <a:blip r:embed="rId2"/>
          <a:stretch>
            <a:fillRect/>
          </a:stretch>
        </p:blipFill>
        <p:spPr>
          <a:xfrm>
            <a:off x="3838961" y="1097280"/>
            <a:ext cx="4513773" cy="5029200"/>
          </a:xfrm>
          <a:prstGeom prst="rect">
            <a:avLst/>
          </a:prstGeom>
        </p:spPr>
      </p:pic>
      <p:sp>
        <p:nvSpPr>
          <p:cNvPr id="4" name="TextBox 3"/>
          <p:cNvSpPr txBox="1"/>
          <p:nvPr/>
        </p:nvSpPr>
        <p:spPr>
          <a:xfrm>
            <a:off x="457200" y="6217920"/>
            <a:ext cx="11247120" cy="548640"/>
          </a:xfrm>
          <a:prstGeom prst="rect">
            <a:avLst/>
          </a:prstGeom>
          <a:noFill/>
        </p:spPr>
        <p:txBody>
          <a:bodyPr wrap="square">
            <a:spAutoFit/>
          </a:bodyPr>
          <a:lstStyle/>
          <a:p>
            <a:pPr algn="l">
              <a:defRPr sz="1100" i="1">
                <a:solidFill>
                  <a:srgbClr val="555555"/>
                </a:solidFill>
                <a:latin typeface="Times New Roman"/>
              </a:defRPr>
            </a:pPr>
            <a:r>
              <a:t>直近10年間のデータに基づく線形トレンド外挿。95%予測区間付き。</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pPr algn="l">
              <a:defRPr sz="2200" b="1">
                <a:solidFill>
                  <a:srgbClr val="1A1A2E"/>
                </a:solidFill>
                <a:latin typeface="Times New Roman"/>
              </a:defRPr>
            </a:pPr>
            <a:r>
              <a:t>図7. 診療科別の予測施設数（2025〜2034年）</a:t>
            </a:r>
          </a:p>
        </p:txBody>
      </p:sp>
      <p:pic>
        <p:nvPicPr>
          <p:cNvPr id="3" name="Picture 2" descr="forecast_facilities.png"/>
          <p:cNvPicPr>
            <a:picLocks noChangeAspect="1"/>
          </p:cNvPicPr>
          <p:nvPr/>
        </p:nvPicPr>
        <p:blipFill>
          <a:blip r:embed="rId2"/>
          <a:stretch>
            <a:fillRect/>
          </a:stretch>
        </p:blipFill>
        <p:spPr>
          <a:xfrm>
            <a:off x="3838013" y="1097280"/>
            <a:ext cx="4515668" cy="5029200"/>
          </a:xfrm>
          <a:prstGeom prst="rect">
            <a:avLst/>
          </a:prstGeom>
        </p:spPr>
      </p:pic>
      <p:sp>
        <p:nvSpPr>
          <p:cNvPr id="4" name="TextBox 3"/>
          <p:cNvSpPr txBox="1"/>
          <p:nvPr/>
        </p:nvSpPr>
        <p:spPr>
          <a:xfrm>
            <a:off x="457200" y="6217920"/>
            <a:ext cx="11247120" cy="548640"/>
          </a:xfrm>
          <a:prstGeom prst="rect">
            <a:avLst/>
          </a:prstGeom>
          <a:noFill/>
        </p:spPr>
        <p:txBody>
          <a:bodyPr wrap="square">
            <a:spAutoFit/>
          </a:bodyPr>
          <a:lstStyle/>
          <a:p>
            <a:pPr algn="l">
              <a:defRPr sz="1100" i="1">
                <a:solidFill>
                  <a:srgbClr val="555555"/>
                </a:solidFill>
                <a:latin typeface="Times New Roman"/>
              </a:defRPr>
            </a:pPr>
            <a:r>
              <a:t>直近10年間のデータに基づく線形トレンド外挿。95%予測区間付き。</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pPr algn="l">
              <a:defRPr sz="2200" b="1">
                <a:solidFill>
                  <a:srgbClr val="1A1A2E"/>
                </a:solidFill>
                <a:latin typeface="Times New Roman"/>
              </a:defRPr>
            </a:pPr>
            <a:r>
              <a:t>図8. 診療科別の予測専攻医登録数（2025〜2034年）</a:t>
            </a:r>
          </a:p>
        </p:txBody>
      </p:sp>
      <p:pic>
        <p:nvPicPr>
          <p:cNvPr id="3" name="Picture 2" descr="forecast_trainees.png"/>
          <p:cNvPicPr>
            <a:picLocks noChangeAspect="1"/>
          </p:cNvPicPr>
          <p:nvPr/>
        </p:nvPicPr>
        <p:blipFill>
          <a:blip r:embed="rId2"/>
          <a:stretch>
            <a:fillRect/>
          </a:stretch>
        </p:blipFill>
        <p:spPr>
          <a:xfrm>
            <a:off x="3044921" y="1097280"/>
            <a:ext cx="6101853" cy="5029200"/>
          </a:xfrm>
          <a:prstGeom prst="rect">
            <a:avLst/>
          </a:prstGeom>
        </p:spPr>
      </p:pic>
      <p:sp>
        <p:nvSpPr>
          <p:cNvPr id="4" name="TextBox 3"/>
          <p:cNvSpPr txBox="1"/>
          <p:nvPr/>
        </p:nvSpPr>
        <p:spPr>
          <a:xfrm>
            <a:off x="457200" y="6217920"/>
            <a:ext cx="11247120" cy="548640"/>
          </a:xfrm>
          <a:prstGeom prst="rect">
            <a:avLst/>
          </a:prstGeom>
          <a:noFill/>
        </p:spPr>
        <p:txBody>
          <a:bodyPr wrap="square">
            <a:spAutoFit/>
          </a:bodyPr>
          <a:lstStyle/>
          <a:p>
            <a:pPr algn="l">
              <a:defRPr sz="1100" i="1">
                <a:solidFill>
                  <a:srgbClr val="555555"/>
                </a:solidFill>
                <a:latin typeface="Times New Roman"/>
              </a:defRPr>
            </a:pPr>
            <a:r>
              <a:t>利用可能データ（2018〜2025年）に基づく線形トレンド外挿。95%予測区間付き。</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pPr algn="l">
              <a:defRPr sz="2200" b="1">
                <a:solidFill>
                  <a:srgbClr val="1A1A2E"/>
                </a:solidFill>
                <a:latin typeface="Times New Roman"/>
              </a:defRPr>
            </a:pPr>
            <a:r>
              <a:t>表1. 線形トレンド除去後に強い逆相互相関（|r| &gt; 0.9）を示した組み合わせ</a:t>
            </a:r>
          </a:p>
        </p:txBody>
      </p:sp>
      <p:graphicFrame>
        <p:nvGraphicFramePr>
          <p:cNvPr id="3" name="Table 2"/>
          <p:cNvGraphicFramePr>
            <a:graphicFrameLocks noGrp="1"/>
          </p:cNvGraphicFramePr>
          <p:nvPr/>
        </p:nvGraphicFramePr>
        <p:xfrm>
          <a:off x="609904" y="1188720"/>
          <a:ext cx="10972800" cy="4023360"/>
        </p:xfrm>
        <a:graphic>
          <a:graphicData uri="http://schemas.openxmlformats.org/drawingml/2006/table">
            <a:tbl>
              <a:tblPr firstRow="1" bandRow="1">
                <a:tableStyleId>{5C22544A-7EE6-4342-B048-85BDC9FD1C3A}</a:tableStyleId>
              </a:tblPr>
              <a:tblGrid>
                <a:gridCol w="2414016"/>
                <a:gridCol w="2139696"/>
                <a:gridCol w="2139696"/>
                <a:gridCol w="2139696"/>
                <a:gridCol w="2139696"/>
              </a:tblGrid>
              <a:tr h="365760">
                <a:tc>
                  <a:txBody>
                    <a:bodyPr/>
                    <a:lstStyle/>
                    <a:p>
                      <a:pPr algn="ctr">
                        <a:defRPr sz="1200" b="1">
                          <a:solidFill>
                            <a:srgbClr val="FFFFFF"/>
                          </a:solidFill>
                          <a:latin typeface="Times New Roman"/>
                        </a:defRPr>
                      </a:pPr>
                      <a:r>
                        <a:t>診療科</a:t>
                      </a:r>
                    </a:p>
                  </a:txBody>
                  <a:tcPr anchor="ctr">
                    <a:solidFill>
                      <a:srgbClr val="00528A"/>
                    </a:solidFill>
                  </a:tcPr>
                </a:tc>
                <a:tc>
                  <a:txBody>
                    <a:bodyPr/>
                    <a:lstStyle/>
                    <a:p>
                      <a:pPr algn="ctr">
                        <a:defRPr sz="1200" b="1">
                          <a:solidFill>
                            <a:srgbClr val="FFFFFF"/>
                          </a:solidFill>
                          <a:latin typeface="Times New Roman"/>
                        </a:defRPr>
                      </a:pPr>
                      <a:r>
                        <a:t>事故定義</a:t>
                      </a:r>
                    </a:p>
                  </a:txBody>
                  <a:tcPr anchor="ctr">
                    <a:solidFill>
                      <a:srgbClr val="00528A"/>
                    </a:solidFill>
                  </a:tcPr>
                </a:tc>
                <a:tc>
                  <a:txBody>
                    <a:bodyPr/>
                    <a:lstStyle/>
                    <a:p>
                      <a:pPr algn="ctr">
                        <a:defRPr sz="1200" b="1">
                          <a:solidFill>
                            <a:srgbClr val="FFFFFF"/>
                          </a:solidFill>
                          <a:latin typeface="Times New Roman"/>
                        </a:defRPr>
                      </a:pPr>
                      <a:r>
                        <a:t>アウトカム</a:t>
                      </a:r>
                    </a:p>
                  </a:txBody>
                  <a:tcPr anchor="ctr">
                    <a:solidFill>
                      <a:srgbClr val="00528A"/>
                    </a:solidFill>
                  </a:tcPr>
                </a:tc>
                <a:tc>
                  <a:txBody>
                    <a:bodyPr/>
                    <a:lstStyle/>
                    <a:p>
                      <a:pPr algn="ctr">
                        <a:defRPr sz="1200" b="1">
                          <a:solidFill>
                            <a:srgbClr val="FFFFFF"/>
                          </a:solidFill>
                          <a:latin typeface="Times New Roman"/>
                        </a:defRPr>
                      </a:pPr>
                      <a:r>
                        <a:t>ラグ（年）</a:t>
                      </a:r>
                    </a:p>
                  </a:txBody>
                  <a:tcPr anchor="ctr">
                    <a:solidFill>
                      <a:srgbClr val="00528A"/>
                    </a:solidFill>
                  </a:tcPr>
                </a:tc>
                <a:tc>
                  <a:txBody>
                    <a:bodyPr/>
                    <a:lstStyle/>
                    <a:p>
                      <a:pPr algn="ctr">
                        <a:defRPr sz="1200" b="1">
                          <a:solidFill>
                            <a:srgbClr val="FFFFFF"/>
                          </a:solidFill>
                          <a:latin typeface="Times New Roman"/>
                        </a:defRPr>
                      </a:pPr>
                      <a:r>
                        <a:t>相関係数(r)</a:t>
                      </a:r>
                    </a:p>
                  </a:txBody>
                  <a:tcPr anchor="ctr">
                    <a:solidFill>
                      <a:srgbClr val="00528A"/>
                    </a:solidFill>
                  </a:tcPr>
                </a:tc>
              </a:tr>
              <a:tr h="365760">
                <a:tc>
                  <a:txBody>
                    <a:bodyPr/>
                    <a:lstStyle/>
                    <a:p>
                      <a:pPr algn="l">
                        <a:defRPr sz="1100">
                          <a:solidFill>
                            <a:srgbClr val="1A1A2E"/>
                          </a:solidFill>
                          <a:latin typeface="Times New Roman"/>
                        </a:defRPr>
                      </a:pPr>
                      <a:r>
                        <a:t>産婦人科</a:t>
                      </a:r>
                    </a:p>
                  </a:txBody>
                  <a:tcPr anchor="ctr"/>
                </a:tc>
                <a:tc>
                  <a:txBody>
                    <a:bodyPr/>
                    <a:lstStyle/>
                    <a:p>
                      <a:pPr algn="ctr">
                        <a:defRPr sz="1100">
                          <a:solidFill>
                            <a:srgbClr val="1A1A2E"/>
                          </a:solidFill>
                          <a:latin typeface="Times New Roman"/>
                        </a:defRPr>
                      </a:pPr>
                      <a:r>
                        <a:t>医療事故調査制度</a:t>
                      </a:r>
                    </a:p>
                  </a:txBody>
                  <a:tcPr anchor="ctr"/>
                </a:tc>
                <a:tc>
                  <a:txBody>
                    <a:bodyPr/>
                    <a:lstStyle/>
                    <a:p>
                      <a:pPr algn="ctr">
                        <a:defRPr sz="1100">
                          <a:solidFill>
                            <a:srgbClr val="1A1A2E"/>
                          </a:solidFill>
                          <a:latin typeface="Times New Roman"/>
                        </a:defRPr>
                      </a:pPr>
                      <a:r>
                        <a:t>医師数</a:t>
                      </a:r>
                    </a:p>
                  </a:txBody>
                  <a:tcPr anchor="ctr"/>
                </a:tc>
                <a:tc>
                  <a:txBody>
                    <a:bodyPr/>
                    <a:lstStyle/>
                    <a:p>
                      <a:pPr algn="ctr">
                        <a:defRPr sz="1100">
                          <a:solidFill>
                            <a:srgbClr val="1A1A2E"/>
                          </a:solidFill>
                          <a:latin typeface="Times New Roman"/>
                        </a:defRPr>
                      </a:pPr>
                      <a:r>
                        <a:t>+3</a:t>
                      </a:r>
                    </a:p>
                  </a:txBody>
                  <a:tcPr anchor="ctr"/>
                </a:tc>
                <a:tc>
                  <a:txBody>
                    <a:bodyPr/>
                    <a:lstStyle/>
                    <a:p>
                      <a:pPr algn="ctr">
                        <a:defRPr sz="1100">
                          <a:solidFill>
                            <a:srgbClr val="1A1A2E"/>
                          </a:solidFill>
                          <a:latin typeface="Times New Roman"/>
                        </a:defRPr>
                      </a:pPr>
                      <a:r>
                        <a:t>-0.946</a:t>
                      </a:r>
                    </a:p>
                  </a:txBody>
                  <a:tcPr anchor="ctr"/>
                </a:tc>
              </a:tr>
              <a:tr h="365760">
                <a:tc>
                  <a:txBody>
                    <a:bodyPr/>
                    <a:lstStyle/>
                    <a:p>
                      <a:pPr algn="l">
                        <a:defRPr sz="1100">
                          <a:solidFill>
                            <a:srgbClr val="1A1A2E"/>
                          </a:solidFill>
                          <a:latin typeface="Times New Roman"/>
                        </a:defRPr>
                      </a:pPr>
                      <a:r>
                        <a:t>産婦人科</a:t>
                      </a:r>
                    </a:p>
                  </a:txBody>
                  <a:tcPr anchor="ctr">
                    <a:solidFill>
                      <a:srgbClr val="E8F0F8"/>
                    </a:solidFill>
                  </a:tcPr>
                </a:tc>
                <a:tc>
                  <a:txBody>
                    <a:bodyPr/>
                    <a:lstStyle/>
                    <a:p>
                      <a:pPr algn="ctr">
                        <a:defRPr sz="1100">
                          <a:solidFill>
                            <a:srgbClr val="1A1A2E"/>
                          </a:solidFill>
                          <a:latin typeface="Times New Roman"/>
                        </a:defRPr>
                      </a:pPr>
                      <a:r>
                        <a:t>複合指標</a:t>
                      </a:r>
                    </a:p>
                  </a:txBody>
                  <a:tcPr anchor="ctr">
                    <a:solidFill>
                      <a:srgbClr val="E8F0F8"/>
                    </a:solidFill>
                  </a:tcPr>
                </a:tc>
                <a:tc>
                  <a:txBody>
                    <a:bodyPr/>
                    <a:lstStyle/>
                    <a:p>
                      <a:pPr algn="ctr">
                        <a:defRPr sz="1100">
                          <a:solidFill>
                            <a:srgbClr val="1A1A2E"/>
                          </a:solidFill>
                          <a:latin typeface="Times New Roman"/>
                        </a:defRPr>
                      </a:pPr>
                      <a:r>
                        <a:t>医師数</a:t>
                      </a:r>
                    </a:p>
                  </a:txBody>
                  <a:tcPr anchor="ctr">
                    <a:solidFill>
                      <a:srgbClr val="E8F0F8"/>
                    </a:solidFill>
                  </a:tcPr>
                </a:tc>
                <a:tc>
                  <a:txBody>
                    <a:bodyPr/>
                    <a:lstStyle/>
                    <a:p>
                      <a:pPr algn="ctr">
                        <a:defRPr sz="1100">
                          <a:solidFill>
                            <a:srgbClr val="1A1A2E"/>
                          </a:solidFill>
                          <a:latin typeface="Times New Roman"/>
                        </a:defRPr>
                      </a:pPr>
                      <a:r>
                        <a:t>+3</a:t>
                      </a:r>
                    </a:p>
                  </a:txBody>
                  <a:tcPr anchor="ctr">
                    <a:solidFill>
                      <a:srgbClr val="E8F0F8"/>
                    </a:solidFill>
                  </a:tcPr>
                </a:tc>
                <a:tc>
                  <a:txBody>
                    <a:bodyPr/>
                    <a:lstStyle/>
                    <a:p>
                      <a:pPr algn="ctr">
                        <a:defRPr sz="1100">
                          <a:solidFill>
                            <a:srgbClr val="1A1A2E"/>
                          </a:solidFill>
                          <a:latin typeface="Times New Roman"/>
                        </a:defRPr>
                      </a:pPr>
                      <a:r>
                        <a:t>-0.947</a:t>
                      </a:r>
                    </a:p>
                  </a:txBody>
                  <a:tcPr anchor="ctr">
                    <a:solidFill>
                      <a:srgbClr val="E8F0F8"/>
                    </a:solidFill>
                  </a:tcPr>
                </a:tc>
              </a:tr>
              <a:tr h="365760">
                <a:tc>
                  <a:txBody>
                    <a:bodyPr/>
                    <a:lstStyle/>
                    <a:p>
                      <a:pPr algn="l">
                        <a:defRPr sz="1100">
                          <a:solidFill>
                            <a:srgbClr val="1A1A2E"/>
                          </a:solidFill>
                          <a:latin typeface="Times New Roman"/>
                        </a:defRPr>
                      </a:pPr>
                      <a:r>
                        <a:t>泌尿器科</a:t>
                      </a:r>
                    </a:p>
                  </a:txBody>
                  <a:tcPr anchor="ctr"/>
                </a:tc>
                <a:tc>
                  <a:txBody>
                    <a:bodyPr/>
                    <a:lstStyle/>
                    <a:p>
                      <a:pPr algn="ctr">
                        <a:defRPr sz="1100">
                          <a:solidFill>
                            <a:srgbClr val="1A1A2E"/>
                          </a:solidFill>
                          <a:latin typeface="Times New Roman"/>
                        </a:defRPr>
                      </a:pPr>
                      <a:r>
                        <a:t>医療事故調査制度</a:t>
                      </a:r>
                    </a:p>
                  </a:txBody>
                  <a:tcPr anchor="ctr"/>
                </a:tc>
                <a:tc>
                  <a:txBody>
                    <a:bodyPr/>
                    <a:lstStyle/>
                    <a:p>
                      <a:pPr algn="ctr">
                        <a:defRPr sz="1100">
                          <a:solidFill>
                            <a:srgbClr val="1A1A2E"/>
                          </a:solidFill>
                          <a:latin typeface="Times New Roman"/>
                        </a:defRPr>
                      </a:pPr>
                      <a:r>
                        <a:t>医師数</a:t>
                      </a:r>
                    </a:p>
                  </a:txBody>
                  <a:tcPr anchor="ctr"/>
                </a:tc>
                <a:tc>
                  <a:txBody>
                    <a:bodyPr/>
                    <a:lstStyle/>
                    <a:p>
                      <a:pPr algn="ctr">
                        <a:defRPr sz="1100">
                          <a:solidFill>
                            <a:srgbClr val="1A1A2E"/>
                          </a:solidFill>
                          <a:latin typeface="Times New Roman"/>
                        </a:defRPr>
                      </a:pPr>
                      <a:r>
                        <a:t>+6</a:t>
                      </a:r>
                    </a:p>
                  </a:txBody>
                  <a:tcPr anchor="ctr"/>
                </a:tc>
                <a:tc>
                  <a:txBody>
                    <a:bodyPr/>
                    <a:lstStyle/>
                    <a:p>
                      <a:pPr algn="ctr">
                        <a:defRPr sz="1100">
                          <a:solidFill>
                            <a:srgbClr val="1A1A2E"/>
                          </a:solidFill>
                          <a:latin typeface="Times New Roman"/>
                        </a:defRPr>
                      </a:pPr>
                      <a:r>
                        <a:t>-0.945</a:t>
                      </a:r>
                    </a:p>
                  </a:txBody>
                  <a:tcPr anchor="ctr"/>
                </a:tc>
              </a:tr>
              <a:tr h="365760">
                <a:tc>
                  <a:txBody>
                    <a:bodyPr/>
                    <a:lstStyle/>
                    <a:p>
                      <a:pPr algn="l">
                        <a:defRPr sz="1100">
                          <a:solidFill>
                            <a:srgbClr val="1A1A2E"/>
                          </a:solidFill>
                          <a:latin typeface="Times New Roman"/>
                        </a:defRPr>
                      </a:pPr>
                      <a:r>
                        <a:t>麻酔科</a:t>
                      </a:r>
                    </a:p>
                  </a:txBody>
                  <a:tcPr anchor="ctr">
                    <a:solidFill>
                      <a:srgbClr val="E8F0F8"/>
                    </a:solidFill>
                  </a:tcPr>
                </a:tc>
                <a:tc>
                  <a:txBody>
                    <a:bodyPr/>
                    <a:lstStyle/>
                    <a:p>
                      <a:pPr algn="ctr">
                        <a:defRPr sz="1100">
                          <a:solidFill>
                            <a:srgbClr val="1A1A2E"/>
                          </a:solidFill>
                          <a:latin typeface="Times New Roman"/>
                        </a:defRPr>
                      </a:pPr>
                      <a:r>
                        <a:t>複合指標</a:t>
                      </a:r>
                    </a:p>
                  </a:txBody>
                  <a:tcPr anchor="ctr">
                    <a:solidFill>
                      <a:srgbClr val="E8F0F8"/>
                    </a:solidFill>
                  </a:tcPr>
                </a:tc>
                <a:tc>
                  <a:txBody>
                    <a:bodyPr/>
                    <a:lstStyle/>
                    <a:p>
                      <a:pPr algn="ctr">
                        <a:defRPr sz="1100">
                          <a:solidFill>
                            <a:srgbClr val="1A1A2E"/>
                          </a:solidFill>
                          <a:latin typeface="Times New Roman"/>
                        </a:defRPr>
                      </a:pPr>
                      <a:r>
                        <a:t>医師数</a:t>
                      </a:r>
                    </a:p>
                  </a:txBody>
                  <a:tcPr anchor="ctr">
                    <a:solidFill>
                      <a:srgbClr val="E8F0F8"/>
                    </a:solidFill>
                  </a:tcPr>
                </a:tc>
                <a:tc>
                  <a:txBody>
                    <a:bodyPr/>
                    <a:lstStyle/>
                    <a:p>
                      <a:pPr algn="ctr">
                        <a:defRPr sz="1100">
                          <a:solidFill>
                            <a:srgbClr val="1A1A2E"/>
                          </a:solidFill>
                          <a:latin typeface="Times New Roman"/>
                        </a:defRPr>
                      </a:pPr>
                      <a:r>
                        <a:t>-4</a:t>
                      </a:r>
                    </a:p>
                  </a:txBody>
                  <a:tcPr anchor="ctr">
                    <a:solidFill>
                      <a:srgbClr val="E8F0F8"/>
                    </a:solidFill>
                  </a:tcPr>
                </a:tc>
                <a:tc>
                  <a:txBody>
                    <a:bodyPr/>
                    <a:lstStyle/>
                    <a:p>
                      <a:pPr algn="ctr">
                        <a:defRPr sz="1100">
                          <a:solidFill>
                            <a:srgbClr val="1A1A2E"/>
                          </a:solidFill>
                          <a:latin typeface="Times New Roman"/>
                        </a:defRPr>
                      </a:pPr>
                      <a:r>
                        <a:t>-0.959</a:t>
                      </a:r>
                    </a:p>
                  </a:txBody>
                  <a:tcPr anchor="ctr">
                    <a:solidFill>
                      <a:srgbClr val="E8F0F8"/>
                    </a:solidFill>
                  </a:tcPr>
                </a:tc>
              </a:tr>
              <a:tr h="365760">
                <a:tc>
                  <a:txBody>
                    <a:bodyPr/>
                    <a:lstStyle/>
                    <a:p>
                      <a:pPr algn="l">
                        <a:defRPr sz="1100">
                          <a:solidFill>
                            <a:srgbClr val="1A1A2E"/>
                          </a:solidFill>
                          <a:latin typeface="Times New Roman"/>
                        </a:defRPr>
                      </a:pPr>
                      <a:r>
                        <a:t>耳鼻咽喉科</a:t>
                      </a:r>
                    </a:p>
                  </a:txBody>
                  <a:tcPr anchor="ctr"/>
                </a:tc>
                <a:tc>
                  <a:txBody>
                    <a:bodyPr/>
                    <a:lstStyle/>
                    <a:p>
                      <a:pPr algn="ctr">
                        <a:defRPr sz="1100">
                          <a:solidFill>
                            <a:srgbClr val="1A1A2E"/>
                          </a:solidFill>
                          <a:latin typeface="Times New Roman"/>
                        </a:defRPr>
                      </a:pPr>
                      <a:r>
                        <a:t>訴訟統計</a:t>
                      </a:r>
                    </a:p>
                  </a:txBody>
                  <a:tcPr anchor="ctr"/>
                </a:tc>
                <a:tc>
                  <a:txBody>
                    <a:bodyPr/>
                    <a:lstStyle/>
                    <a:p>
                      <a:pPr algn="ctr">
                        <a:defRPr sz="1100">
                          <a:solidFill>
                            <a:srgbClr val="1A1A2E"/>
                          </a:solidFill>
                          <a:latin typeface="Times New Roman"/>
                        </a:defRPr>
                      </a:pPr>
                      <a:r>
                        <a:t>医師数</a:t>
                      </a:r>
                    </a:p>
                  </a:txBody>
                  <a:tcPr anchor="ctr"/>
                </a:tc>
                <a:tc>
                  <a:txBody>
                    <a:bodyPr/>
                    <a:lstStyle/>
                    <a:p>
                      <a:pPr algn="ctr">
                        <a:defRPr sz="1100">
                          <a:solidFill>
                            <a:srgbClr val="1A1A2E"/>
                          </a:solidFill>
                          <a:latin typeface="Times New Roman"/>
                        </a:defRPr>
                      </a:pPr>
                      <a:r>
                        <a:t>+6</a:t>
                      </a:r>
                    </a:p>
                  </a:txBody>
                  <a:tcPr anchor="ctr"/>
                </a:tc>
                <a:tc>
                  <a:txBody>
                    <a:bodyPr/>
                    <a:lstStyle/>
                    <a:p>
                      <a:pPr algn="ctr">
                        <a:defRPr sz="1100">
                          <a:solidFill>
                            <a:srgbClr val="1A1A2E"/>
                          </a:solidFill>
                          <a:latin typeface="Times New Roman"/>
                        </a:defRPr>
                      </a:pPr>
                      <a:r>
                        <a:t>-0.973</a:t>
                      </a:r>
                    </a:p>
                  </a:txBody>
                  <a:tcPr anchor="ctr"/>
                </a:tc>
              </a:tr>
              <a:tr h="365760">
                <a:tc>
                  <a:txBody>
                    <a:bodyPr/>
                    <a:lstStyle/>
                    <a:p>
                      <a:pPr algn="l">
                        <a:defRPr sz="1100">
                          <a:solidFill>
                            <a:srgbClr val="1A1A2E"/>
                          </a:solidFill>
                          <a:latin typeface="Times New Roman"/>
                        </a:defRPr>
                      </a:pPr>
                      <a:r>
                        <a:t>皮膚科</a:t>
                      </a:r>
                    </a:p>
                  </a:txBody>
                  <a:tcPr anchor="ctr">
                    <a:solidFill>
                      <a:srgbClr val="E8F0F8"/>
                    </a:solidFill>
                  </a:tcPr>
                </a:tc>
                <a:tc>
                  <a:txBody>
                    <a:bodyPr/>
                    <a:lstStyle/>
                    <a:p>
                      <a:pPr algn="ctr">
                        <a:defRPr sz="1100">
                          <a:solidFill>
                            <a:srgbClr val="1A1A2E"/>
                          </a:solidFill>
                          <a:latin typeface="Times New Roman"/>
                        </a:defRPr>
                      </a:pPr>
                      <a:r>
                        <a:t>訴訟統計</a:t>
                      </a:r>
                    </a:p>
                  </a:txBody>
                  <a:tcPr anchor="ctr">
                    <a:solidFill>
                      <a:srgbClr val="E8F0F8"/>
                    </a:solidFill>
                  </a:tcPr>
                </a:tc>
                <a:tc>
                  <a:txBody>
                    <a:bodyPr/>
                    <a:lstStyle/>
                    <a:p>
                      <a:pPr algn="ctr">
                        <a:defRPr sz="1100">
                          <a:solidFill>
                            <a:srgbClr val="1A1A2E"/>
                          </a:solidFill>
                          <a:latin typeface="Times New Roman"/>
                        </a:defRPr>
                      </a:pPr>
                      <a:r>
                        <a:t>医師数</a:t>
                      </a:r>
                    </a:p>
                  </a:txBody>
                  <a:tcPr anchor="ctr">
                    <a:solidFill>
                      <a:srgbClr val="E8F0F8"/>
                    </a:solidFill>
                  </a:tcPr>
                </a:tc>
                <a:tc>
                  <a:txBody>
                    <a:bodyPr/>
                    <a:lstStyle/>
                    <a:p>
                      <a:pPr algn="ctr">
                        <a:defRPr sz="1100">
                          <a:solidFill>
                            <a:srgbClr val="1A1A2E"/>
                          </a:solidFill>
                          <a:latin typeface="Times New Roman"/>
                        </a:defRPr>
                      </a:pPr>
                      <a:r>
                        <a:t>+7</a:t>
                      </a:r>
                    </a:p>
                  </a:txBody>
                  <a:tcPr anchor="ctr">
                    <a:solidFill>
                      <a:srgbClr val="E8F0F8"/>
                    </a:solidFill>
                  </a:tcPr>
                </a:tc>
                <a:tc>
                  <a:txBody>
                    <a:bodyPr/>
                    <a:lstStyle/>
                    <a:p>
                      <a:pPr algn="ctr">
                        <a:defRPr sz="1100">
                          <a:solidFill>
                            <a:srgbClr val="1A1A2E"/>
                          </a:solidFill>
                          <a:latin typeface="Times New Roman"/>
                        </a:defRPr>
                      </a:pPr>
                      <a:r>
                        <a:t>-0.988</a:t>
                      </a:r>
                    </a:p>
                  </a:txBody>
                  <a:tcPr anchor="ctr">
                    <a:solidFill>
                      <a:srgbClr val="E8F0F8"/>
                    </a:solidFill>
                  </a:tcPr>
                </a:tc>
              </a:tr>
              <a:tr h="365760">
                <a:tc>
                  <a:txBody>
                    <a:bodyPr/>
                    <a:lstStyle/>
                    <a:p>
                      <a:pPr algn="l">
                        <a:defRPr sz="1100">
                          <a:solidFill>
                            <a:srgbClr val="1A1A2E"/>
                          </a:solidFill>
                          <a:latin typeface="Times New Roman"/>
                        </a:defRPr>
                      </a:pPr>
                      <a:r>
                        <a:t>整形外科</a:t>
                      </a:r>
                    </a:p>
                  </a:txBody>
                  <a:tcPr anchor="ctr"/>
                </a:tc>
                <a:tc>
                  <a:txBody>
                    <a:bodyPr/>
                    <a:lstStyle/>
                    <a:p>
                      <a:pPr algn="ctr">
                        <a:defRPr sz="1100">
                          <a:solidFill>
                            <a:srgbClr val="1A1A2E"/>
                          </a:solidFill>
                          <a:latin typeface="Times New Roman"/>
                        </a:defRPr>
                      </a:pPr>
                      <a:r>
                        <a:t>医療事故調査制度（専攻医）</a:t>
                      </a:r>
                    </a:p>
                  </a:txBody>
                  <a:tcPr anchor="ctr"/>
                </a:tc>
                <a:tc>
                  <a:txBody>
                    <a:bodyPr/>
                    <a:lstStyle/>
                    <a:p>
                      <a:pPr algn="ctr">
                        <a:defRPr sz="1100">
                          <a:solidFill>
                            <a:srgbClr val="1A1A2E"/>
                          </a:solidFill>
                          <a:latin typeface="Times New Roman"/>
                        </a:defRPr>
                      </a:pPr>
                      <a:r>
                        <a:t>専攻医数</a:t>
                      </a:r>
                    </a:p>
                  </a:txBody>
                  <a:tcPr anchor="ctr"/>
                </a:tc>
                <a:tc>
                  <a:txBody>
                    <a:bodyPr/>
                    <a:lstStyle/>
                    <a:p>
                      <a:pPr algn="ctr">
                        <a:defRPr sz="1100">
                          <a:solidFill>
                            <a:srgbClr val="1A1A2E"/>
                          </a:solidFill>
                          <a:latin typeface="Times New Roman"/>
                        </a:defRPr>
                      </a:pPr>
                      <a:r>
                        <a:t>+4</a:t>
                      </a:r>
                    </a:p>
                  </a:txBody>
                  <a:tcPr anchor="ctr"/>
                </a:tc>
                <a:tc>
                  <a:txBody>
                    <a:bodyPr/>
                    <a:lstStyle/>
                    <a:p>
                      <a:pPr algn="ctr">
                        <a:defRPr sz="1100">
                          <a:solidFill>
                            <a:srgbClr val="1A1A2E"/>
                          </a:solidFill>
                          <a:latin typeface="Times New Roman"/>
                        </a:defRPr>
                      </a:pPr>
                      <a:r>
                        <a:t>-0.909</a:t>
                      </a:r>
                    </a:p>
                  </a:txBody>
                  <a:tcPr anchor="ctr"/>
                </a:tc>
              </a:tr>
              <a:tr h="365760">
                <a:tc>
                  <a:txBody>
                    <a:bodyPr/>
                    <a:lstStyle/>
                    <a:p>
                      <a:pPr algn="l">
                        <a:defRPr sz="1100">
                          <a:solidFill>
                            <a:srgbClr val="1A1A2E"/>
                          </a:solidFill>
                          <a:latin typeface="Times New Roman"/>
                        </a:defRPr>
                      </a:pPr>
                      <a:r>
                        <a:t>耳鼻咽喉科</a:t>
                      </a:r>
                    </a:p>
                  </a:txBody>
                  <a:tcPr anchor="ctr">
                    <a:solidFill>
                      <a:srgbClr val="E8F0F8"/>
                    </a:solidFill>
                  </a:tcPr>
                </a:tc>
                <a:tc>
                  <a:txBody>
                    <a:bodyPr/>
                    <a:lstStyle/>
                    <a:p>
                      <a:pPr algn="ctr">
                        <a:defRPr sz="1100">
                          <a:solidFill>
                            <a:srgbClr val="1A1A2E"/>
                          </a:solidFill>
                          <a:latin typeface="Times New Roman"/>
                        </a:defRPr>
                      </a:pPr>
                      <a:r>
                        <a:t>医療事故調査制度（専攻医）</a:t>
                      </a:r>
                    </a:p>
                  </a:txBody>
                  <a:tcPr anchor="ctr">
                    <a:solidFill>
                      <a:srgbClr val="E8F0F8"/>
                    </a:solidFill>
                  </a:tcPr>
                </a:tc>
                <a:tc>
                  <a:txBody>
                    <a:bodyPr/>
                    <a:lstStyle/>
                    <a:p>
                      <a:pPr algn="ctr">
                        <a:defRPr sz="1100">
                          <a:solidFill>
                            <a:srgbClr val="1A1A2E"/>
                          </a:solidFill>
                          <a:latin typeface="Times New Roman"/>
                        </a:defRPr>
                      </a:pPr>
                      <a:r>
                        <a:t>専攻医数</a:t>
                      </a:r>
                    </a:p>
                  </a:txBody>
                  <a:tcPr anchor="ctr">
                    <a:solidFill>
                      <a:srgbClr val="E8F0F8"/>
                    </a:solidFill>
                  </a:tcPr>
                </a:tc>
                <a:tc>
                  <a:txBody>
                    <a:bodyPr/>
                    <a:lstStyle/>
                    <a:p>
                      <a:pPr algn="ctr">
                        <a:defRPr sz="1100">
                          <a:solidFill>
                            <a:srgbClr val="1A1A2E"/>
                          </a:solidFill>
                          <a:latin typeface="Times New Roman"/>
                        </a:defRPr>
                      </a:pPr>
                      <a:r>
                        <a:t>-3</a:t>
                      </a:r>
                    </a:p>
                  </a:txBody>
                  <a:tcPr anchor="ctr">
                    <a:solidFill>
                      <a:srgbClr val="E8F0F8"/>
                    </a:solidFill>
                  </a:tcPr>
                </a:tc>
                <a:tc>
                  <a:txBody>
                    <a:bodyPr/>
                    <a:lstStyle/>
                    <a:p>
                      <a:pPr algn="ctr">
                        <a:defRPr sz="1100">
                          <a:solidFill>
                            <a:srgbClr val="1A1A2E"/>
                          </a:solidFill>
                          <a:latin typeface="Times New Roman"/>
                        </a:defRPr>
                      </a:pPr>
                      <a:r>
                        <a:t>-0.941</a:t>
                      </a:r>
                    </a:p>
                  </a:txBody>
                  <a:tcPr anchor="ctr">
                    <a:solidFill>
                      <a:srgbClr val="E8F0F8"/>
                    </a:solidFill>
                  </a:tcPr>
                </a:tc>
              </a:tr>
              <a:tr h="365760">
                <a:tc>
                  <a:txBody>
                    <a:bodyPr/>
                    <a:lstStyle/>
                    <a:p>
                      <a:pPr algn="l">
                        <a:defRPr sz="1100">
                          <a:solidFill>
                            <a:srgbClr val="1A1A2E"/>
                          </a:solidFill>
                          <a:latin typeface="Times New Roman"/>
                        </a:defRPr>
                      </a:pPr>
                      <a:r>
                        <a:t>精神科</a:t>
                      </a:r>
                    </a:p>
                  </a:txBody>
                  <a:tcPr anchor="ctr"/>
                </a:tc>
                <a:tc>
                  <a:txBody>
                    <a:bodyPr/>
                    <a:lstStyle/>
                    <a:p>
                      <a:pPr algn="ctr">
                        <a:defRPr sz="1100">
                          <a:solidFill>
                            <a:srgbClr val="1A1A2E"/>
                          </a:solidFill>
                          <a:latin typeface="Times New Roman"/>
                        </a:defRPr>
                      </a:pPr>
                      <a:r>
                        <a:t>訴訟統計</a:t>
                      </a:r>
                    </a:p>
                  </a:txBody>
                  <a:tcPr anchor="ctr"/>
                </a:tc>
                <a:tc>
                  <a:txBody>
                    <a:bodyPr/>
                    <a:lstStyle/>
                    <a:p>
                      <a:pPr algn="ctr">
                        <a:defRPr sz="1100">
                          <a:solidFill>
                            <a:srgbClr val="1A1A2E"/>
                          </a:solidFill>
                          <a:latin typeface="Times New Roman"/>
                        </a:defRPr>
                      </a:pPr>
                      <a:r>
                        <a:t>施設数</a:t>
                      </a:r>
                    </a:p>
                  </a:txBody>
                  <a:tcPr anchor="ctr"/>
                </a:tc>
                <a:tc>
                  <a:txBody>
                    <a:bodyPr/>
                    <a:lstStyle/>
                    <a:p>
                      <a:pPr algn="ctr">
                        <a:defRPr sz="1100">
                          <a:solidFill>
                            <a:srgbClr val="1A1A2E"/>
                          </a:solidFill>
                          <a:latin typeface="Times New Roman"/>
                        </a:defRPr>
                      </a:pPr>
                      <a:r>
                        <a:t>+8</a:t>
                      </a:r>
                    </a:p>
                  </a:txBody>
                  <a:tcPr anchor="ctr"/>
                </a:tc>
                <a:tc>
                  <a:txBody>
                    <a:bodyPr/>
                    <a:lstStyle/>
                    <a:p>
                      <a:pPr algn="ctr">
                        <a:defRPr sz="1100">
                          <a:solidFill>
                            <a:srgbClr val="1A1A2E"/>
                          </a:solidFill>
                          <a:latin typeface="Times New Roman"/>
                        </a:defRPr>
                      </a:pPr>
                      <a:r>
                        <a:t>-0.981</a:t>
                      </a:r>
                    </a:p>
                  </a:txBody>
                  <a:tcPr anchor="ctr"/>
                </a:tc>
              </a:tr>
              <a:tr h="365760">
                <a:tc>
                  <a:txBody>
                    <a:bodyPr/>
                    <a:lstStyle/>
                    <a:p>
                      <a:pPr algn="l">
                        <a:defRPr sz="1100">
                          <a:solidFill>
                            <a:srgbClr val="1A1A2E"/>
                          </a:solidFill>
                          <a:latin typeface="Times New Roman"/>
                        </a:defRPr>
                      </a:pPr>
                      <a:r>
                        <a:t>皮膚科</a:t>
                      </a:r>
                    </a:p>
                  </a:txBody>
                  <a:tcPr anchor="ctr">
                    <a:solidFill>
                      <a:srgbClr val="E8F0F8"/>
                    </a:solidFill>
                  </a:tcPr>
                </a:tc>
                <a:tc>
                  <a:txBody>
                    <a:bodyPr/>
                    <a:lstStyle/>
                    <a:p>
                      <a:pPr algn="ctr">
                        <a:defRPr sz="1100">
                          <a:solidFill>
                            <a:srgbClr val="1A1A2E"/>
                          </a:solidFill>
                          <a:latin typeface="Times New Roman"/>
                        </a:defRPr>
                      </a:pPr>
                      <a:r>
                        <a:t>訴訟統計</a:t>
                      </a:r>
                    </a:p>
                  </a:txBody>
                  <a:tcPr anchor="ctr">
                    <a:solidFill>
                      <a:srgbClr val="E8F0F8"/>
                    </a:solidFill>
                  </a:tcPr>
                </a:tc>
                <a:tc>
                  <a:txBody>
                    <a:bodyPr/>
                    <a:lstStyle/>
                    <a:p>
                      <a:pPr algn="ctr">
                        <a:defRPr sz="1100">
                          <a:solidFill>
                            <a:srgbClr val="1A1A2E"/>
                          </a:solidFill>
                          <a:latin typeface="Times New Roman"/>
                        </a:defRPr>
                      </a:pPr>
                      <a:r>
                        <a:t>施設数</a:t>
                      </a:r>
                    </a:p>
                  </a:txBody>
                  <a:tcPr anchor="ctr">
                    <a:solidFill>
                      <a:srgbClr val="E8F0F8"/>
                    </a:solidFill>
                  </a:tcPr>
                </a:tc>
                <a:tc>
                  <a:txBody>
                    <a:bodyPr/>
                    <a:lstStyle/>
                    <a:p>
                      <a:pPr algn="ctr">
                        <a:defRPr sz="1100">
                          <a:solidFill>
                            <a:srgbClr val="1A1A2E"/>
                          </a:solidFill>
                          <a:latin typeface="Times New Roman"/>
                        </a:defRPr>
                      </a:pPr>
                      <a:r>
                        <a:t>+8</a:t>
                      </a:r>
                    </a:p>
                  </a:txBody>
                  <a:tcPr anchor="ctr">
                    <a:solidFill>
                      <a:srgbClr val="E8F0F8"/>
                    </a:solidFill>
                  </a:tcPr>
                </a:tc>
                <a:tc>
                  <a:txBody>
                    <a:bodyPr/>
                    <a:lstStyle/>
                    <a:p>
                      <a:pPr algn="ctr">
                        <a:defRPr sz="1100">
                          <a:solidFill>
                            <a:srgbClr val="1A1A2E"/>
                          </a:solidFill>
                          <a:latin typeface="Times New Roman"/>
                        </a:defRPr>
                      </a:pPr>
                      <a:r>
                        <a:t>-0.969</a:t>
                      </a:r>
                    </a:p>
                  </a:txBody>
                  <a:tcPr anchor="ctr">
                    <a:solidFill>
                      <a:srgbClr val="E8F0F8"/>
                    </a:solidFill>
                  </a:tcPr>
                </a:tc>
              </a:tr>
            </a:tbl>
          </a:graphicData>
        </a:graphic>
      </p:graphicFrame>
      <p:sp>
        <p:nvSpPr>
          <p:cNvPr id="4" name="TextBox 3"/>
          <p:cNvSpPr txBox="1"/>
          <p:nvPr/>
        </p:nvSpPr>
        <p:spPr>
          <a:xfrm>
            <a:off x="457200" y="5486400"/>
            <a:ext cx="11247120" cy="457200"/>
          </a:xfrm>
          <a:prstGeom prst="rect">
            <a:avLst/>
          </a:prstGeom>
          <a:noFill/>
        </p:spPr>
        <p:txBody>
          <a:bodyPr wrap="square">
            <a:spAutoFit/>
          </a:bodyPr>
          <a:lstStyle/>
          <a:p>
            <a:pPr>
              <a:defRPr sz="1100" i="1">
                <a:solidFill>
                  <a:srgbClr val="555555"/>
                </a:solidFill>
                <a:latin typeface="Times New Roman"/>
              </a:defRPr>
            </a:pPr>
            <a:r>
              <a:t>トレンド除去後の事故系列とアウトカム系列のラグ-8〜+8年における相互相関。正のラグ＝事故件数の変化がアウトカムの変化に先行。</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pPr algn="l">
              <a:defRPr sz="2200" b="1">
                <a:solidFill>
                  <a:srgbClr val="1A1A2E"/>
                </a:solidFill>
                <a:latin typeface="Times New Roman"/>
              </a:defRPr>
            </a:pPr>
            <a:r>
              <a:t>表2. ITS分割回帰における統計的に有意（P&lt;0.05）な事故効果係数</a:t>
            </a:r>
          </a:p>
        </p:txBody>
      </p:sp>
      <p:graphicFrame>
        <p:nvGraphicFramePr>
          <p:cNvPr id="3" name="Table 2"/>
          <p:cNvGraphicFramePr>
            <a:graphicFrameLocks noGrp="1"/>
          </p:cNvGraphicFramePr>
          <p:nvPr/>
        </p:nvGraphicFramePr>
        <p:xfrm>
          <a:off x="609904" y="1188720"/>
          <a:ext cx="10972796" cy="2926080"/>
        </p:xfrm>
        <a:graphic>
          <a:graphicData uri="http://schemas.openxmlformats.org/drawingml/2006/table">
            <a:tbl>
              <a:tblPr firstRow="1" bandRow="1">
                <a:tableStyleId>{5C22544A-7EE6-4342-B048-85BDC9FD1C3A}</a:tableStyleId>
              </a:tblPr>
              <a:tblGrid>
                <a:gridCol w="2414016"/>
                <a:gridCol w="1711756"/>
                <a:gridCol w="1711756"/>
                <a:gridCol w="1711756"/>
                <a:gridCol w="1711756"/>
                <a:gridCol w="1711756"/>
              </a:tblGrid>
              <a:tr h="365760">
                <a:tc>
                  <a:txBody>
                    <a:bodyPr/>
                    <a:lstStyle/>
                    <a:p>
                      <a:pPr algn="ctr">
                        <a:defRPr sz="1200" b="1">
                          <a:solidFill>
                            <a:srgbClr val="FFFFFF"/>
                          </a:solidFill>
                          <a:latin typeface="Times New Roman"/>
                        </a:defRPr>
                      </a:pPr>
                      <a:r>
                        <a:t>診療科</a:t>
                      </a:r>
                    </a:p>
                  </a:txBody>
                  <a:tcPr anchor="ctr">
                    <a:solidFill>
                      <a:srgbClr val="00528A"/>
                    </a:solidFill>
                  </a:tcPr>
                </a:tc>
                <a:tc>
                  <a:txBody>
                    <a:bodyPr/>
                    <a:lstStyle/>
                    <a:p>
                      <a:pPr algn="ctr">
                        <a:defRPr sz="1200" b="1">
                          <a:solidFill>
                            <a:srgbClr val="FFFFFF"/>
                          </a:solidFill>
                          <a:latin typeface="Times New Roman"/>
                        </a:defRPr>
                      </a:pPr>
                      <a:r>
                        <a:t>定義</a:t>
                      </a:r>
                    </a:p>
                  </a:txBody>
                  <a:tcPr anchor="ctr">
                    <a:solidFill>
                      <a:srgbClr val="00528A"/>
                    </a:solidFill>
                  </a:tcPr>
                </a:tc>
                <a:tc>
                  <a:txBody>
                    <a:bodyPr/>
                    <a:lstStyle/>
                    <a:p>
                      <a:pPr algn="ctr">
                        <a:defRPr sz="1200" b="1">
                          <a:solidFill>
                            <a:srgbClr val="FFFFFF"/>
                          </a:solidFill>
                          <a:latin typeface="Times New Roman"/>
                        </a:defRPr>
                      </a:pPr>
                      <a:r>
                        <a:t>アウトカム</a:t>
                      </a:r>
                    </a:p>
                  </a:txBody>
                  <a:tcPr anchor="ctr">
                    <a:solidFill>
                      <a:srgbClr val="00528A"/>
                    </a:solidFill>
                  </a:tcPr>
                </a:tc>
                <a:tc>
                  <a:txBody>
                    <a:bodyPr/>
                    <a:lstStyle/>
                    <a:p>
                      <a:pPr algn="ctr">
                        <a:defRPr sz="1200" b="1">
                          <a:solidFill>
                            <a:srgbClr val="FFFFFF"/>
                          </a:solidFill>
                          <a:latin typeface="Times New Roman"/>
                        </a:defRPr>
                      </a:pPr>
                      <a:r>
                        <a:t>R²</a:t>
                      </a:r>
                    </a:p>
                  </a:txBody>
                  <a:tcPr anchor="ctr">
                    <a:solidFill>
                      <a:srgbClr val="00528A"/>
                    </a:solidFill>
                  </a:tcPr>
                </a:tc>
                <a:tc>
                  <a:txBody>
                    <a:bodyPr/>
                    <a:lstStyle/>
                    <a:p>
                      <a:pPr algn="ctr">
                        <a:defRPr sz="1200" b="1">
                          <a:solidFill>
                            <a:srgbClr val="FFFFFF"/>
                          </a:solidFill>
                          <a:latin typeface="Times New Roman"/>
                        </a:defRPr>
                      </a:pPr>
                      <a:r>
                        <a:t>事故効果係数</a:t>
                      </a:r>
                    </a:p>
                  </a:txBody>
                  <a:tcPr anchor="ctr">
                    <a:solidFill>
                      <a:srgbClr val="00528A"/>
                    </a:solidFill>
                  </a:tcPr>
                </a:tc>
                <a:tc>
                  <a:txBody>
                    <a:bodyPr/>
                    <a:lstStyle/>
                    <a:p>
                      <a:pPr algn="ctr">
                        <a:defRPr sz="1200" b="1">
                          <a:solidFill>
                            <a:srgbClr val="FFFFFF"/>
                          </a:solidFill>
                          <a:latin typeface="Times New Roman"/>
                        </a:defRPr>
                      </a:pPr>
                      <a:r>
                        <a:t>P値</a:t>
                      </a:r>
                    </a:p>
                  </a:txBody>
                  <a:tcPr anchor="ctr">
                    <a:solidFill>
                      <a:srgbClr val="00528A"/>
                    </a:solidFill>
                  </a:tcPr>
                </a:tc>
              </a:tr>
              <a:tr h="365760">
                <a:tc>
                  <a:txBody>
                    <a:bodyPr/>
                    <a:lstStyle/>
                    <a:p>
                      <a:pPr algn="l">
                        <a:defRPr sz="1100">
                          <a:solidFill>
                            <a:srgbClr val="1A1A2E"/>
                          </a:solidFill>
                          <a:latin typeface="Times New Roman"/>
                        </a:defRPr>
                      </a:pPr>
                      <a:r>
                        <a:t>外科</a:t>
                      </a:r>
                    </a:p>
                  </a:txBody>
                  <a:tcPr anchor="ctr"/>
                </a:tc>
                <a:tc>
                  <a:txBody>
                    <a:bodyPr/>
                    <a:lstStyle/>
                    <a:p>
                      <a:pPr algn="ctr">
                        <a:defRPr sz="1100">
                          <a:solidFill>
                            <a:srgbClr val="1A1A2E"/>
                          </a:solidFill>
                          <a:latin typeface="Times New Roman"/>
                        </a:defRPr>
                      </a:pPr>
                      <a:r>
                        <a:t>訴訟統計</a:t>
                      </a:r>
                    </a:p>
                  </a:txBody>
                  <a:tcPr anchor="ctr"/>
                </a:tc>
                <a:tc>
                  <a:txBody>
                    <a:bodyPr/>
                    <a:lstStyle/>
                    <a:p>
                      <a:pPr algn="ctr">
                        <a:defRPr sz="1100">
                          <a:solidFill>
                            <a:srgbClr val="1A1A2E"/>
                          </a:solidFill>
                          <a:latin typeface="Times New Roman"/>
                        </a:defRPr>
                      </a:pPr>
                      <a:r>
                        <a:t>医師数</a:t>
                      </a:r>
                    </a:p>
                  </a:txBody>
                  <a:tcPr anchor="ctr"/>
                </a:tc>
                <a:tc>
                  <a:txBody>
                    <a:bodyPr/>
                    <a:lstStyle/>
                    <a:p>
                      <a:pPr algn="ctr">
                        <a:defRPr sz="1100">
                          <a:solidFill>
                            <a:srgbClr val="1A1A2E"/>
                          </a:solidFill>
                          <a:latin typeface="Times New Roman"/>
                        </a:defRPr>
                      </a:pPr>
                      <a:r>
                        <a:t>0.994</a:t>
                      </a:r>
                    </a:p>
                  </a:txBody>
                  <a:tcPr anchor="ctr"/>
                </a:tc>
                <a:tc>
                  <a:txBody>
                    <a:bodyPr/>
                    <a:lstStyle/>
                    <a:p>
                      <a:pPr algn="ctr">
                        <a:defRPr sz="1100">
                          <a:solidFill>
                            <a:srgbClr val="1A1A2E"/>
                          </a:solidFill>
                          <a:latin typeface="Times New Roman"/>
                        </a:defRPr>
                      </a:pPr>
                      <a:r>
                        <a:t>+19.3/件</a:t>
                      </a:r>
                    </a:p>
                  </a:txBody>
                  <a:tcPr anchor="ctr"/>
                </a:tc>
                <a:tc>
                  <a:txBody>
                    <a:bodyPr/>
                    <a:lstStyle/>
                    <a:p>
                      <a:pPr algn="ctr">
                        <a:defRPr sz="1100">
                          <a:solidFill>
                            <a:srgbClr val="1A1A2E"/>
                          </a:solidFill>
                          <a:latin typeface="Times New Roman"/>
                        </a:defRPr>
                      </a:pPr>
                      <a:r>
                        <a:t>&lt;0.001</a:t>
                      </a:r>
                    </a:p>
                  </a:txBody>
                  <a:tcPr anchor="ctr"/>
                </a:tc>
              </a:tr>
              <a:tr h="365760">
                <a:tc>
                  <a:txBody>
                    <a:bodyPr/>
                    <a:lstStyle/>
                    <a:p>
                      <a:pPr algn="l">
                        <a:defRPr sz="1100">
                          <a:solidFill>
                            <a:srgbClr val="1A1A2E"/>
                          </a:solidFill>
                          <a:latin typeface="Times New Roman"/>
                        </a:defRPr>
                      </a:pPr>
                      <a:r>
                        <a:t>産婦人科</a:t>
                      </a:r>
                    </a:p>
                  </a:txBody>
                  <a:tcPr anchor="ctr">
                    <a:solidFill>
                      <a:srgbClr val="E8F0F8"/>
                    </a:solidFill>
                  </a:tcPr>
                </a:tc>
                <a:tc>
                  <a:txBody>
                    <a:bodyPr/>
                    <a:lstStyle/>
                    <a:p>
                      <a:pPr algn="ctr">
                        <a:defRPr sz="1100">
                          <a:solidFill>
                            <a:srgbClr val="1A1A2E"/>
                          </a:solidFill>
                          <a:latin typeface="Times New Roman"/>
                        </a:defRPr>
                      </a:pPr>
                      <a:r>
                        <a:t>医療事故調査制度</a:t>
                      </a:r>
                    </a:p>
                  </a:txBody>
                  <a:tcPr anchor="ctr">
                    <a:solidFill>
                      <a:srgbClr val="E8F0F8"/>
                    </a:solidFill>
                  </a:tcPr>
                </a:tc>
                <a:tc>
                  <a:txBody>
                    <a:bodyPr/>
                    <a:lstStyle/>
                    <a:p>
                      <a:pPr algn="ctr">
                        <a:defRPr sz="1100">
                          <a:solidFill>
                            <a:srgbClr val="1A1A2E"/>
                          </a:solidFill>
                          <a:latin typeface="Times New Roman"/>
                        </a:defRPr>
                      </a:pPr>
                      <a:r>
                        <a:t>医師数</a:t>
                      </a:r>
                    </a:p>
                  </a:txBody>
                  <a:tcPr anchor="ctr">
                    <a:solidFill>
                      <a:srgbClr val="E8F0F8"/>
                    </a:solidFill>
                  </a:tcPr>
                </a:tc>
                <a:tc>
                  <a:txBody>
                    <a:bodyPr/>
                    <a:lstStyle/>
                    <a:p>
                      <a:pPr algn="ctr">
                        <a:defRPr sz="1100">
                          <a:solidFill>
                            <a:srgbClr val="1A1A2E"/>
                          </a:solidFill>
                          <a:latin typeface="Times New Roman"/>
                        </a:defRPr>
                      </a:pPr>
                      <a:r>
                        <a:t>0.995</a:t>
                      </a:r>
                    </a:p>
                  </a:txBody>
                  <a:tcPr anchor="ctr">
                    <a:solidFill>
                      <a:srgbClr val="E8F0F8"/>
                    </a:solidFill>
                  </a:tcPr>
                </a:tc>
                <a:tc>
                  <a:txBody>
                    <a:bodyPr/>
                    <a:lstStyle/>
                    <a:p>
                      <a:pPr algn="ctr">
                        <a:defRPr sz="1100">
                          <a:solidFill>
                            <a:srgbClr val="1A1A2E"/>
                          </a:solidFill>
                          <a:latin typeface="Times New Roman"/>
                        </a:defRPr>
                      </a:pPr>
                      <a:r>
                        <a:t>+17.7/報告</a:t>
                      </a:r>
                    </a:p>
                  </a:txBody>
                  <a:tcPr anchor="ctr">
                    <a:solidFill>
                      <a:srgbClr val="E8F0F8"/>
                    </a:solidFill>
                  </a:tcPr>
                </a:tc>
                <a:tc>
                  <a:txBody>
                    <a:bodyPr/>
                    <a:lstStyle/>
                    <a:p>
                      <a:pPr algn="ctr">
                        <a:defRPr sz="1100">
                          <a:solidFill>
                            <a:srgbClr val="1A1A2E"/>
                          </a:solidFill>
                          <a:latin typeface="Times New Roman"/>
                        </a:defRPr>
                      </a:pPr>
                      <a:r>
                        <a:t>0.021</a:t>
                      </a:r>
                    </a:p>
                  </a:txBody>
                  <a:tcPr anchor="ctr">
                    <a:solidFill>
                      <a:srgbClr val="E8F0F8"/>
                    </a:solidFill>
                  </a:tcPr>
                </a:tc>
              </a:tr>
              <a:tr h="365760">
                <a:tc>
                  <a:txBody>
                    <a:bodyPr/>
                    <a:lstStyle/>
                    <a:p>
                      <a:pPr algn="l">
                        <a:defRPr sz="1100">
                          <a:solidFill>
                            <a:srgbClr val="1A1A2E"/>
                          </a:solidFill>
                          <a:latin typeface="Times New Roman"/>
                        </a:defRPr>
                      </a:pPr>
                      <a:r>
                        <a:t>産婦人科</a:t>
                      </a:r>
                    </a:p>
                  </a:txBody>
                  <a:tcPr anchor="ctr"/>
                </a:tc>
                <a:tc>
                  <a:txBody>
                    <a:bodyPr/>
                    <a:lstStyle/>
                    <a:p>
                      <a:pPr algn="ctr">
                        <a:defRPr sz="1100">
                          <a:solidFill>
                            <a:srgbClr val="1A1A2E"/>
                          </a:solidFill>
                          <a:latin typeface="Times New Roman"/>
                        </a:defRPr>
                      </a:pPr>
                      <a:r>
                        <a:t>訴訟統計</a:t>
                      </a:r>
                    </a:p>
                  </a:txBody>
                  <a:tcPr anchor="ctr"/>
                </a:tc>
                <a:tc>
                  <a:txBody>
                    <a:bodyPr/>
                    <a:lstStyle/>
                    <a:p>
                      <a:pPr algn="ctr">
                        <a:defRPr sz="1100">
                          <a:solidFill>
                            <a:srgbClr val="1A1A2E"/>
                          </a:solidFill>
                          <a:latin typeface="Times New Roman"/>
                        </a:defRPr>
                      </a:pPr>
                      <a:r>
                        <a:t>医師数</a:t>
                      </a:r>
                    </a:p>
                  </a:txBody>
                  <a:tcPr anchor="ctr"/>
                </a:tc>
                <a:tc>
                  <a:txBody>
                    <a:bodyPr/>
                    <a:lstStyle/>
                    <a:p>
                      <a:pPr algn="ctr">
                        <a:defRPr sz="1100">
                          <a:solidFill>
                            <a:srgbClr val="1A1A2E"/>
                          </a:solidFill>
                          <a:latin typeface="Times New Roman"/>
                        </a:defRPr>
                      </a:pPr>
                      <a:r>
                        <a:t>0.977</a:t>
                      </a:r>
                    </a:p>
                  </a:txBody>
                  <a:tcPr anchor="ctr"/>
                </a:tc>
                <a:tc>
                  <a:txBody>
                    <a:bodyPr/>
                    <a:lstStyle/>
                    <a:p>
                      <a:pPr algn="ctr">
                        <a:defRPr sz="1100">
                          <a:solidFill>
                            <a:srgbClr val="1A1A2E"/>
                          </a:solidFill>
                          <a:latin typeface="Times New Roman"/>
                        </a:defRPr>
                      </a:pPr>
                      <a:r>
                        <a:t>+11.6/件</a:t>
                      </a:r>
                    </a:p>
                  </a:txBody>
                  <a:tcPr anchor="ctr"/>
                </a:tc>
                <a:tc>
                  <a:txBody>
                    <a:bodyPr/>
                    <a:lstStyle/>
                    <a:p>
                      <a:pPr algn="ctr">
                        <a:defRPr sz="1100">
                          <a:solidFill>
                            <a:srgbClr val="1A1A2E"/>
                          </a:solidFill>
                          <a:latin typeface="Times New Roman"/>
                        </a:defRPr>
                      </a:pPr>
                      <a:r>
                        <a:t>&lt;0.001</a:t>
                      </a:r>
                    </a:p>
                  </a:txBody>
                  <a:tcPr anchor="ctr"/>
                </a:tc>
              </a:tr>
              <a:tr h="365760">
                <a:tc>
                  <a:txBody>
                    <a:bodyPr/>
                    <a:lstStyle/>
                    <a:p>
                      <a:pPr algn="l">
                        <a:defRPr sz="1100">
                          <a:solidFill>
                            <a:srgbClr val="1A1A2E"/>
                          </a:solidFill>
                          <a:latin typeface="Times New Roman"/>
                        </a:defRPr>
                      </a:pPr>
                      <a:r>
                        <a:t>産婦人科</a:t>
                      </a:r>
                    </a:p>
                  </a:txBody>
                  <a:tcPr anchor="ctr">
                    <a:solidFill>
                      <a:srgbClr val="E8F0F8"/>
                    </a:solidFill>
                  </a:tcPr>
                </a:tc>
                <a:tc>
                  <a:txBody>
                    <a:bodyPr/>
                    <a:lstStyle/>
                    <a:p>
                      <a:pPr algn="ctr">
                        <a:defRPr sz="1100">
                          <a:solidFill>
                            <a:srgbClr val="1A1A2E"/>
                          </a:solidFill>
                          <a:latin typeface="Times New Roman"/>
                        </a:defRPr>
                      </a:pPr>
                      <a:r>
                        <a:t>医療事故調査制度</a:t>
                      </a:r>
                    </a:p>
                  </a:txBody>
                  <a:tcPr anchor="ctr">
                    <a:solidFill>
                      <a:srgbClr val="E8F0F8"/>
                    </a:solidFill>
                  </a:tcPr>
                </a:tc>
                <a:tc>
                  <a:txBody>
                    <a:bodyPr/>
                    <a:lstStyle/>
                    <a:p>
                      <a:pPr algn="ctr">
                        <a:defRPr sz="1100">
                          <a:solidFill>
                            <a:srgbClr val="1A1A2E"/>
                          </a:solidFill>
                          <a:latin typeface="Times New Roman"/>
                        </a:defRPr>
                      </a:pPr>
                      <a:r>
                        <a:t>施設数</a:t>
                      </a:r>
                    </a:p>
                  </a:txBody>
                  <a:tcPr anchor="ctr">
                    <a:solidFill>
                      <a:srgbClr val="E8F0F8"/>
                    </a:solidFill>
                  </a:tcPr>
                </a:tc>
                <a:tc>
                  <a:txBody>
                    <a:bodyPr/>
                    <a:lstStyle/>
                    <a:p>
                      <a:pPr algn="ctr">
                        <a:defRPr sz="1100">
                          <a:solidFill>
                            <a:srgbClr val="1A1A2E"/>
                          </a:solidFill>
                          <a:latin typeface="Times New Roman"/>
                        </a:defRPr>
                      </a:pPr>
                      <a:r>
                        <a:t>0.999</a:t>
                      </a:r>
                    </a:p>
                  </a:txBody>
                  <a:tcPr anchor="ctr">
                    <a:solidFill>
                      <a:srgbClr val="E8F0F8"/>
                    </a:solidFill>
                  </a:tcPr>
                </a:tc>
                <a:tc>
                  <a:txBody>
                    <a:bodyPr/>
                    <a:lstStyle/>
                    <a:p>
                      <a:pPr algn="ctr">
                        <a:defRPr sz="1100">
                          <a:solidFill>
                            <a:srgbClr val="1A1A2E"/>
                          </a:solidFill>
                          <a:latin typeface="Times New Roman"/>
                        </a:defRPr>
                      </a:pPr>
                      <a:r>
                        <a:t>+4.3/報告</a:t>
                      </a:r>
                    </a:p>
                  </a:txBody>
                  <a:tcPr anchor="ctr">
                    <a:solidFill>
                      <a:srgbClr val="E8F0F8"/>
                    </a:solidFill>
                  </a:tcPr>
                </a:tc>
                <a:tc>
                  <a:txBody>
                    <a:bodyPr/>
                    <a:lstStyle/>
                    <a:p>
                      <a:pPr algn="ctr">
                        <a:defRPr sz="1100">
                          <a:solidFill>
                            <a:srgbClr val="1A1A2E"/>
                          </a:solidFill>
                          <a:latin typeface="Times New Roman"/>
                        </a:defRPr>
                      </a:pPr>
                      <a:r>
                        <a:t>0.042</a:t>
                      </a:r>
                    </a:p>
                  </a:txBody>
                  <a:tcPr anchor="ctr">
                    <a:solidFill>
                      <a:srgbClr val="E8F0F8"/>
                    </a:solidFill>
                  </a:tcPr>
                </a:tc>
              </a:tr>
              <a:tr h="365760">
                <a:tc>
                  <a:txBody>
                    <a:bodyPr/>
                    <a:lstStyle/>
                    <a:p>
                      <a:pPr algn="l">
                        <a:defRPr sz="1100">
                          <a:solidFill>
                            <a:srgbClr val="1A1A2E"/>
                          </a:solidFill>
                          <a:latin typeface="Times New Roman"/>
                        </a:defRPr>
                      </a:pPr>
                      <a:r>
                        <a:t>産婦人科</a:t>
                      </a:r>
                    </a:p>
                  </a:txBody>
                  <a:tcPr anchor="ctr"/>
                </a:tc>
                <a:tc>
                  <a:txBody>
                    <a:bodyPr/>
                    <a:lstStyle/>
                    <a:p>
                      <a:pPr algn="ctr">
                        <a:defRPr sz="1100">
                          <a:solidFill>
                            <a:srgbClr val="1A1A2E"/>
                          </a:solidFill>
                          <a:latin typeface="Times New Roman"/>
                        </a:defRPr>
                      </a:pPr>
                      <a:r>
                        <a:t>訴訟統計</a:t>
                      </a:r>
                    </a:p>
                  </a:txBody>
                  <a:tcPr anchor="ctr"/>
                </a:tc>
                <a:tc>
                  <a:txBody>
                    <a:bodyPr/>
                    <a:lstStyle/>
                    <a:p>
                      <a:pPr algn="ctr">
                        <a:defRPr sz="1100">
                          <a:solidFill>
                            <a:srgbClr val="1A1A2E"/>
                          </a:solidFill>
                          <a:latin typeface="Times New Roman"/>
                        </a:defRPr>
                      </a:pPr>
                      <a:r>
                        <a:t>施設数</a:t>
                      </a:r>
                    </a:p>
                  </a:txBody>
                  <a:tcPr anchor="ctr"/>
                </a:tc>
                <a:tc>
                  <a:txBody>
                    <a:bodyPr/>
                    <a:lstStyle/>
                    <a:p>
                      <a:pPr algn="ctr">
                        <a:defRPr sz="1100">
                          <a:solidFill>
                            <a:srgbClr val="1A1A2E"/>
                          </a:solidFill>
                          <a:latin typeface="Times New Roman"/>
                        </a:defRPr>
                      </a:pPr>
                      <a:r>
                        <a:t>0.990</a:t>
                      </a:r>
                    </a:p>
                  </a:txBody>
                  <a:tcPr anchor="ctr"/>
                </a:tc>
                <a:tc>
                  <a:txBody>
                    <a:bodyPr/>
                    <a:lstStyle/>
                    <a:p>
                      <a:pPr algn="ctr">
                        <a:defRPr sz="1100">
                          <a:solidFill>
                            <a:srgbClr val="1A1A2E"/>
                          </a:solidFill>
                          <a:latin typeface="Times New Roman"/>
                        </a:defRPr>
                      </a:pPr>
                      <a:r>
                        <a:t>+5.5/件</a:t>
                      </a:r>
                    </a:p>
                  </a:txBody>
                  <a:tcPr anchor="ctr"/>
                </a:tc>
                <a:tc>
                  <a:txBody>
                    <a:bodyPr/>
                    <a:lstStyle/>
                    <a:p>
                      <a:pPr algn="ctr">
                        <a:defRPr sz="1100">
                          <a:solidFill>
                            <a:srgbClr val="1A1A2E"/>
                          </a:solidFill>
                          <a:latin typeface="Times New Roman"/>
                        </a:defRPr>
                      </a:pPr>
                      <a:r>
                        <a:t>&lt;0.001</a:t>
                      </a:r>
                    </a:p>
                  </a:txBody>
                  <a:tcPr anchor="ctr"/>
                </a:tc>
              </a:tr>
              <a:tr h="365760">
                <a:tc>
                  <a:txBody>
                    <a:bodyPr/>
                    <a:lstStyle/>
                    <a:p>
                      <a:pPr algn="l">
                        <a:defRPr sz="1100">
                          <a:solidFill>
                            <a:srgbClr val="1A1A2E"/>
                          </a:solidFill>
                          <a:latin typeface="Times New Roman"/>
                        </a:defRPr>
                      </a:pPr>
                      <a:r>
                        <a:t>眼科</a:t>
                      </a:r>
                    </a:p>
                  </a:txBody>
                  <a:tcPr anchor="ctr">
                    <a:solidFill>
                      <a:srgbClr val="E8F0F8"/>
                    </a:solidFill>
                  </a:tcPr>
                </a:tc>
                <a:tc>
                  <a:txBody>
                    <a:bodyPr/>
                    <a:lstStyle/>
                    <a:p>
                      <a:pPr algn="ctr">
                        <a:defRPr sz="1100">
                          <a:solidFill>
                            <a:srgbClr val="1A1A2E"/>
                          </a:solidFill>
                          <a:latin typeface="Times New Roman"/>
                        </a:defRPr>
                      </a:pPr>
                      <a:r>
                        <a:t>医療事故調査制度</a:t>
                      </a:r>
                    </a:p>
                  </a:txBody>
                  <a:tcPr anchor="ctr">
                    <a:solidFill>
                      <a:srgbClr val="E8F0F8"/>
                    </a:solidFill>
                  </a:tcPr>
                </a:tc>
                <a:tc>
                  <a:txBody>
                    <a:bodyPr/>
                    <a:lstStyle/>
                    <a:p>
                      <a:pPr algn="ctr">
                        <a:defRPr sz="1100">
                          <a:solidFill>
                            <a:srgbClr val="1A1A2E"/>
                          </a:solidFill>
                          <a:latin typeface="Times New Roman"/>
                        </a:defRPr>
                      </a:pPr>
                      <a:r>
                        <a:t>施設数</a:t>
                      </a:r>
                    </a:p>
                  </a:txBody>
                  <a:tcPr anchor="ctr">
                    <a:solidFill>
                      <a:srgbClr val="E8F0F8"/>
                    </a:solidFill>
                  </a:tcPr>
                </a:tc>
                <a:tc>
                  <a:txBody>
                    <a:bodyPr/>
                    <a:lstStyle/>
                    <a:p>
                      <a:pPr algn="ctr">
                        <a:defRPr sz="1100">
                          <a:solidFill>
                            <a:srgbClr val="1A1A2E"/>
                          </a:solidFill>
                          <a:latin typeface="Times New Roman"/>
                        </a:defRPr>
                      </a:pPr>
                      <a:r>
                        <a:t>1.000</a:t>
                      </a:r>
                    </a:p>
                  </a:txBody>
                  <a:tcPr anchor="ctr">
                    <a:solidFill>
                      <a:srgbClr val="E8F0F8"/>
                    </a:solidFill>
                  </a:tcPr>
                </a:tc>
                <a:tc>
                  <a:txBody>
                    <a:bodyPr/>
                    <a:lstStyle/>
                    <a:p>
                      <a:pPr algn="ctr">
                        <a:defRPr sz="1100">
                          <a:solidFill>
                            <a:srgbClr val="1A1A2E"/>
                          </a:solidFill>
                          <a:latin typeface="Times New Roman"/>
                        </a:defRPr>
                      </a:pPr>
                      <a:r>
                        <a:t>+4.1/報告</a:t>
                      </a:r>
                    </a:p>
                  </a:txBody>
                  <a:tcPr anchor="ctr">
                    <a:solidFill>
                      <a:srgbClr val="E8F0F8"/>
                    </a:solidFill>
                  </a:tcPr>
                </a:tc>
                <a:tc>
                  <a:txBody>
                    <a:bodyPr/>
                    <a:lstStyle/>
                    <a:p>
                      <a:pPr algn="ctr">
                        <a:defRPr sz="1100">
                          <a:solidFill>
                            <a:srgbClr val="1A1A2E"/>
                          </a:solidFill>
                          <a:latin typeface="Times New Roman"/>
                        </a:defRPr>
                      </a:pPr>
                      <a:r>
                        <a:t>0.039</a:t>
                      </a:r>
                    </a:p>
                  </a:txBody>
                  <a:tcPr anchor="ctr">
                    <a:solidFill>
                      <a:srgbClr val="E8F0F8"/>
                    </a:solidFill>
                  </a:tcPr>
                </a:tc>
              </a:tr>
              <a:tr h="365760">
                <a:tc>
                  <a:txBody>
                    <a:bodyPr/>
                    <a:lstStyle/>
                    <a:p>
                      <a:pPr algn="l">
                        <a:defRPr sz="1100">
                          <a:solidFill>
                            <a:srgbClr val="1A1A2E"/>
                          </a:solidFill>
                          <a:latin typeface="Times New Roman"/>
                        </a:defRPr>
                      </a:pPr>
                      <a:r>
                        <a:t>形成外科</a:t>
                      </a:r>
                    </a:p>
                  </a:txBody>
                  <a:tcPr anchor="ctr"/>
                </a:tc>
                <a:tc>
                  <a:txBody>
                    <a:bodyPr/>
                    <a:lstStyle/>
                    <a:p>
                      <a:pPr algn="ctr">
                        <a:defRPr sz="1100">
                          <a:solidFill>
                            <a:srgbClr val="1A1A2E"/>
                          </a:solidFill>
                          <a:latin typeface="Times New Roman"/>
                        </a:defRPr>
                      </a:pPr>
                      <a:r>
                        <a:t>訴訟統計</a:t>
                      </a:r>
                    </a:p>
                  </a:txBody>
                  <a:tcPr anchor="ctr"/>
                </a:tc>
                <a:tc>
                  <a:txBody>
                    <a:bodyPr/>
                    <a:lstStyle/>
                    <a:p>
                      <a:pPr algn="ctr">
                        <a:defRPr sz="1100">
                          <a:solidFill>
                            <a:srgbClr val="1A1A2E"/>
                          </a:solidFill>
                          <a:latin typeface="Times New Roman"/>
                        </a:defRPr>
                      </a:pPr>
                      <a:r>
                        <a:t>施設数</a:t>
                      </a:r>
                    </a:p>
                  </a:txBody>
                  <a:tcPr anchor="ctr"/>
                </a:tc>
                <a:tc>
                  <a:txBody>
                    <a:bodyPr/>
                    <a:lstStyle/>
                    <a:p>
                      <a:pPr algn="ctr">
                        <a:defRPr sz="1100">
                          <a:solidFill>
                            <a:srgbClr val="1A1A2E"/>
                          </a:solidFill>
                          <a:latin typeface="Times New Roman"/>
                        </a:defRPr>
                      </a:pPr>
                      <a:r>
                        <a:t>0.999</a:t>
                      </a:r>
                    </a:p>
                  </a:txBody>
                  <a:tcPr anchor="ctr"/>
                </a:tc>
                <a:tc>
                  <a:txBody>
                    <a:bodyPr/>
                    <a:lstStyle/>
                    <a:p>
                      <a:pPr algn="ctr">
                        <a:defRPr sz="1100">
                          <a:solidFill>
                            <a:srgbClr val="1A1A2E"/>
                          </a:solidFill>
                          <a:latin typeface="Times New Roman"/>
                        </a:defRPr>
                      </a:pPr>
                      <a:r>
                        <a:t>+4.1/件</a:t>
                      </a:r>
                    </a:p>
                  </a:txBody>
                  <a:tcPr anchor="ctr"/>
                </a:tc>
                <a:tc>
                  <a:txBody>
                    <a:bodyPr/>
                    <a:lstStyle/>
                    <a:p>
                      <a:pPr algn="ctr">
                        <a:defRPr sz="1100">
                          <a:solidFill>
                            <a:srgbClr val="1A1A2E"/>
                          </a:solidFill>
                          <a:latin typeface="Times New Roman"/>
                        </a:defRPr>
                      </a:pPr>
                      <a:r>
                        <a:t>0.005</a:t>
                      </a:r>
                    </a:p>
                  </a:txBody>
                  <a:tcPr anchor="ctr"/>
                </a:tc>
              </a:tr>
            </a:tbl>
          </a:graphicData>
        </a:graphic>
      </p:graphicFrame>
      <p:sp>
        <p:nvSpPr>
          <p:cNvPr id="4" name="TextBox 3"/>
          <p:cNvSpPr txBox="1"/>
          <p:nvPr/>
        </p:nvSpPr>
        <p:spPr>
          <a:xfrm>
            <a:off x="457200" y="4389120"/>
            <a:ext cx="11247120" cy="457200"/>
          </a:xfrm>
          <a:prstGeom prst="rect">
            <a:avLst/>
          </a:prstGeom>
          <a:noFill/>
        </p:spPr>
        <p:txBody>
          <a:bodyPr wrap="square">
            <a:spAutoFit/>
          </a:bodyPr>
          <a:lstStyle/>
          <a:p>
            <a:pPr>
              <a:defRPr sz="1100" i="1">
                <a:solidFill>
                  <a:srgbClr val="555555"/>
                </a:solidFill>
                <a:latin typeface="Times New Roman"/>
              </a:defRPr>
            </a:pPr>
            <a:r>
              <a:t>注：正の係数は事故件数とアウトカムの共有された長期トレンドを反映。考察の解釈を参照。</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pPr algn="l">
              <a:defRPr sz="2200" b="1">
                <a:solidFill>
                  <a:srgbClr val="1A1A2E"/>
                </a:solidFill>
                <a:latin typeface="Times New Roman"/>
              </a:defRPr>
            </a:pPr>
            <a:r>
              <a:t>表3. アウトカム別のリードタイムおよびウィンドウ期間推定の要約</a:t>
            </a:r>
          </a:p>
        </p:txBody>
      </p:sp>
      <p:graphicFrame>
        <p:nvGraphicFramePr>
          <p:cNvPr id="3" name="Table 2"/>
          <p:cNvGraphicFramePr>
            <a:graphicFrameLocks noGrp="1"/>
          </p:cNvGraphicFramePr>
          <p:nvPr/>
        </p:nvGraphicFramePr>
        <p:xfrm>
          <a:off x="609904" y="1188720"/>
          <a:ext cx="10972800" cy="1097280"/>
        </p:xfrm>
        <a:graphic>
          <a:graphicData uri="http://schemas.openxmlformats.org/drawingml/2006/table">
            <a:tbl>
              <a:tblPr firstRow="1" bandRow="1">
                <a:tableStyleId>{5C22544A-7EE6-4342-B048-85BDC9FD1C3A}</a:tableStyleId>
              </a:tblPr>
              <a:tblGrid>
                <a:gridCol w="2414016"/>
                <a:gridCol w="2139696"/>
                <a:gridCol w="2139696"/>
                <a:gridCol w="2139696"/>
                <a:gridCol w="2139696"/>
              </a:tblGrid>
              <a:tr h="365760">
                <a:tc>
                  <a:txBody>
                    <a:bodyPr/>
                    <a:lstStyle/>
                    <a:p>
                      <a:pPr algn="ctr">
                        <a:defRPr sz="1200" b="1">
                          <a:solidFill>
                            <a:srgbClr val="FFFFFF"/>
                          </a:solidFill>
                          <a:latin typeface="Times New Roman"/>
                        </a:defRPr>
                      </a:pPr>
                      <a:r>
                        <a:t>アウトカム</a:t>
                      </a:r>
                    </a:p>
                  </a:txBody>
                  <a:tcPr anchor="ctr">
                    <a:solidFill>
                      <a:srgbClr val="00528A"/>
                    </a:solidFill>
                  </a:tcPr>
                </a:tc>
                <a:tc>
                  <a:txBody>
                    <a:bodyPr/>
                    <a:lstStyle/>
                    <a:p>
                      <a:pPr algn="ctr">
                        <a:defRPr sz="1200" b="1">
                          <a:solidFill>
                            <a:srgbClr val="FFFFFF"/>
                          </a:solidFill>
                          <a:latin typeface="Times New Roman"/>
                        </a:defRPr>
                      </a:pPr>
                      <a:r>
                        <a:t>平均リードタイム（年）</a:t>
                      </a:r>
                    </a:p>
                  </a:txBody>
                  <a:tcPr anchor="ctr">
                    <a:solidFill>
                      <a:srgbClr val="00528A"/>
                    </a:solidFill>
                  </a:tcPr>
                </a:tc>
                <a:tc>
                  <a:txBody>
                    <a:bodyPr/>
                    <a:lstStyle/>
                    <a:p>
                      <a:pPr algn="ctr">
                        <a:defRPr sz="1200" b="1">
                          <a:solidFill>
                            <a:srgbClr val="FFFFFF"/>
                          </a:solidFill>
                          <a:latin typeface="Times New Roman"/>
                        </a:defRPr>
                      </a:pPr>
                      <a:r>
                        <a:t>中央値リードタイム（年）</a:t>
                      </a:r>
                    </a:p>
                  </a:txBody>
                  <a:tcPr anchor="ctr">
                    <a:solidFill>
                      <a:srgbClr val="00528A"/>
                    </a:solidFill>
                  </a:tcPr>
                </a:tc>
                <a:tc>
                  <a:txBody>
                    <a:bodyPr/>
                    <a:lstStyle/>
                    <a:p>
                      <a:pPr algn="ctr">
                        <a:defRPr sz="1200" b="1">
                          <a:solidFill>
                            <a:srgbClr val="FFFFFF"/>
                          </a:solidFill>
                          <a:latin typeface="Times New Roman"/>
                        </a:defRPr>
                      </a:pPr>
                      <a:r>
                        <a:t>平均ウィンドウ期間（年）</a:t>
                      </a:r>
                    </a:p>
                  </a:txBody>
                  <a:tcPr anchor="ctr">
                    <a:solidFill>
                      <a:srgbClr val="00528A"/>
                    </a:solidFill>
                  </a:tcPr>
                </a:tc>
                <a:tc>
                  <a:txBody>
                    <a:bodyPr/>
                    <a:lstStyle/>
                    <a:p>
                      <a:pPr algn="ctr">
                        <a:defRPr sz="1200" b="1">
                          <a:solidFill>
                            <a:srgbClr val="FFFFFF"/>
                          </a:solidFill>
                          <a:latin typeface="Times New Roman"/>
                        </a:defRPr>
                      </a:pPr>
                      <a:r>
                        <a:t>中央値ウィンドウ期間（年）</a:t>
                      </a:r>
                    </a:p>
                  </a:txBody>
                  <a:tcPr anchor="ctr">
                    <a:solidFill>
                      <a:srgbClr val="00528A"/>
                    </a:solidFill>
                  </a:tcPr>
                </a:tc>
              </a:tr>
              <a:tr h="365760">
                <a:tc>
                  <a:txBody>
                    <a:bodyPr/>
                    <a:lstStyle/>
                    <a:p>
                      <a:pPr algn="l">
                        <a:defRPr sz="1100">
                          <a:solidFill>
                            <a:srgbClr val="1A1A2E"/>
                          </a:solidFill>
                          <a:latin typeface="Times New Roman"/>
                        </a:defRPr>
                      </a:pPr>
                      <a:r>
                        <a:t>医師数</a:t>
                      </a:r>
                    </a:p>
                  </a:txBody>
                  <a:tcPr anchor="ctr"/>
                </a:tc>
                <a:tc>
                  <a:txBody>
                    <a:bodyPr/>
                    <a:lstStyle/>
                    <a:p>
                      <a:pPr algn="ctr">
                        <a:defRPr sz="1100">
                          <a:solidFill>
                            <a:srgbClr val="1A1A2E"/>
                          </a:solidFill>
                          <a:latin typeface="Times New Roman"/>
                        </a:defRPr>
                      </a:pPr>
                      <a:r>
                        <a:t>1.3</a:t>
                      </a:r>
                    </a:p>
                  </a:txBody>
                  <a:tcPr anchor="ctr"/>
                </a:tc>
                <a:tc>
                  <a:txBody>
                    <a:bodyPr/>
                    <a:lstStyle/>
                    <a:p>
                      <a:pPr algn="ctr">
                        <a:defRPr sz="1100">
                          <a:solidFill>
                            <a:srgbClr val="1A1A2E"/>
                          </a:solidFill>
                          <a:latin typeface="Times New Roman"/>
                        </a:defRPr>
                      </a:pPr>
                      <a:r>
                        <a:t>2.5</a:t>
                      </a:r>
                    </a:p>
                  </a:txBody>
                  <a:tcPr anchor="ctr"/>
                </a:tc>
                <a:tc>
                  <a:txBody>
                    <a:bodyPr/>
                    <a:lstStyle/>
                    <a:p>
                      <a:pPr algn="ctr">
                        <a:defRPr sz="1100">
                          <a:solidFill>
                            <a:srgbClr val="1A1A2E"/>
                          </a:solidFill>
                          <a:latin typeface="Times New Roman"/>
                        </a:defRPr>
                      </a:pPr>
                      <a:r>
                        <a:t>4.1</a:t>
                      </a:r>
                    </a:p>
                  </a:txBody>
                  <a:tcPr anchor="ctr"/>
                </a:tc>
                <a:tc>
                  <a:txBody>
                    <a:bodyPr/>
                    <a:lstStyle/>
                    <a:p>
                      <a:pPr algn="ctr">
                        <a:defRPr sz="1100">
                          <a:solidFill>
                            <a:srgbClr val="1A1A2E"/>
                          </a:solidFill>
                          <a:latin typeface="Times New Roman"/>
                        </a:defRPr>
                      </a:pPr>
                      <a:r>
                        <a:t>4.0</a:t>
                      </a:r>
                    </a:p>
                  </a:txBody>
                  <a:tcPr anchor="ctr"/>
                </a:tc>
              </a:tr>
              <a:tr h="365760">
                <a:tc>
                  <a:txBody>
                    <a:bodyPr/>
                    <a:lstStyle/>
                    <a:p>
                      <a:pPr algn="l">
                        <a:defRPr sz="1100">
                          <a:solidFill>
                            <a:srgbClr val="1A1A2E"/>
                          </a:solidFill>
                          <a:latin typeface="Times New Roman"/>
                        </a:defRPr>
                      </a:pPr>
                      <a:r>
                        <a:t>施設数</a:t>
                      </a:r>
                    </a:p>
                  </a:txBody>
                  <a:tcPr anchor="ctr">
                    <a:solidFill>
                      <a:srgbClr val="E8F0F8"/>
                    </a:solidFill>
                  </a:tcPr>
                </a:tc>
                <a:tc>
                  <a:txBody>
                    <a:bodyPr/>
                    <a:lstStyle/>
                    <a:p>
                      <a:pPr algn="ctr">
                        <a:defRPr sz="1100">
                          <a:solidFill>
                            <a:srgbClr val="1A1A2E"/>
                          </a:solidFill>
                          <a:latin typeface="Times New Roman"/>
                        </a:defRPr>
                      </a:pPr>
                      <a:r>
                        <a:t>-0.1</a:t>
                      </a:r>
                    </a:p>
                  </a:txBody>
                  <a:tcPr anchor="ctr">
                    <a:solidFill>
                      <a:srgbClr val="E8F0F8"/>
                    </a:solidFill>
                  </a:tcPr>
                </a:tc>
                <a:tc>
                  <a:txBody>
                    <a:bodyPr/>
                    <a:lstStyle/>
                    <a:p>
                      <a:pPr algn="ctr">
                        <a:defRPr sz="1100">
                          <a:solidFill>
                            <a:srgbClr val="1A1A2E"/>
                          </a:solidFill>
                          <a:latin typeface="Times New Roman"/>
                        </a:defRPr>
                      </a:pPr>
                      <a:r>
                        <a:t>0.0</a:t>
                      </a:r>
                    </a:p>
                  </a:txBody>
                  <a:tcPr anchor="ctr">
                    <a:solidFill>
                      <a:srgbClr val="E8F0F8"/>
                    </a:solidFill>
                  </a:tcPr>
                </a:tc>
                <a:tc>
                  <a:txBody>
                    <a:bodyPr/>
                    <a:lstStyle/>
                    <a:p>
                      <a:pPr algn="ctr">
                        <a:defRPr sz="1100">
                          <a:solidFill>
                            <a:srgbClr val="1A1A2E"/>
                          </a:solidFill>
                          <a:latin typeface="Times New Roman"/>
                        </a:defRPr>
                      </a:pPr>
                      <a:r>
                        <a:t>4.2</a:t>
                      </a:r>
                    </a:p>
                  </a:txBody>
                  <a:tcPr anchor="ctr">
                    <a:solidFill>
                      <a:srgbClr val="E8F0F8"/>
                    </a:solidFill>
                  </a:tcPr>
                </a:tc>
                <a:tc>
                  <a:txBody>
                    <a:bodyPr/>
                    <a:lstStyle/>
                    <a:p>
                      <a:pPr algn="ctr">
                        <a:defRPr sz="1100">
                          <a:solidFill>
                            <a:srgbClr val="1A1A2E"/>
                          </a:solidFill>
                          <a:latin typeface="Times New Roman"/>
                        </a:defRPr>
                      </a:pPr>
                      <a:r>
                        <a:t>5.0</a:t>
                      </a:r>
                    </a:p>
                  </a:txBody>
                  <a:tcPr anchor="ctr">
                    <a:solidFill>
                      <a:srgbClr val="E8F0F8"/>
                    </a:solidFill>
                  </a:tcPr>
                </a:tc>
              </a:tr>
            </a:tbl>
          </a:graphicData>
        </a:graphic>
      </p:graphicFrame>
      <p:sp>
        <p:nvSpPr>
          <p:cNvPr id="4" name="TextBox 3"/>
          <p:cNvSpPr txBox="1"/>
          <p:nvPr/>
        </p:nvSpPr>
        <p:spPr>
          <a:xfrm>
            <a:off x="457200" y="2560320"/>
            <a:ext cx="11247120" cy="457200"/>
          </a:xfrm>
          <a:prstGeom prst="rect">
            <a:avLst/>
          </a:prstGeom>
          <a:noFill/>
        </p:spPr>
        <p:txBody>
          <a:bodyPr wrap="square">
            <a:spAutoFit/>
          </a:bodyPr>
          <a:lstStyle/>
          <a:p>
            <a:pPr>
              <a:defRPr sz="1100" i="1">
                <a:solidFill>
                  <a:srgbClr val="555555"/>
                </a:solidFill>
                <a:latin typeface="Times New Roman"/>
              </a:defRPr>
            </a:pPr>
            <a:r>
              <a:t>リードタイム：事故変化からアウトカム変化までの遅延時間。ウィンドウ期間：AICに基づくモデル選択による効果持続期間の推定。</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pPr algn="l">
              <a:defRPr sz="2200" b="1">
                <a:solidFill>
                  <a:srgbClr val="1A1A2E"/>
                </a:solidFill>
                <a:latin typeface="Times New Roman"/>
              </a:defRPr>
            </a:pPr>
            <a:r>
              <a:t>表4. 診療科別の予測される医療人材変化（2025〜2034年）</a:t>
            </a:r>
          </a:p>
        </p:txBody>
      </p:sp>
      <p:graphicFrame>
        <p:nvGraphicFramePr>
          <p:cNvPr id="3" name="Table 2"/>
          <p:cNvGraphicFramePr>
            <a:graphicFrameLocks noGrp="1"/>
          </p:cNvGraphicFramePr>
          <p:nvPr/>
        </p:nvGraphicFramePr>
        <p:xfrm>
          <a:off x="609904" y="1188720"/>
          <a:ext cx="10972800" cy="3657600"/>
        </p:xfrm>
        <a:graphic>
          <a:graphicData uri="http://schemas.openxmlformats.org/drawingml/2006/table">
            <a:tbl>
              <a:tblPr firstRow="1" bandRow="1">
                <a:tableStyleId>{5C22544A-7EE6-4342-B048-85BDC9FD1C3A}</a:tableStyleId>
              </a:tblPr>
              <a:tblGrid>
                <a:gridCol w="2414016"/>
                <a:gridCol w="2852928"/>
                <a:gridCol w="2852928"/>
                <a:gridCol w="2852928"/>
              </a:tblGrid>
              <a:tr h="365760">
                <a:tc>
                  <a:txBody>
                    <a:bodyPr/>
                    <a:lstStyle/>
                    <a:p>
                      <a:pPr algn="ctr">
                        <a:defRPr sz="1200" b="1">
                          <a:solidFill>
                            <a:srgbClr val="FFFFFF"/>
                          </a:solidFill>
                          <a:latin typeface="Times New Roman"/>
                        </a:defRPr>
                      </a:pPr>
                      <a:r>
                        <a:t>診療科</a:t>
                      </a:r>
                    </a:p>
                  </a:txBody>
                  <a:tcPr anchor="ctr">
                    <a:solidFill>
                      <a:srgbClr val="00528A"/>
                    </a:solidFill>
                  </a:tcPr>
                </a:tc>
                <a:tc>
                  <a:txBody>
                    <a:bodyPr/>
                    <a:lstStyle/>
                    <a:p>
                      <a:pPr algn="ctr">
                        <a:defRPr sz="1200" b="1">
                          <a:solidFill>
                            <a:srgbClr val="FFFFFF"/>
                          </a:solidFill>
                          <a:latin typeface="Times New Roman"/>
                        </a:defRPr>
                      </a:pPr>
                      <a:r>
                        <a:t>医師数（年間変化）</a:t>
                      </a:r>
                    </a:p>
                  </a:txBody>
                  <a:tcPr anchor="ctr">
                    <a:solidFill>
                      <a:srgbClr val="00528A"/>
                    </a:solidFill>
                  </a:tcPr>
                </a:tc>
                <a:tc>
                  <a:txBody>
                    <a:bodyPr/>
                    <a:lstStyle/>
                    <a:p>
                      <a:pPr algn="ctr">
                        <a:defRPr sz="1200" b="1">
                          <a:solidFill>
                            <a:srgbClr val="FFFFFF"/>
                          </a:solidFill>
                          <a:latin typeface="Times New Roman"/>
                        </a:defRPr>
                      </a:pPr>
                      <a:r>
                        <a:t>施設数（年間変化）</a:t>
                      </a:r>
                    </a:p>
                  </a:txBody>
                  <a:tcPr anchor="ctr">
                    <a:solidFill>
                      <a:srgbClr val="00528A"/>
                    </a:solidFill>
                  </a:tcPr>
                </a:tc>
                <a:tc>
                  <a:txBody>
                    <a:bodyPr/>
                    <a:lstStyle/>
                    <a:p>
                      <a:pPr algn="ctr">
                        <a:defRPr sz="1200" b="1">
                          <a:solidFill>
                            <a:srgbClr val="FFFFFF"/>
                          </a:solidFill>
                          <a:latin typeface="Times New Roman"/>
                        </a:defRPr>
                      </a:pPr>
                      <a:r>
                        <a:t>専攻医数（年間変化）</a:t>
                      </a:r>
                    </a:p>
                  </a:txBody>
                  <a:tcPr anchor="ctr">
                    <a:solidFill>
                      <a:srgbClr val="00528A"/>
                    </a:solidFill>
                  </a:tcPr>
                </a:tc>
              </a:tr>
              <a:tr h="365760">
                <a:tc>
                  <a:txBody>
                    <a:bodyPr/>
                    <a:lstStyle/>
                    <a:p>
                      <a:pPr algn="l">
                        <a:defRPr sz="1100">
                          <a:solidFill>
                            <a:srgbClr val="1A1A2E"/>
                          </a:solidFill>
                          <a:latin typeface="Times New Roman"/>
                        </a:defRPr>
                      </a:pPr>
                      <a:r>
                        <a:t>外科</a:t>
                      </a:r>
                    </a:p>
                  </a:txBody>
                  <a:tcPr anchor="ctr"/>
                </a:tc>
                <a:tc>
                  <a:txBody>
                    <a:bodyPr/>
                    <a:lstStyle/>
                    <a:p>
                      <a:pPr algn="ctr">
                        <a:defRPr sz="1100">
                          <a:solidFill>
                            <a:srgbClr val="1A1A2E"/>
                          </a:solidFill>
                          <a:latin typeface="Times New Roman"/>
                        </a:defRPr>
                      </a:pPr>
                      <a:r>
                        <a:t>-260</a:t>
                      </a:r>
                    </a:p>
                  </a:txBody>
                  <a:tcPr anchor="ctr"/>
                </a:tc>
                <a:tc>
                  <a:txBody>
                    <a:bodyPr/>
                    <a:lstStyle/>
                    <a:p>
                      <a:pPr algn="ctr">
                        <a:defRPr sz="1100">
                          <a:solidFill>
                            <a:srgbClr val="1A1A2E"/>
                          </a:solidFill>
                          <a:latin typeface="Times New Roman"/>
                        </a:defRPr>
                      </a:pPr>
                      <a:r>
                        <a:t>-350</a:t>
                      </a:r>
                    </a:p>
                  </a:txBody>
                  <a:tcPr anchor="ctr"/>
                </a:tc>
                <a:tc>
                  <a:txBody>
                    <a:bodyPr/>
                    <a:lstStyle/>
                    <a:p>
                      <a:pPr algn="ctr">
                        <a:defRPr sz="1100">
                          <a:solidFill>
                            <a:srgbClr val="1A1A2E"/>
                          </a:solidFill>
                          <a:latin typeface="Times New Roman"/>
                        </a:defRPr>
                      </a:pPr>
                      <a:r>
                        <a:t>+3</a:t>
                      </a:r>
                    </a:p>
                  </a:txBody>
                  <a:tcPr anchor="ctr"/>
                </a:tc>
              </a:tr>
              <a:tr h="365760">
                <a:tc>
                  <a:txBody>
                    <a:bodyPr/>
                    <a:lstStyle/>
                    <a:p>
                      <a:pPr algn="l">
                        <a:defRPr sz="1100">
                          <a:solidFill>
                            <a:srgbClr val="1A1A2E"/>
                          </a:solidFill>
                          <a:latin typeface="Times New Roman"/>
                        </a:defRPr>
                      </a:pPr>
                      <a:r>
                        <a:t>産婦人科</a:t>
                      </a:r>
                    </a:p>
                  </a:txBody>
                  <a:tcPr anchor="ctr">
                    <a:solidFill>
                      <a:srgbClr val="E8F0F8"/>
                    </a:solidFill>
                  </a:tcPr>
                </a:tc>
                <a:tc>
                  <a:txBody>
                    <a:bodyPr/>
                    <a:lstStyle/>
                    <a:p>
                      <a:pPr algn="ctr">
                        <a:defRPr sz="1100">
                          <a:solidFill>
                            <a:srgbClr val="1A1A2E"/>
                          </a:solidFill>
                          <a:latin typeface="Times New Roman"/>
                        </a:defRPr>
                      </a:pPr>
                      <a:r>
                        <a:t>+111</a:t>
                      </a:r>
                    </a:p>
                  </a:txBody>
                  <a:tcPr anchor="ctr">
                    <a:solidFill>
                      <a:srgbClr val="E8F0F8"/>
                    </a:solidFill>
                  </a:tcPr>
                </a:tc>
                <a:tc>
                  <a:txBody>
                    <a:bodyPr/>
                    <a:lstStyle/>
                    <a:p>
                      <a:pPr algn="ctr">
                        <a:defRPr sz="1100">
                          <a:solidFill>
                            <a:srgbClr val="1A1A2E"/>
                          </a:solidFill>
                          <a:latin typeface="Times New Roman"/>
                        </a:defRPr>
                      </a:pPr>
                      <a:r>
                        <a:t>-65</a:t>
                      </a:r>
                    </a:p>
                  </a:txBody>
                  <a:tcPr anchor="ctr">
                    <a:solidFill>
                      <a:srgbClr val="E8F0F8"/>
                    </a:solidFill>
                  </a:tcPr>
                </a:tc>
                <a:tc>
                  <a:txBody>
                    <a:bodyPr/>
                    <a:lstStyle/>
                    <a:p>
                      <a:pPr algn="ctr">
                        <a:defRPr sz="1100">
                          <a:solidFill>
                            <a:srgbClr val="1A1A2E"/>
                          </a:solidFill>
                          <a:latin typeface="Times New Roman"/>
                        </a:defRPr>
                      </a:pPr>
                      <a:r>
                        <a:t>+6</a:t>
                      </a:r>
                    </a:p>
                  </a:txBody>
                  <a:tcPr anchor="ctr">
                    <a:solidFill>
                      <a:srgbClr val="E8F0F8"/>
                    </a:solidFill>
                  </a:tcPr>
                </a:tc>
              </a:tr>
              <a:tr h="365760">
                <a:tc>
                  <a:txBody>
                    <a:bodyPr/>
                    <a:lstStyle/>
                    <a:p>
                      <a:pPr algn="l">
                        <a:defRPr sz="1100">
                          <a:solidFill>
                            <a:srgbClr val="1A1A2E"/>
                          </a:solidFill>
                          <a:latin typeface="Times New Roman"/>
                        </a:defRPr>
                      </a:pPr>
                      <a:r>
                        <a:t>内科</a:t>
                      </a:r>
                    </a:p>
                  </a:txBody>
                  <a:tcPr anchor="ctr"/>
                </a:tc>
                <a:tc>
                  <a:txBody>
                    <a:bodyPr/>
                    <a:lstStyle/>
                    <a:p>
                      <a:pPr algn="ctr">
                        <a:defRPr sz="1100">
                          <a:solidFill>
                            <a:srgbClr val="1A1A2E"/>
                          </a:solidFill>
                          <a:latin typeface="Times New Roman"/>
                        </a:defRPr>
                      </a:pPr>
                      <a:r>
                        <a:t>+378</a:t>
                      </a:r>
                    </a:p>
                  </a:txBody>
                  <a:tcPr anchor="ctr"/>
                </a:tc>
                <a:tc>
                  <a:txBody>
                    <a:bodyPr/>
                    <a:lstStyle/>
                    <a:p>
                      <a:pPr algn="ctr">
                        <a:defRPr sz="1100">
                          <a:solidFill>
                            <a:srgbClr val="1A1A2E"/>
                          </a:solidFill>
                          <a:latin typeface="Times New Roman"/>
                        </a:defRPr>
                      </a:pPr>
                      <a:r>
                        <a:t>-256</a:t>
                      </a:r>
                    </a:p>
                  </a:txBody>
                  <a:tcPr anchor="ctr"/>
                </a:tc>
                <a:tc>
                  <a:txBody>
                    <a:bodyPr/>
                    <a:lstStyle/>
                    <a:p>
                      <a:pPr algn="ctr">
                        <a:defRPr sz="1100">
                          <a:solidFill>
                            <a:srgbClr val="1A1A2E"/>
                          </a:solidFill>
                          <a:latin typeface="Times New Roman"/>
                        </a:defRPr>
                      </a:pPr>
                      <a:r>
                        <a:t>+30</a:t>
                      </a:r>
                    </a:p>
                  </a:txBody>
                  <a:tcPr anchor="ctr"/>
                </a:tc>
              </a:tr>
              <a:tr h="365760">
                <a:tc>
                  <a:txBody>
                    <a:bodyPr/>
                    <a:lstStyle/>
                    <a:p>
                      <a:pPr algn="l">
                        <a:defRPr sz="1100">
                          <a:solidFill>
                            <a:srgbClr val="1A1A2E"/>
                          </a:solidFill>
                          <a:latin typeface="Times New Roman"/>
                        </a:defRPr>
                      </a:pPr>
                      <a:r>
                        <a:t>小児科</a:t>
                      </a:r>
                    </a:p>
                  </a:txBody>
                  <a:tcPr anchor="ctr">
                    <a:solidFill>
                      <a:srgbClr val="E8F0F8"/>
                    </a:solidFill>
                  </a:tcPr>
                </a:tc>
                <a:tc>
                  <a:txBody>
                    <a:bodyPr/>
                    <a:lstStyle/>
                    <a:p>
                      <a:pPr algn="ctr">
                        <a:defRPr sz="1100">
                          <a:solidFill>
                            <a:srgbClr val="1A1A2E"/>
                          </a:solidFill>
                          <a:latin typeface="Times New Roman"/>
                        </a:defRPr>
                      </a:pPr>
                      <a:r>
                        <a:t>+206</a:t>
                      </a:r>
                    </a:p>
                  </a:txBody>
                  <a:tcPr anchor="ctr">
                    <a:solidFill>
                      <a:srgbClr val="E8F0F8"/>
                    </a:solidFill>
                  </a:tcPr>
                </a:tc>
                <a:tc>
                  <a:txBody>
                    <a:bodyPr/>
                    <a:lstStyle/>
                    <a:p>
                      <a:pPr algn="ctr">
                        <a:defRPr sz="1100">
                          <a:solidFill>
                            <a:srgbClr val="1A1A2E"/>
                          </a:solidFill>
                          <a:latin typeface="Times New Roman"/>
                        </a:defRPr>
                      </a:pPr>
                      <a:r>
                        <a:t>-188</a:t>
                      </a:r>
                    </a:p>
                  </a:txBody>
                  <a:tcPr anchor="ctr">
                    <a:solidFill>
                      <a:srgbClr val="E8F0F8"/>
                    </a:solidFill>
                  </a:tcPr>
                </a:tc>
                <a:tc>
                  <a:txBody>
                    <a:bodyPr/>
                    <a:lstStyle/>
                    <a:p>
                      <a:pPr algn="ctr">
                        <a:defRPr sz="1100">
                          <a:solidFill>
                            <a:srgbClr val="1A1A2E"/>
                          </a:solidFill>
                          <a:latin typeface="Times New Roman"/>
                        </a:defRPr>
                      </a:pPr>
                      <a:r>
                        <a:t>-5</a:t>
                      </a:r>
                    </a:p>
                  </a:txBody>
                  <a:tcPr anchor="ctr">
                    <a:solidFill>
                      <a:srgbClr val="E8F0F8"/>
                    </a:solidFill>
                  </a:tcPr>
                </a:tc>
              </a:tr>
              <a:tr h="365760">
                <a:tc>
                  <a:txBody>
                    <a:bodyPr/>
                    <a:lstStyle/>
                    <a:p>
                      <a:pPr algn="l">
                        <a:defRPr sz="1100">
                          <a:solidFill>
                            <a:srgbClr val="1A1A2E"/>
                          </a:solidFill>
                          <a:latin typeface="Times New Roman"/>
                        </a:defRPr>
                      </a:pPr>
                      <a:r>
                        <a:t>整形外科</a:t>
                      </a:r>
                    </a:p>
                  </a:txBody>
                  <a:tcPr anchor="ctr"/>
                </a:tc>
                <a:tc>
                  <a:txBody>
                    <a:bodyPr/>
                    <a:lstStyle/>
                    <a:p>
                      <a:pPr algn="ctr">
                        <a:defRPr sz="1100">
                          <a:solidFill>
                            <a:srgbClr val="1A1A2E"/>
                          </a:solidFill>
                          <a:latin typeface="Times New Roman"/>
                        </a:defRPr>
                      </a:pPr>
                      <a:r>
                        <a:t>+190</a:t>
                      </a:r>
                    </a:p>
                  </a:txBody>
                  <a:tcPr anchor="ctr"/>
                </a:tc>
                <a:tc>
                  <a:txBody>
                    <a:bodyPr/>
                    <a:lstStyle/>
                    <a:p>
                      <a:pPr algn="ctr">
                        <a:defRPr sz="1100">
                          <a:solidFill>
                            <a:srgbClr val="1A1A2E"/>
                          </a:solidFill>
                          <a:latin typeface="Times New Roman"/>
                        </a:defRPr>
                      </a:pPr>
                      <a:r>
                        <a:t>-34</a:t>
                      </a:r>
                    </a:p>
                  </a:txBody>
                  <a:tcPr anchor="ctr"/>
                </a:tc>
                <a:tc>
                  <a:txBody>
                    <a:bodyPr/>
                    <a:lstStyle/>
                    <a:p>
                      <a:pPr algn="ctr">
                        <a:defRPr sz="1100">
                          <a:solidFill>
                            <a:srgbClr val="1A1A2E"/>
                          </a:solidFill>
                          <a:latin typeface="Times New Roman"/>
                        </a:defRPr>
                      </a:pPr>
                      <a:r>
                        <a:t>+30</a:t>
                      </a:r>
                    </a:p>
                  </a:txBody>
                  <a:tcPr anchor="ctr"/>
                </a:tc>
              </a:tr>
              <a:tr h="365760">
                <a:tc>
                  <a:txBody>
                    <a:bodyPr/>
                    <a:lstStyle/>
                    <a:p>
                      <a:pPr algn="l">
                        <a:defRPr sz="1100">
                          <a:solidFill>
                            <a:srgbClr val="1A1A2E"/>
                          </a:solidFill>
                          <a:latin typeface="Times New Roman"/>
                        </a:defRPr>
                      </a:pPr>
                      <a:r>
                        <a:t>麻酔科</a:t>
                      </a:r>
                    </a:p>
                  </a:txBody>
                  <a:tcPr anchor="ctr">
                    <a:solidFill>
                      <a:srgbClr val="E8F0F8"/>
                    </a:solidFill>
                  </a:tcPr>
                </a:tc>
                <a:tc>
                  <a:txBody>
                    <a:bodyPr/>
                    <a:lstStyle/>
                    <a:p>
                      <a:pPr algn="ctr">
                        <a:defRPr sz="1100">
                          <a:solidFill>
                            <a:srgbClr val="1A1A2E"/>
                          </a:solidFill>
                          <a:latin typeface="Times New Roman"/>
                        </a:defRPr>
                      </a:pPr>
                      <a:r>
                        <a:t>+186</a:t>
                      </a:r>
                    </a:p>
                  </a:txBody>
                  <a:tcPr anchor="ctr">
                    <a:solidFill>
                      <a:srgbClr val="E8F0F8"/>
                    </a:solidFill>
                  </a:tcPr>
                </a:tc>
                <a:tc>
                  <a:txBody>
                    <a:bodyPr/>
                    <a:lstStyle/>
                    <a:p>
                      <a:pPr algn="ctr">
                        <a:defRPr sz="1100">
                          <a:solidFill>
                            <a:srgbClr val="1A1A2E"/>
                          </a:solidFill>
                          <a:latin typeface="Times New Roman"/>
                        </a:defRPr>
                      </a:pPr>
                      <a:r>
                        <a:t>+72</a:t>
                      </a:r>
                    </a:p>
                  </a:txBody>
                  <a:tcPr anchor="ctr">
                    <a:solidFill>
                      <a:srgbClr val="E8F0F8"/>
                    </a:solidFill>
                  </a:tcPr>
                </a:tc>
                <a:tc>
                  <a:txBody>
                    <a:bodyPr/>
                    <a:lstStyle/>
                    <a:p>
                      <a:pPr algn="ctr">
                        <a:defRPr sz="1100">
                          <a:solidFill>
                            <a:srgbClr val="1A1A2E"/>
                          </a:solidFill>
                          <a:latin typeface="Times New Roman"/>
                        </a:defRPr>
                      </a:pPr>
                      <a:r>
                        <a:t>0</a:t>
                      </a:r>
                    </a:p>
                  </a:txBody>
                  <a:tcPr anchor="ctr">
                    <a:solidFill>
                      <a:srgbClr val="E8F0F8"/>
                    </a:solidFill>
                  </a:tcPr>
                </a:tc>
              </a:tr>
              <a:tr h="365760">
                <a:tc>
                  <a:txBody>
                    <a:bodyPr/>
                    <a:lstStyle/>
                    <a:p>
                      <a:pPr algn="l">
                        <a:defRPr sz="1100">
                          <a:solidFill>
                            <a:srgbClr val="1A1A2E"/>
                          </a:solidFill>
                          <a:latin typeface="Times New Roman"/>
                        </a:defRPr>
                      </a:pPr>
                      <a:r>
                        <a:t>耳鼻咽喉科</a:t>
                      </a:r>
                    </a:p>
                  </a:txBody>
                  <a:tcPr anchor="ctr"/>
                </a:tc>
                <a:tc>
                  <a:txBody>
                    <a:bodyPr/>
                    <a:lstStyle/>
                    <a:p>
                      <a:pPr algn="ctr">
                        <a:defRPr sz="1100">
                          <a:solidFill>
                            <a:srgbClr val="1A1A2E"/>
                          </a:solidFill>
                          <a:latin typeface="Times New Roman"/>
                        </a:defRPr>
                      </a:pPr>
                      <a:r>
                        <a:t>-16</a:t>
                      </a:r>
                    </a:p>
                  </a:txBody>
                  <a:tcPr anchor="ctr"/>
                </a:tc>
                <a:tc>
                  <a:txBody>
                    <a:bodyPr/>
                    <a:lstStyle/>
                    <a:p>
                      <a:pPr algn="ctr">
                        <a:defRPr sz="1100">
                          <a:solidFill>
                            <a:srgbClr val="1A1A2E"/>
                          </a:solidFill>
                          <a:latin typeface="Times New Roman"/>
                        </a:defRPr>
                      </a:pPr>
                      <a:r>
                        <a:t>-97</a:t>
                      </a:r>
                    </a:p>
                  </a:txBody>
                  <a:tcPr anchor="ctr"/>
                </a:tc>
                <a:tc>
                  <a:txBody>
                    <a:bodyPr/>
                    <a:lstStyle/>
                    <a:p>
                      <a:pPr algn="ctr">
                        <a:defRPr sz="1100">
                          <a:solidFill>
                            <a:srgbClr val="1A1A2E"/>
                          </a:solidFill>
                          <a:latin typeface="Times New Roman"/>
                        </a:defRPr>
                      </a:pPr>
                      <a:r>
                        <a:t>-5</a:t>
                      </a:r>
                    </a:p>
                  </a:txBody>
                  <a:tcPr anchor="ctr"/>
                </a:tc>
              </a:tr>
              <a:tr h="365760">
                <a:tc>
                  <a:txBody>
                    <a:bodyPr/>
                    <a:lstStyle/>
                    <a:p>
                      <a:pPr algn="l">
                        <a:defRPr sz="1100">
                          <a:solidFill>
                            <a:srgbClr val="1A1A2E"/>
                          </a:solidFill>
                          <a:latin typeface="Times New Roman"/>
                        </a:defRPr>
                      </a:pPr>
                      <a:r>
                        <a:t>救急科</a:t>
                      </a:r>
                    </a:p>
                  </a:txBody>
                  <a:tcPr anchor="ctr">
                    <a:solidFill>
                      <a:srgbClr val="E8F0F8"/>
                    </a:solidFill>
                  </a:tcPr>
                </a:tc>
                <a:tc>
                  <a:txBody>
                    <a:bodyPr/>
                    <a:lstStyle/>
                    <a:p>
                      <a:pPr algn="ctr">
                        <a:defRPr sz="1100">
                          <a:solidFill>
                            <a:srgbClr val="1A1A2E"/>
                          </a:solidFill>
                          <a:latin typeface="Times New Roman"/>
                        </a:defRPr>
                      </a:pPr>
                      <a:r>
                        <a:t>—</a:t>
                      </a:r>
                    </a:p>
                  </a:txBody>
                  <a:tcPr anchor="ctr">
                    <a:solidFill>
                      <a:srgbClr val="E8F0F8"/>
                    </a:solidFill>
                  </a:tcPr>
                </a:tc>
                <a:tc>
                  <a:txBody>
                    <a:bodyPr/>
                    <a:lstStyle/>
                    <a:p>
                      <a:pPr algn="ctr">
                        <a:defRPr sz="1100">
                          <a:solidFill>
                            <a:srgbClr val="1A1A2E"/>
                          </a:solidFill>
                          <a:latin typeface="Times New Roman"/>
                        </a:defRPr>
                      </a:pPr>
                      <a:r>
                        <a:t>—</a:t>
                      </a:r>
                    </a:p>
                  </a:txBody>
                  <a:tcPr anchor="ctr">
                    <a:solidFill>
                      <a:srgbClr val="E8F0F8"/>
                    </a:solidFill>
                  </a:tcPr>
                </a:tc>
                <a:tc>
                  <a:txBody>
                    <a:bodyPr/>
                    <a:lstStyle/>
                    <a:p>
                      <a:pPr algn="ctr">
                        <a:defRPr sz="1100">
                          <a:solidFill>
                            <a:srgbClr val="1A1A2E"/>
                          </a:solidFill>
                          <a:latin typeface="Times New Roman"/>
                        </a:defRPr>
                      </a:pPr>
                      <a:r>
                        <a:t>+33</a:t>
                      </a:r>
                    </a:p>
                  </a:txBody>
                  <a:tcPr anchor="ctr">
                    <a:solidFill>
                      <a:srgbClr val="E8F0F8"/>
                    </a:solidFill>
                  </a:tcPr>
                </a:tc>
              </a:tr>
              <a:tr h="365760">
                <a:tc>
                  <a:txBody>
                    <a:bodyPr/>
                    <a:lstStyle/>
                    <a:p>
                      <a:pPr algn="l">
                        <a:defRPr sz="1100">
                          <a:solidFill>
                            <a:srgbClr val="1A1A2E"/>
                          </a:solidFill>
                          <a:latin typeface="Times New Roman"/>
                        </a:defRPr>
                      </a:pPr>
                      <a:r>
                        <a:t>総合診療</a:t>
                      </a:r>
                    </a:p>
                  </a:txBody>
                  <a:tcPr anchor="ctr"/>
                </a:tc>
                <a:tc>
                  <a:txBody>
                    <a:bodyPr/>
                    <a:lstStyle/>
                    <a:p>
                      <a:pPr algn="ctr">
                        <a:defRPr sz="1100">
                          <a:solidFill>
                            <a:srgbClr val="1A1A2E"/>
                          </a:solidFill>
                          <a:latin typeface="Times New Roman"/>
                        </a:defRPr>
                      </a:pPr>
                      <a:r>
                        <a:t>—</a:t>
                      </a:r>
                    </a:p>
                  </a:txBody>
                  <a:tcPr anchor="ctr"/>
                </a:tc>
                <a:tc>
                  <a:txBody>
                    <a:bodyPr/>
                    <a:lstStyle/>
                    <a:p>
                      <a:pPr algn="ctr">
                        <a:defRPr sz="1100">
                          <a:solidFill>
                            <a:srgbClr val="1A1A2E"/>
                          </a:solidFill>
                          <a:latin typeface="Times New Roman"/>
                        </a:defRPr>
                      </a:pPr>
                      <a:r>
                        <a:t>—</a:t>
                      </a:r>
                    </a:p>
                  </a:txBody>
                  <a:tcPr anchor="ctr"/>
                </a:tc>
                <a:tc>
                  <a:txBody>
                    <a:bodyPr/>
                    <a:lstStyle/>
                    <a:p>
                      <a:pPr algn="ctr">
                        <a:defRPr sz="1100">
                          <a:solidFill>
                            <a:srgbClr val="1A1A2E"/>
                          </a:solidFill>
                          <a:latin typeface="Times New Roman"/>
                        </a:defRPr>
                      </a:pPr>
                      <a:r>
                        <a:t>+20</a:t>
                      </a:r>
                    </a:p>
                  </a:txBody>
                  <a:tcPr anchor="ctr"/>
                </a:tc>
              </a:tr>
            </a:tbl>
          </a:graphicData>
        </a:graphic>
      </p:graphicFrame>
      <p:sp>
        <p:nvSpPr>
          <p:cNvPr id="4" name="TextBox 3"/>
          <p:cNvSpPr txBox="1"/>
          <p:nvPr/>
        </p:nvSpPr>
        <p:spPr>
          <a:xfrm>
            <a:off x="457200" y="5120640"/>
            <a:ext cx="11247120" cy="457200"/>
          </a:xfrm>
          <a:prstGeom prst="rect">
            <a:avLst/>
          </a:prstGeom>
          <a:noFill/>
        </p:spPr>
        <p:txBody>
          <a:bodyPr wrap="square">
            <a:spAutoFit/>
          </a:bodyPr>
          <a:lstStyle/>
          <a:p>
            <a:pPr>
              <a:defRPr sz="1100" i="1">
                <a:solidFill>
                  <a:srgbClr val="555555"/>
                </a:solidFill>
                <a:latin typeface="Times New Roman"/>
              </a:defRPr>
            </a:pPr>
            <a:r>
              <a:t>直近10年間の利用可能データに基づく線形トレンド外挿。</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MS PGothic"/>
        <a:font script="Hang" typeface="Malgun Gothic"/>
        <a:font script="Hans" typeface="SimSun"/>
        <a:font script="Hant" typeface="PMingLiU"/>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MS PGothic"/>
        <a:font script="Hang" typeface="Malgun Gothic"/>
        <a:font script="Hans" typeface="SimSun"/>
        <a:font script="Hant" typeface="PMingLiU"/>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